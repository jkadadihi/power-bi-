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8A837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0" y="50292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 i="1">
                <a:solidFill>
                  <a:srgbClr val="8A837B"/>
                </a:solidFill>
                <a:latin typeface="Calibri"/>
              </a:rPr>
              <a:t>paste DHL 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DHL EXPRESS AMERICAS  ·  KEY ACCOUNT DESK (AMKAD)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698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Automating AR Reporting &amp; Collections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C9CED4"/>
                </a:solidFill>
                <a:latin typeface="Calibri"/>
              </a:rPr>
              <a:t>Moving a few manual processes toward a live dashboard and pipelines that run on their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Jean Kadadihi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4BAC1"/>
                </a:solidFill>
                <a:latin typeface="Calibri"/>
              </a:rPr>
              <a:t>Finance Intern, Controlling  ·  Internship Close-Out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the work added up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34290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304495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~275 hrs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of team time given back each year, and likely more. A conservative estimate.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965960"/>
            <a:ext cx="34290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93976"/>
            <a:ext cx="304495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6 / week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statements now generated and emailed automatically (Arrow ×5, Baker ×1)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965960"/>
            <a:ext cx="3401568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8" y="2093976"/>
            <a:ext cx="30175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1 new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shared AR reporting view the team did not have in one place before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A5040D"/>
                </a:solidFill>
                <a:latin typeface="Calibri"/>
              </a:rPr>
              <a:t>That is roughly 7 to 11 full work-weeks a year that collectors can spend on collections instead of manual reporting.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Helped bring AR visibility together in one place: aging, UAC, trends, and what-if scenarios.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Took the daily data file off someone's plate so it no longer has to be rebuilt by hand.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Reduced the reliance on one person, and the small errors that manual copy and paste can introduce.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I'll walk 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2128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128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My internship journey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From learning the systems to shipping automations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8986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8986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Where things stood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The manual starting point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844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5844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What I worked on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Three connected automations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702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The impact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Time saved, with the math shown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560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9560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The hard parts and what I learned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The challenges along the way, and the growth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6418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6418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What's next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How this can grow from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MY INTERNSHIP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From learning DHL's systems in week one to shipping automations that run on their 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65960" y="2331720"/>
            <a:ext cx="27940" cy="356616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83664" y="236829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4028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Learned AR, collections, START, and AMKAD processes; reviewed the existing Power BI reporting; picked up SAP extracts and the reporting workflow.</a:t>
            </a:r>
          </a:p>
        </p:txBody>
      </p:sp>
      <p:sp>
        <p:nvSpPr>
          <p:cNvPr id="11" name="Oval 10"/>
          <p:cNvSpPr/>
          <p:nvPr/>
        </p:nvSpPr>
        <p:spPr>
          <a:xfrm>
            <a:off x="1883664" y="319125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06324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Built the first AR dashboard prototype and began data modeling and reporting enhancements.</a:t>
            </a:r>
          </a:p>
        </p:txBody>
      </p:sp>
      <p:sp>
        <p:nvSpPr>
          <p:cNvPr id="14" name="Oval 13"/>
          <p:cNvSpPr/>
          <p:nvPr/>
        </p:nvSpPr>
        <p:spPr>
          <a:xfrm>
            <a:off x="1883664" y="401421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8620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8862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Developed the automated daily data pipeline, connecting Power Query, Office Scripts, Power Automate, and SharePoint.</a:t>
            </a:r>
          </a:p>
        </p:txBody>
      </p:sp>
      <p:sp>
        <p:nvSpPr>
          <p:cNvPr id="17" name="Oval 16"/>
          <p:cNvSpPr/>
          <p:nvPr/>
        </p:nvSpPr>
        <p:spPr>
          <a:xfrm>
            <a:off x="1883664" y="483717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0916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7–8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70916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Reverse-engineered the START SOA process and designed a reusable SOA automation framework.</a:t>
            </a:r>
          </a:p>
        </p:txBody>
      </p:sp>
      <p:sp>
        <p:nvSpPr>
          <p:cNvPr id="20" name="Oval 19"/>
          <p:cNvSpPr/>
          <p:nvPr/>
        </p:nvSpPr>
        <p:spPr>
          <a:xfrm>
            <a:off x="1883664" y="566013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53212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553212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Deployed 5 Arrow SOAs and 1 Baker Hughes SOA, and completed documentation and handoff.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WHERE THINGS STOOD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Three manual processes, three sources of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AR Reporting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No consolidated daily view of receivables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Aging, overdue, UAC lived across spreadsheets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No trend, drill-down, or what-if capability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Leadership lacked a single place to look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Daily Data File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collector rebuilt it every business day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Copy, paste, calculate, and save a new file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Around 30 to 35 min a day, and mostly one person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Manual copy and paste can introduce small errors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240280"/>
            <a:ext cx="3493008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240280"/>
            <a:ext cx="3493008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441448"/>
            <a:ext cx="3090672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Statements (SOA)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Collectors generated SOAs in START by hand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Then formatted, emailed, attached, and CC'd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Repeated weekly, per customer and country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Missed sends and delays pulled focus off collections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 WORKED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Three connected automations across the AR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1 · AR Dashboard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Live HTML report of the whole book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Aging, UAC, gross sales, payments, trends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Drill-downs and what-if payment simulators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Visibility we did not have in one place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240280"/>
            <a:ext cx="3520440" cy="50800"/>
          </a:xfrm>
          <a:prstGeom prst="rect">
            <a:avLst/>
          </a:prstGeom>
          <a:solidFill>
            <a:srgbClr val="A50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2 · Daily Pipeline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Feeds the dashboard automatically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Source file lands, data is extracted and added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New dated file built with full history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Runs on its own, every business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240280"/>
            <a:ext cx="3493008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240280"/>
            <a:ext cx="3493008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441448"/>
            <a:ext cx="3090672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3 · SOA Automation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6 weekly statements generated automatically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Emailed with attachments and stakeholders CC'd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configurable framework, not one-offs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Collectors step in only for exceptions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HOW IT FITS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path from the source systems to the dashboard and the automated statements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SAP / START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source data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494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871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SharePoint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files land here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782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Power Query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shapes the data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070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447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Office Script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reads &amp; writes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358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735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Power Automate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runs it daily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5646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023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D40511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Dashboard &amp; SOA emails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F3D6D6"/>
                </a:solidFill>
                <a:latin typeface="Calibri"/>
              </a:rPr>
              <a:t>what people see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75488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ECF6EE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46320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5C2E"/>
                </a:solidFill>
                <a:latin typeface="Calibri"/>
              </a:rPr>
              <a:t>In plain terms: the data flows in on its own, gets shaped and checked automatically, and comes out as a live dashboard and ready-to-send statements. No one has to run it by hand.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1 · THE AR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Aging, UAC, payments, gross sales, trends, and forecasts brought into a single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Portfolio KPIs: Total AR, Overdue %, GT60 and GT90 aging, UAC, gross sales, payments.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Drill-downs both ways, from country to customer, to see what is driving each number.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Trends over time and same-month year-over-year comparison.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What-if payment simulators, at portfolio and customer level, with manual allocation across aging bands and UAC.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Editable risk thresholds and an Action-Required list that follows the collections escalation process.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2000"/>
            </a:avLst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It replaced the report tab that used to be updated by hand each day, and brought AR visibility together in one place that the team did not have before.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2 · THE DAILY DATA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manual daily file, now running on its 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0511"/>
                </a:solidFill>
                <a:latin typeface="Calibri"/>
              </a:rPr>
              <a:t>Before:  around 30 to 35 min a day,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Open the emailed report and copy the data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Paste into a template and calculate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Copy specific columns into the workbook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Update the report tab, then save a new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F8A2E"/>
                </a:solidFill>
                <a:latin typeface="Calibri"/>
              </a:rPr>
              <a:t>After:  it runs on its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0604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The file lands in the shared folder and the flow starts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An Office Script reads and maps today's rows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A new dated file is built, carrying full history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Today's rows are added and the dashboard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2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30368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FFCC00"/>
                </a:solidFill>
                <a:latin typeface="Calibri"/>
              </a:rPr>
              <a:t>Built with  Power Query (M),  Office Scripts (TypeScript),  Power Automate,  and SharePoint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FD4DA"/>
                </a:solidFill>
                <a:latin typeface="Calibri"/>
              </a:rPr>
              <a:t>It also protects against duplicates and handles missing or incomplete data gracefully, such as month-start EUR gaps.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3 · SOA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Recurring statements generated and delivered without a collector touching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Automated 6 recurring weekly Statements of Account: Arrow Electronics across 5 countries, and Baker Hughes.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Generated from START templates with the right account filters, then emailed automatically with attachments and internal stakeholders CC'd.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Built as a configurable framework, so new customers can be added by updating configuration (accounts, recipients, schedule, template) rather than rebuilding it.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Designed so collectors only step in for exceptions, and can spend more of their time on collections.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2000"/>
            </a:avLst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A5040D"/>
                </a:solidFill>
                <a:latin typeface="Calibri"/>
              </a:rPr>
              <a:t>To be clear on scope: two customers are live today, six SOAs a week, on a framework built so more can be added over time. The reusable engine is the part that is done.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Time saved, with the math shown, kept deliberately conservative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10881360" cy="457200"/>
          </a:xfrm>
          <a:prstGeom prst="roundRect">
            <a:avLst>
              <a:gd name="adj" fmla="val 16000"/>
            </a:avLst>
          </a:prstGeom>
          <a:solidFill>
            <a:srgbClr val="ECF6EE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1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5C2E"/>
                </a:solidFill>
                <a:latin typeface="Calibri"/>
              </a:rPr>
              <a:t>Live today:   ✓ Dashboard in production    ✓ Daily pipeline running    ✓ 6 weekly SOAs automated    ✓ Framework ready for more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10881360" cy="50292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697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697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697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year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20040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D21"/>
                </a:solidFill>
                <a:latin typeface="Calibri"/>
              </a:rPr>
              <a:t>Daily data file  (15 min × 5 days)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2004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1.25 hrs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2004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~5.4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32004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~63 hrs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881360" cy="502920"/>
          </a:xfrm>
          <a:prstGeom prst="rect">
            <a:avLst/>
          </a:prstGeom>
          <a:solidFill>
            <a:srgbClr val="F1EFEA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D21"/>
                </a:solidFill>
                <a:latin typeface="Calibri"/>
              </a:rPr>
              <a:t>Daily report tab  (15–20 min × 5 days)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370332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1.25–1.7 hrs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370332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~5–7 hrs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0332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~63–83 hrs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206240"/>
            <a:ext cx="108813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0624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D21"/>
                </a:solidFill>
                <a:latin typeface="Calibri"/>
              </a:rPr>
              <a:t>SOA automation  (6 SOAs × 30–60 min)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20624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3–6 hrs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420624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13–26 hrs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420624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150–300 hrs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09160"/>
            <a:ext cx="10881360" cy="502920"/>
          </a:xfrm>
          <a:prstGeom prst="rect">
            <a:avLst/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709160"/>
            <a:ext cx="50800" cy="50292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70916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Combined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70916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~5.5–9 hrs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470916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~24–38 hrs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470916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~275–445 hrs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44068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50" b="1" i="0">
                <a:solidFill>
                  <a:srgbClr val="A5040D"/>
                </a:solidFill>
                <a:latin typeface="Calibri"/>
              </a:rPr>
              <a:t>That comes to roughly 7 to 11 full work-weeks of time given back to the team each year.</a:t>
            </a:r>
          </a:p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8A837B"/>
                </a:solidFill>
                <a:latin typeface="Calibri"/>
              </a:rPr>
              <a:t>The assumptions are kept conservative on purpose: 5 business days a week, SOAs at 30 to 60 minutes each, 6 a week. The figures leave out error-correction, rework, and analysis time, so the real number is likely higher.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HARD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it took along the way, and what I learned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39572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Power BI &amp; the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lot of trial and error on the model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Fragmented, inconsistent source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Had to consolidate before trusting anything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19456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19456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9572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Hosting blocked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Azure Functions blocked by permissions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Rethought the recurring-run approach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Landed on GitHub Actions, clean and no 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194560"/>
            <a:ext cx="349300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194560"/>
            <a:ext cx="3493008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395728"/>
            <a:ext cx="3090672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The right data pattern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Power Query replaces, it cannot append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Designed a carry-history-forward pipeline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Solved it without breaking the live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3520440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0740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A production incident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live query edit went wrong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Recovered cleanly via version history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Adopted a test-first, never-in-prod habit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420624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34256" y="4206240"/>
            <a:ext cx="3520440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40740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Connector quirks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Many field-name and identifier mismatches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Pagination, throttling, locked-file retries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Worked each one through to a clean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8431" y="4206240"/>
            <a:ext cx="349300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4206240"/>
            <a:ext cx="3493008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7" y="4407408"/>
            <a:ext cx="3090672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The takeaway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Kept going through the obstacles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Learned to de-risk before touching live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Left it documented and maintainable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parts that will stay with 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accounts receivable connects to the wider health and performance of the business.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to take a business problem and turn it into a practical automation opportunity.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to work with people across finance, collections, and IT to get something built.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Why it is worth designing scalable, reusable solutions instead of one-off fixes.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to stay calm and methodical when something breaks, and recover from it properly.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IT TOOK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Skills I got to build and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Automation &amp; Data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Query (M)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Office Scripts (TypeScript)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Automate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SharePoint / GitHub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2860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4505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Analysis &amp; Modeling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AR aging &amp; cash-application logic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Data consolidation &amp; modeling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BI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MTD / snapshot filtering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434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3434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079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Product &amp; Front-End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HTML / CSS / JavaScript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SVG charting &amp; dashboards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UX for non-technical users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Clear documentation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3434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43434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5079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Ways of Working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Reverse-engineering undocumented processes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Working from ambiguity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Production troubleshooting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Following things through to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I'M MOST PROUD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A few things that meant the most to 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Building three automation solutions that are genuinely in use, not just prototypes.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Taking real, repetitive reporting effort off the team's plate each day.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Creating reusable frameworks that can grow, rather than one-time fixes.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Leaving behind solutions that keep running after the internship ends.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Giving the team clearer visibility into AR performance and collections activity.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How this can grow from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Extend the SOA framework to more customers and countries, since the reusable engine is already in place.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Move the data layer toward a centralized database (SQL and Data Factory), which would be a stronger backbone for everything above.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Build leadership-facing Power BI dashboards on top of the same consolidated data.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Small hardening steps, like standardizing the monthly folder names and adding alerts for missing or late source files.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LOOKING AHEAD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I have genuinely loved being part of this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6984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Thank you for the trust, the patience, and the chance to work on real problems that matter to the team.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I learned an enormous amount here, from the AR and collections side of the business to the tools that support it.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I am proud of what we built together, and I know there is more I could contribute with more time.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This internship confirmed my interest in finance, analytics, and automation.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32120"/>
            <a:ext cx="10698480" cy="777240"/>
          </a:xfrm>
          <a:prstGeom prst="roundRect">
            <a:avLst>
              <a:gd name="adj" fmla="val 12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614416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I am grateful for the opportunity to contribute to AMKAD, and would be excited to keep building solutions like these in the future.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81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A1D21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D21"/>
                </a:solidFill>
                <a:latin typeface="Calibri"/>
              </a:rPr>
              <a:t>Jean Kadadihi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Finance Intern, Controlling  ·  DHL Express Americas, Key Account Desk (AMKAD)</a:t>
            </a:r>
          </a:p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A5040D"/>
                </a:solidFill>
                <a:latin typeface="Calibri"/>
              </a:rPr>
              <a:t>I would be happy to answer any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54864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8A837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54864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 i="1">
                <a:solidFill>
                  <a:srgbClr val="8A837B"/>
                </a:solidFill>
                <a:latin typeface="Calibri"/>
              </a:rPr>
              <a:t>paste DHL 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