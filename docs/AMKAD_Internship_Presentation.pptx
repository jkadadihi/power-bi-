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50292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 i="1">
                <a:solidFill>
                  <a:srgbClr val="8A837B"/>
                </a:solidFill>
                <a:latin typeface="Calibri"/>
              </a:rPr>
              <a:t>paste DHL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>DHL EXPRESS AMERICAS  ·  KEY ACCOUNT DESK (AMKAD)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Automating AR Reporting &amp; Collections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9CED4"/>
                </a:solidFill>
                <a:latin typeface="Calibri"/>
              </a:rPr>
              <a:t>Moving a few manual processes toward a live dashboard and pipelines that run on their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Jean Kadadihi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4BAC1"/>
                </a:solidFill>
                <a:latin typeface="Calibri"/>
              </a:rPr>
              <a:t>Finance Intern, Controlling  ·  Internship Close-Out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What the work added up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0800" cy="155448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304495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1D21"/>
                </a:solidFill>
                <a:latin typeface="Calibri"/>
              </a:rPr>
              <a:t>~275 hrs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of team time given back each year, and likely more. A conservative estimate.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965960"/>
            <a:ext cx="34290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965960"/>
            <a:ext cx="50800" cy="155448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93976"/>
            <a:ext cx="304495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1D21"/>
                </a:solidFill>
                <a:latin typeface="Calibri"/>
              </a:rPr>
              <a:t>6 / week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statements now generated and emailed automatically (Arrow ×5, Baker ×1)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965960"/>
            <a:ext cx="3401568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965960"/>
            <a:ext cx="50800" cy="155448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093976"/>
            <a:ext cx="301752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A1D21"/>
                </a:solidFill>
                <a:latin typeface="Calibri"/>
              </a:rPr>
              <a:t>1 new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shared AR reporting view the team did not have in one place 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A5040D"/>
                </a:solidFill>
                <a:latin typeface="Calibri"/>
              </a:rPr>
              <a:t>That is roughly 7 to 11 full work-weeks a year that collectors can spend on collections instead of manual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D21"/>
                </a:solidFill>
                <a:latin typeface="Calibri"/>
              </a:rPr>
              <a:t>•  Helped bring AR visibility together in one place: aging, UAC, trends, and what-if scenarios.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D21"/>
                </a:solidFill>
                <a:latin typeface="Calibri"/>
              </a:rPr>
              <a:t>•  Took the daily data file off someone's plate so it no longer has to be rebuilt by hand.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D21"/>
                </a:solidFill>
                <a:latin typeface="Calibri"/>
              </a:rPr>
              <a:t>•  Reduced the reliance on one person, and the small errors that manual copy and paste can introduce.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What I'll walk 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A1D21"/>
                </a:solidFill>
                <a:latin typeface="Calibri"/>
              </a:rPr>
              <a:t>Where things stood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The manual starting point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27248"/>
            <a:ext cx="502920" cy="50292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27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A1D21"/>
                </a:solidFill>
                <a:latin typeface="Calibri"/>
              </a:rPr>
              <a:t>What I worked on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Three connected automations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68496"/>
            <a:ext cx="502920" cy="50292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68496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A1D21"/>
                </a:solidFill>
                <a:latin typeface="Calibri"/>
              </a:rPr>
              <a:t>The impact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Time saved, with the math shown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09744"/>
            <a:ext cx="502920" cy="50292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9744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A1D21"/>
                </a:solidFill>
                <a:latin typeface="Calibri"/>
              </a:rPr>
              <a:t>The hard parts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Power BI, data, and the challenges along the way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650992"/>
            <a:ext cx="502920" cy="50292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50992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A1D21"/>
                </a:solidFill>
                <a:latin typeface="Calibri"/>
              </a:rPr>
              <a:t>What's next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How this can grow from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WHERE THINGS STOOD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Three manual processes, three sources of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2044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441448"/>
            <a:ext cx="311810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AR Reporting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No consolidated daily view of receivables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Aging, overdue, UAC lived across spreadsheets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No trend, drill-down, or 'what-if' capability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Leadership lacked a single place to look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240280"/>
            <a:ext cx="352044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2240280"/>
            <a:ext cx="3520440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41448"/>
            <a:ext cx="311810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Daily Data File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 collector rebuilt it every business day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Copy, paste, calculate, and save a new file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Around 30 to 35 min a day, and mostly one person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Manual copy and paste can introduce small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240280"/>
            <a:ext cx="3493008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240280"/>
            <a:ext cx="3493008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7" y="2441448"/>
            <a:ext cx="3090672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Statements (SOA)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Collectors generated SOAs in START by hand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Then formatted, emailed, attached, CC'd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Repeated weekly, per customer &amp; country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Missed sends &amp; delays pulled focus off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WHAT I WORKED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Three connected automations across the AR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2044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441448"/>
            <a:ext cx="311810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1 · AR Dashboard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Live HTML report of the whole book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Aging, UAC, gross sales, payments, trends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Drill-downs and what-if payment simulators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Visibility we did not have in one 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240280"/>
            <a:ext cx="352044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2240280"/>
            <a:ext cx="3520440" cy="50800"/>
          </a:xfrm>
          <a:prstGeom prst="rect">
            <a:avLst/>
          </a:prstGeom>
          <a:solidFill>
            <a:srgbClr val="A50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41448"/>
            <a:ext cx="311810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2 · Daily Pipeline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Feeds the dashboard automatically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Source file lands, data is extracted and added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New dated file built with full history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Runs on its own, every business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240280"/>
            <a:ext cx="3493008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240280"/>
            <a:ext cx="3493008" cy="508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7" y="2441448"/>
            <a:ext cx="3090672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1D21"/>
                </a:solidFill>
                <a:latin typeface="Calibri"/>
              </a:rPr>
              <a:t>3 · SOA Automation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6 weekly statements generated automatically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Emailed with attachments and stakeholders CC'd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 configurable framework, not one-offs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Collectors step in only for exceptions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PILLAR 1 · THE AR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A live view of the receivables book that we did not have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Portfolio KPIs: Total AR, Overdue %, GT60 and GT90 aging, UAC, gross sales, payments.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Drill-downs both ways, from country to customer, to see what is driving each number.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Trends over time and same-month year-over-year comparison.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What-if payment simulators, at portfolio and customer level, with manual allocation across aging bands and UAC.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Editable risk thresholds and an Action-Required list that follows the collections escalation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CEFE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A5040D"/>
                </a:solidFill>
                <a:latin typeface="Calibri"/>
              </a:rPr>
              <a:t>It replaced the report tab that used to be updated by hand each day, and brought AR visibility together in one place that the team did not have before.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PILLAR 2 · THE DAILY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The manual daily file, now self-running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0511"/>
                </a:solidFill>
                <a:latin typeface="Calibri"/>
              </a:rPr>
              <a:t>Before:  around 30 to 35 min a day,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Open the emailed report and copy the data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Paste into a template and calculate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Copy specific columns into the workbook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Update the report tab, then save a new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F8A2E"/>
                </a:solidFill>
                <a:latin typeface="Calibri"/>
              </a:rPr>
              <a:t>After:  it runs on its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60604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The file lands in the shared folder and the flow starts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An Office Script reads and maps today's rows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A new dated file is built, carrying full history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•  Today's rows are added and the dashboard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23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FFCC00"/>
                </a:solidFill>
                <a:latin typeface="Calibri"/>
              </a:rPr>
              <a:t>Built with  Power Query (M),  Office Scripts (TypeScript),  Power Automate,  and SharePoint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FD4DA"/>
                </a:solidFill>
                <a:latin typeface="Calibri"/>
              </a:rPr>
              <a:t>It also protects against duplicates and handles missing or incomplete data gracefully, such as month-start EUR gaps.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PILLAR 3 · SOA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Recurring statements generated &amp; delivered without a collector touching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Automated 6 recurring weekly Statements of Account: Arrow Electronics across 5 countries, and Baker Hughes.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Generated from START templates with the right account filters, then emailed automatically with attachments and internal stakeholders CC'd.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Built as a configurable framework, so new customers can be added by updating configuration (accounts, recipients, schedule, template) rather than rebuilding it.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Designed so collectors only step in for exceptions, and can spend more of their time on collections.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CEFE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5040D"/>
                </a:solidFill>
                <a:latin typeface="Calibri"/>
              </a:rPr>
              <a:t>To be clear on scope: two customers are live today, six SOAs a week, on a framework built so more can be added over time. The reusable engine is the part that is done.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Time saved, with the math shown, kept deliberately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881360" cy="54864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945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>Per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1945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>Per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1945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>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Daily data file  (15 min × 5 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7432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1.25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~5.4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432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~63 hrs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solidFill>
            <a:srgbClr val="F1EFEA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Daily report tab  (15–20 min × 5 days)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2918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1.25–1.7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918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~5–7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2918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~63–83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4048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SOA automation  (6 SOAs × 30–60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3–6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13–26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150–300 hrs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solidFill>
            <a:srgbClr val="FCEFE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389120"/>
            <a:ext cx="50800" cy="54864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891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A5040D"/>
                </a:solidFill>
                <a:latin typeface="Calibri"/>
              </a:rPr>
              <a:t>Combined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3891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A5040D"/>
                </a:solidFill>
                <a:latin typeface="Calibri"/>
              </a:rPr>
              <a:t>~5.5–9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3891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A5040D"/>
                </a:solidFill>
                <a:latin typeface="Calibri"/>
              </a:rPr>
              <a:t>~24–38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3891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A5040D"/>
                </a:solidFill>
                <a:latin typeface="Calibri"/>
              </a:rPr>
              <a:t>~275–445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A5040D"/>
                </a:solidFill>
                <a:latin typeface="Calibri"/>
              </a:rPr>
              <a:t>That comes to roughly 7 to 11 full work-weeks of time given back to the team each year.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8A837B"/>
                </a:solidFill>
                <a:latin typeface="Calibri"/>
              </a:rPr>
              <a:t>The assumptions are kept conservative on purpose: 5 business days a week, SOAs at 30 to 60 minutes each, 6 a week. The figures leave out error-correction, rework, and analysis time, so the real number is likely higher.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HARD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What it took along the way, and what I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520440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311810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Power BI &amp; the data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Extensive trial-and-error building the model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Fragmented, inconsistent source data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Had to consolidate before anything was trustworthy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19456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2194560"/>
            <a:ext cx="3520440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395728"/>
            <a:ext cx="311810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Hosting blocked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Azure Functions blocked by permissions (RBAC)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Re-architected the whole recurring-run approach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Landed on GitHub Actions, which worked cleanly and at no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194560"/>
            <a:ext cx="349300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194560"/>
            <a:ext cx="3493008" cy="50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7" y="2395728"/>
            <a:ext cx="3090672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The right data pattern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Power Query replaces, it can't append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Designed a carry-history-forward pipeline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Solved it without breaking the live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3520440" cy="508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07408"/>
            <a:ext cx="311810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A production incident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 live query edit went wrong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Recovered cleanly via version history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Adopted a test-first, never-in-prod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4206240"/>
            <a:ext cx="35204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4206240"/>
            <a:ext cx="3520440" cy="508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407408"/>
            <a:ext cx="311810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Connector quirks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Dozens of field-name / identifier mismatches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Pagination, throttling, locked-file retries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Debugged each to a clean, green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4206240"/>
            <a:ext cx="349300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4206240"/>
            <a:ext cx="3493008" cy="508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7" y="4407408"/>
            <a:ext cx="3090672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The takeaway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Shipped despite every obstacle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Learned to de-risk before touching live data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•  Left it documented and maintainable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WHAT IT TOOK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Skills demonstrated,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0800" cy="1828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A5040D"/>
                </a:solidFill>
                <a:latin typeface="Calibri"/>
              </a:rPr>
              <a:t>Automation &amp; Data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Power Query (M)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Office Scripts (TypeScript)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Power Automate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SharePoint / 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800" cy="1828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50592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A5040D"/>
                </a:solidFill>
                <a:latin typeface="Calibri"/>
              </a:rPr>
              <a:t>Analysis &amp; Modeling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AR aging &amp; cash-application logic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Data consolidation &amp; modeling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Power BI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MTD / snapshot filtering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50800" cy="1828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A5040D"/>
                </a:solidFill>
                <a:latin typeface="Calibri"/>
              </a:rPr>
              <a:t>Product &amp; Front-End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HTML / CSS / JavaScript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SVG charting &amp; dashboards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UX for non-technical users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Clear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4340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343400"/>
            <a:ext cx="50800" cy="18288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507992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A5040D"/>
                </a:solidFill>
                <a:latin typeface="Calibri"/>
              </a:rPr>
              <a:t>Ways of Working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Reverse-engineering undocumented processes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Building from ambiguity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Production troubleshooting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D21"/>
                </a:solidFill>
                <a:latin typeface="Calibri"/>
              </a:rPr>
              <a:t>•  Shipping, not just proposing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A1D21"/>
                </a:solidFill>
                <a:latin typeface="Calibri"/>
              </a:rPr>
              <a:t>How this scales beyond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50" b="0" i="0">
                <a:solidFill>
                  <a:srgbClr val="1A1D21"/>
                </a:solidFill>
                <a:latin typeface="Calibri"/>
              </a:rPr>
              <a:t>•  Extend the SOA framework to more customers and countries, since the reusable engine is already in place.</a:t>
            </a:r>
          </a:p>
          <a:p>
            <a:pPr algn="l">
              <a:spcAft>
                <a:spcPts val="1300"/>
              </a:spcAft>
            </a:pPr>
            <a:r>
              <a:rPr sz="1550" b="0" i="0">
                <a:solidFill>
                  <a:srgbClr val="1A1D21"/>
                </a:solidFill>
                <a:latin typeface="Calibri"/>
              </a:rPr>
              <a:t>•  Move the data layer toward a centralized database (SQL and Data Factory), which would be a stronger backbone for everything above.</a:t>
            </a:r>
          </a:p>
          <a:p>
            <a:pPr algn="l">
              <a:spcAft>
                <a:spcPts val="1300"/>
              </a:spcAft>
            </a:pPr>
            <a:r>
              <a:rPr sz="1550" b="0" i="0">
                <a:solidFill>
                  <a:srgbClr val="1A1D21"/>
                </a:solidFill>
                <a:latin typeface="Calibri"/>
              </a:rPr>
              <a:t>•  Build leadership-facing Power BI dashboards on top of the same consolidated data.</a:t>
            </a:r>
          </a:p>
          <a:p>
            <a:pPr algn="l">
              <a:spcAft>
                <a:spcPts val="1300"/>
              </a:spcAft>
            </a:pPr>
            <a:r>
              <a:rPr sz="1550" b="0" i="0">
                <a:solidFill>
                  <a:srgbClr val="1A1D21"/>
                </a:solidFill>
                <a:latin typeface="Calibri"/>
              </a:rPr>
              <a:t>•  Small hardening steps, like standardizing the monthly folder names and adding alerts for missing or late source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 ·  AR Reporting &amp; Collections Automation  ·  Internship Close-Out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CC00"/>
                </a:solidFill>
                <a:latin typeface="Calibri"/>
              </a:rPr>
              <a:t>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 have genuinely loved being part of this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600" b="0" i="0">
                <a:solidFill>
                  <a:srgbClr val="E7EAED"/>
                </a:solidFill>
                <a:latin typeface="Calibri"/>
              </a:rPr>
              <a:t>•  Thank you for the trust, the patience, and the chance to work on real problems that matter to the team.</a:t>
            </a:r>
          </a:p>
          <a:p>
            <a:pPr algn="l">
              <a:spcAft>
                <a:spcPts val="1500"/>
              </a:spcAft>
            </a:pPr>
            <a:r>
              <a:rPr sz="1600" b="0" i="0">
                <a:solidFill>
                  <a:srgbClr val="E7EAED"/>
                </a:solidFill>
                <a:latin typeface="Calibri"/>
              </a:rPr>
              <a:t>•  I learned an enormous amount here, from the AR and collections side of the business to the tools that support it.</a:t>
            </a:r>
          </a:p>
          <a:p>
            <a:pPr algn="l">
              <a:spcAft>
                <a:spcPts val="1500"/>
              </a:spcAft>
            </a:pPr>
            <a:r>
              <a:rPr sz="1600" b="0" i="0">
                <a:solidFill>
                  <a:srgbClr val="E7EAED"/>
                </a:solidFill>
                <a:latin typeface="Calibri"/>
              </a:rPr>
              <a:t>•  I am proud of what we built together, and I know there is more I could contribute with more time.</a:t>
            </a:r>
          </a:p>
          <a:p>
            <a:pPr algn="l">
              <a:spcAft>
                <a:spcPts val="1500"/>
              </a:spcAft>
            </a:pPr>
            <a:r>
              <a:rPr sz="1600" b="0" i="0">
                <a:solidFill>
                  <a:srgbClr val="E7EAED"/>
                </a:solidFill>
                <a:latin typeface="Calibri"/>
              </a:rPr>
              <a:t>•  If the opportunity is there after I graduate, I would love to come back and keep building on this with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14416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Thank you for a great experience. I hope this is the start, not the 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A1D21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Jean Kadadihi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Finance Intern, Controlling  ·  DHL Express Americas, Key Account Desk (AMKAD)</a:t>
            </a:r>
          </a:p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A5040D"/>
                </a:solidFill>
                <a:latin typeface="Calibri"/>
              </a:rPr>
              <a:t>I would be happy to answer any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5486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54864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 i="1">
                <a:solidFill>
                  <a:srgbClr val="8A837B"/>
                </a:solidFill>
                <a:latin typeface="Calibri"/>
              </a:rPr>
              <a:t>paste DHL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