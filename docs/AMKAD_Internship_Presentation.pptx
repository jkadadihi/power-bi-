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66960" y="502920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8A837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0" y="502920"/>
            <a:ext cx="1737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 i="1">
                <a:solidFill>
                  <a:srgbClr val="8A837B"/>
                </a:solidFill>
                <a:latin typeface="Calibri"/>
              </a:rPr>
              <a:t>paste DHL 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CC00"/>
                </a:solidFill>
                <a:latin typeface="Calibri"/>
              </a:rPr>
              <a:t>DHL EXPRESS AMERICAS  ·  KEY ACCOUNT DESK (AMKAD)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106984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Automating AR Reporting &amp; Collections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C9CED4"/>
                </a:solidFill>
                <a:latin typeface="Calibri"/>
              </a:rPr>
              <a:t>Moving a few manual processes toward a live dashboard and pipelines that run on their 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Jean Kadadihi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B4BAC1"/>
                </a:solidFill>
                <a:latin typeface="Calibri"/>
              </a:rPr>
              <a:t>Finance Intern, Controlling  ·  Internship Close-Out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THE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What the work added up 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34290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50800" cy="155448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93976"/>
            <a:ext cx="3044952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1D21"/>
                </a:solidFill>
                <a:latin typeface="Calibri"/>
              </a:rPr>
              <a:t>~425 hrs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of team time given back each year, up to ~445. A conservative estimate.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965960"/>
            <a:ext cx="34290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9976" y="1965960"/>
            <a:ext cx="50800" cy="155448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2093976"/>
            <a:ext cx="3044952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1D21"/>
                </a:solidFill>
                <a:latin typeface="Calibri"/>
              </a:rPr>
              <a:t>12 / week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statements now generated and emailed automatically each week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1965960"/>
            <a:ext cx="3401568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9872" y="1965960"/>
            <a:ext cx="50800" cy="155448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9328" y="2093976"/>
            <a:ext cx="301752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1D21"/>
                </a:solidFill>
                <a:latin typeface="Calibri"/>
              </a:rPr>
              <a:t>1 new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shared AR reporting view the team did not have in one place before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404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A5040D"/>
                </a:solidFill>
                <a:latin typeface="Calibri"/>
              </a:rPr>
              <a:t>That is roughly 11 full work-weeks a year that collectors can spend on collections instead of manual reporting.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A1D21"/>
                </a:solidFill>
                <a:latin typeface="Calibri"/>
              </a:rPr>
              <a:t>•  Helped bring AR visibility together in one place: aging, UAC, trends, and what-if scenarios.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A1D21"/>
                </a:solidFill>
                <a:latin typeface="Calibri"/>
              </a:rPr>
              <a:t>•  Took the daily data file off someone's plate so it no longer has to be rebuilt by hand.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A1D21"/>
                </a:solidFill>
                <a:latin typeface="Calibri"/>
              </a:rPr>
              <a:t>•  Reduced the reliance on one person, and the small errors that manual copy and paste can introduce.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What I'll walk through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212848"/>
            <a:ext cx="457200" cy="457200"/>
          </a:xfrm>
          <a:prstGeom prst="ellipse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212848"/>
            <a:ext cx="9601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A1D21"/>
                </a:solidFill>
                <a:latin typeface="Calibri"/>
              </a:rPr>
              <a:t>My internship journey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Calibri"/>
              </a:rPr>
              <a:t>From learning the systems to shipping automations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898648"/>
            <a:ext cx="457200" cy="457200"/>
          </a:xfrm>
          <a:prstGeom prst="ellipse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898648"/>
            <a:ext cx="9601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A1D21"/>
                </a:solidFill>
                <a:latin typeface="Calibri"/>
              </a:rPr>
              <a:t>Where things stood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Calibri"/>
              </a:rPr>
              <a:t>The manual starting point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584448"/>
            <a:ext cx="457200" cy="457200"/>
          </a:xfrm>
          <a:prstGeom prst="ellipse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584448"/>
            <a:ext cx="9601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A1D21"/>
                </a:solidFill>
                <a:latin typeface="Calibri"/>
              </a:rPr>
              <a:t>What I worked on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Calibri"/>
              </a:rPr>
              <a:t>Three connected automations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270248"/>
            <a:ext cx="9601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A1D21"/>
                </a:solidFill>
                <a:latin typeface="Calibri"/>
              </a:rPr>
              <a:t>The impact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Calibri"/>
              </a:rPr>
              <a:t>Time saved, with the math shown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956048"/>
            <a:ext cx="457200" cy="457200"/>
          </a:xfrm>
          <a:prstGeom prst="ellipse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956048"/>
            <a:ext cx="9601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A1D21"/>
                </a:solidFill>
                <a:latin typeface="Calibri"/>
              </a:rPr>
              <a:t>The hard parts and what I learned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Calibri"/>
              </a:rPr>
              <a:t>The challenges along the way, and the growth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641848"/>
            <a:ext cx="457200" cy="457200"/>
          </a:xfrm>
          <a:prstGeom prst="ellipse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641848"/>
            <a:ext cx="9601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A1D21"/>
                </a:solidFill>
                <a:latin typeface="Calibri"/>
              </a:rPr>
              <a:t>What's next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Calibri"/>
              </a:rPr>
              <a:t>How this can grow from here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MY INTERNSHIP JOURNEY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From learning DHL's systems in week one to shipping automations that run on their own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65960" y="2331720"/>
            <a:ext cx="27940" cy="356616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83664" y="2368296"/>
            <a:ext cx="237744" cy="237744"/>
          </a:xfrm>
          <a:prstGeom prst="ellipse">
            <a:avLst/>
          </a:prstGeom>
          <a:solidFill>
            <a:srgbClr val="D40511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Weeks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24028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A1D21"/>
                </a:solidFill>
                <a:latin typeface="Calibri"/>
              </a:rPr>
              <a:t>Learned AR, collections, START, and AMKAD processes; reviewed the existing Power BI reporting; picked up SAP extracts and the reporting workflow.</a:t>
            </a:r>
          </a:p>
        </p:txBody>
      </p:sp>
      <p:sp>
        <p:nvSpPr>
          <p:cNvPr id="11" name="Oval 10"/>
          <p:cNvSpPr/>
          <p:nvPr/>
        </p:nvSpPr>
        <p:spPr>
          <a:xfrm>
            <a:off x="1883664" y="3191256"/>
            <a:ext cx="237744" cy="237744"/>
          </a:xfrm>
          <a:prstGeom prst="ellipse">
            <a:avLst/>
          </a:prstGeom>
          <a:solidFill>
            <a:srgbClr val="D40511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06324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Weeks 3–4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306324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A1D21"/>
                </a:solidFill>
                <a:latin typeface="Calibri"/>
              </a:rPr>
              <a:t>Built the first AR dashboard prototype and began data modeling and reporting enhancements.</a:t>
            </a:r>
          </a:p>
        </p:txBody>
      </p:sp>
      <p:sp>
        <p:nvSpPr>
          <p:cNvPr id="14" name="Oval 13"/>
          <p:cNvSpPr/>
          <p:nvPr/>
        </p:nvSpPr>
        <p:spPr>
          <a:xfrm>
            <a:off x="1883664" y="4014216"/>
            <a:ext cx="237744" cy="237744"/>
          </a:xfrm>
          <a:prstGeom prst="ellipse">
            <a:avLst/>
          </a:prstGeom>
          <a:solidFill>
            <a:srgbClr val="D40511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88620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Weeks 5–6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8862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A1D21"/>
                </a:solidFill>
                <a:latin typeface="Calibri"/>
              </a:rPr>
              <a:t>Developed the automated daily data pipeline, connecting Power Query, Office Scripts, Power Automate, and SharePoint.</a:t>
            </a:r>
          </a:p>
        </p:txBody>
      </p:sp>
      <p:sp>
        <p:nvSpPr>
          <p:cNvPr id="17" name="Oval 16"/>
          <p:cNvSpPr/>
          <p:nvPr/>
        </p:nvSpPr>
        <p:spPr>
          <a:xfrm>
            <a:off x="1883664" y="4837176"/>
            <a:ext cx="237744" cy="237744"/>
          </a:xfrm>
          <a:prstGeom prst="ellipse">
            <a:avLst/>
          </a:prstGeom>
          <a:solidFill>
            <a:srgbClr val="D40511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70916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Weeks 7–8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70916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A1D21"/>
                </a:solidFill>
                <a:latin typeface="Calibri"/>
              </a:rPr>
              <a:t>Reverse-engineered the START SOA process and designed a reusable SOA automation framework.</a:t>
            </a:r>
          </a:p>
        </p:txBody>
      </p:sp>
      <p:sp>
        <p:nvSpPr>
          <p:cNvPr id="20" name="Oval 19"/>
          <p:cNvSpPr/>
          <p:nvPr/>
        </p:nvSpPr>
        <p:spPr>
          <a:xfrm>
            <a:off x="1883664" y="5660136"/>
            <a:ext cx="237744" cy="237744"/>
          </a:xfrm>
          <a:prstGeom prst="ellipse">
            <a:avLst/>
          </a:prstGeom>
          <a:solidFill>
            <a:srgbClr val="D40511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53212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Week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553212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A1D21"/>
                </a:solidFill>
                <a:latin typeface="Calibri"/>
              </a:rPr>
              <a:t>Deployed 5 Arrow SOAs and 1 Baker Hughes SOA, and completed documentation and handoff.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WHERE THINGS STOOD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Three manual processes, three sources of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3520440" cy="3566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3520440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441448"/>
            <a:ext cx="311810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A1D21"/>
                </a:solidFill>
                <a:latin typeface="Calibri"/>
              </a:rPr>
              <a:t>AR Reporting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No consolidated daily view of receivables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Aging, overdue, UAC lived across spreadsheets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No trend, drill-down, or what-if capability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Leadership lacked a single place to look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2240280"/>
            <a:ext cx="3520440" cy="3566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4256" y="2240280"/>
            <a:ext cx="3520440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441448"/>
            <a:ext cx="311810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A1D21"/>
                </a:solidFill>
                <a:latin typeface="Calibri"/>
              </a:rPr>
              <a:t>Daily Data File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 collector rebuilt it every business day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Copy, paste, calculate, and save a new file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Around 30 to 35 min a day, and mostly one person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Manual copy and paste can introduce small errors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2240280"/>
            <a:ext cx="3493008" cy="3566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1" y="2240280"/>
            <a:ext cx="3493008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7" y="2441448"/>
            <a:ext cx="3090672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A1D21"/>
                </a:solidFill>
                <a:latin typeface="Calibri"/>
              </a:rPr>
              <a:t>Statements (SOA)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Collectors generated SOAs in START by hand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Then formatted, emailed, attached, and CC'd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Repeated weekly, per customer and country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Missed sends and delays pulled focus off collections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WHAT I WORKED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Three connected automations across the AR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3520440" cy="3566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3520440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441448"/>
            <a:ext cx="311810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A1D21"/>
                </a:solidFill>
                <a:latin typeface="Calibri"/>
              </a:rPr>
              <a:t>1 · AR Dashboard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Live HTML report of the whole book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Aging, UAC, gross sales, payments, trends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Drill-downs and what-if payment simulators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Visibility we did not have in one place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2240280"/>
            <a:ext cx="3520440" cy="3566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4256" y="2240280"/>
            <a:ext cx="3520440" cy="50800"/>
          </a:xfrm>
          <a:prstGeom prst="rect">
            <a:avLst/>
          </a:prstGeom>
          <a:solidFill>
            <a:srgbClr val="A50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441448"/>
            <a:ext cx="311810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A1D21"/>
                </a:solidFill>
                <a:latin typeface="Calibri"/>
              </a:rPr>
              <a:t>2 · Daily Pipeline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Feeds the dashboard automatically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Source file lands, data is extracted and added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New dated file built with full history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Runs on its own, every business day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2240280"/>
            <a:ext cx="3493008" cy="3566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1" y="2240280"/>
            <a:ext cx="3493008" cy="508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7" y="2441448"/>
            <a:ext cx="3090672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A1D21"/>
                </a:solidFill>
                <a:latin typeface="Calibri"/>
              </a:rPr>
              <a:t>3 · SOA Automation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6 weekly statements generated automatically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Emailed with attachments and stakeholders CC'd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 configurable framework, not one-offs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Collectors step in only for exceptions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HOW IT FITS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The path from the source systems to the dashboard and the automated statements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288036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990088"/>
            <a:ext cx="1426464" cy="101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A1D21"/>
                </a:solidFill>
                <a:latin typeface="Calibri"/>
              </a:rPr>
              <a:t>SAP / START</a:t>
            </a:r>
          </a:p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5B6470"/>
                </a:solidFill>
                <a:latin typeface="Calibri"/>
              </a:rPr>
              <a:t>source data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249424" y="3396996"/>
            <a:ext cx="219456" cy="201168"/>
          </a:xfrm>
          <a:prstGeom prst="rightArrow">
            <a:avLst/>
          </a:prstGeom>
          <a:solidFill>
            <a:srgbClr val="C7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87168" y="288036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2990088"/>
            <a:ext cx="1426464" cy="101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A1D21"/>
                </a:solidFill>
                <a:latin typeface="Calibri"/>
              </a:rPr>
              <a:t>SharePoint</a:t>
            </a:r>
          </a:p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5B6470"/>
                </a:solidFill>
                <a:latin typeface="Calibri"/>
              </a:rPr>
              <a:t>files land here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078224" y="3396996"/>
            <a:ext cx="219456" cy="201168"/>
          </a:xfrm>
          <a:prstGeom prst="rightArrow">
            <a:avLst/>
          </a:prstGeom>
          <a:solidFill>
            <a:srgbClr val="C7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15968" y="288036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2990088"/>
            <a:ext cx="1426464" cy="101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A1D21"/>
                </a:solidFill>
                <a:latin typeface="Calibri"/>
              </a:rPr>
              <a:t>Power Query</a:t>
            </a:r>
          </a:p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5B6470"/>
                </a:solidFill>
                <a:latin typeface="Calibri"/>
              </a:rPr>
              <a:t>shapes the data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07024" y="3396996"/>
            <a:ext cx="219456" cy="201168"/>
          </a:xfrm>
          <a:prstGeom prst="rightArrow">
            <a:avLst/>
          </a:prstGeom>
          <a:solidFill>
            <a:srgbClr val="C7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44768" y="288036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2990088"/>
            <a:ext cx="1426464" cy="101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A1D21"/>
                </a:solidFill>
                <a:latin typeface="Calibri"/>
              </a:rPr>
              <a:t>Office Script</a:t>
            </a:r>
          </a:p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5B6470"/>
                </a:solidFill>
                <a:latin typeface="Calibri"/>
              </a:rPr>
              <a:t>reads &amp; writes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735824" y="3396996"/>
            <a:ext cx="219456" cy="201168"/>
          </a:xfrm>
          <a:prstGeom prst="rightArrow">
            <a:avLst/>
          </a:prstGeom>
          <a:solidFill>
            <a:srgbClr val="C7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73568" y="288036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2990088"/>
            <a:ext cx="1426464" cy="101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A1D21"/>
                </a:solidFill>
                <a:latin typeface="Calibri"/>
              </a:rPr>
              <a:t>Power Automate</a:t>
            </a:r>
          </a:p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5B6470"/>
                </a:solidFill>
                <a:latin typeface="Calibri"/>
              </a:rPr>
              <a:t>runs it daily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564624" y="3396996"/>
            <a:ext cx="219456" cy="201168"/>
          </a:xfrm>
          <a:prstGeom prst="rightArrow">
            <a:avLst/>
          </a:prstGeom>
          <a:solidFill>
            <a:srgbClr val="C7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802368" y="288036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D40511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0" y="2990088"/>
            <a:ext cx="1426464" cy="101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Dashboard &amp; SOA emails</a:t>
            </a:r>
          </a:p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F3D6D6"/>
                </a:solidFill>
                <a:latin typeface="Calibri"/>
              </a:rPr>
              <a:t>what people see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754880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ECF6EE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846320"/>
            <a:ext cx="10332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5C2E"/>
                </a:solidFill>
                <a:latin typeface="Calibri"/>
              </a:rPr>
              <a:t>In plain terms: the data flows in on its own, gets shaped and checked automatically, and comes out as a live dashboard and ready-to-send statements. No one has to run it by hand.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PILLAR 1 · THE AR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Aging, UAC, payments, gross sales, trends, and forecasts brought into a single 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Portfolio KPIs: Total AR, Overdue %, GT60 and GT90 aging, UAC, gross sales, payments.</a:t>
            </a:r>
          </a:p>
          <a:p>
            <a:pPr algn="l">
              <a:spcAft>
                <a:spcPts val="11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Drill-downs both ways, from country to customer, to see what is driving each number.</a:t>
            </a:r>
          </a:p>
          <a:p>
            <a:pPr algn="l">
              <a:spcAft>
                <a:spcPts val="11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Trends over time and same-month year-over-year comparison.</a:t>
            </a:r>
          </a:p>
          <a:p>
            <a:pPr algn="l">
              <a:spcAft>
                <a:spcPts val="11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What-if payment simulators, at portfolio and customer level, with manual allocation across aging bands and UAC.</a:t>
            </a:r>
          </a:p>
          <a:p>
            <a:pPr algn="l">
              <a:spcAft>
                <a:spcPts val="11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Editable risk thresholds and an Action-Required list that follows the collections escalation process.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440680"/>
            <a:ext cx="10881360" cy="777240"/>
          </a:xfrm>
          <a:prstGeom prst="roundRect">
            <a:avLst>
              <a:gd name="adj" fmla="val 12000"/>
            </a:avLst>
          </a:prstGeom>
          <a:solidFill>
            <a:srgbClr val="FCEFE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32120"/>
            <a:ext cx="103327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A5040D"/>
                </a:solidFill>
                <a:latin typeface="Calibri"/>
              </a:rPr>
              <a:t>It replaced the report tab that used to be updated by hand each day, and brought AR visibility together in one place that the team did not have before.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PILLAR 2 · THE DAILY DATA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The manual daily file, now running on its own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40511"/>
                </a:solidFill>
                <a:latin typeface="Calibri"/>
              </a:rPr>
              <a:t>Before:  around 30 to 35 min a day,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51206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Open the emailed report and copy the data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Paste into a template and calculate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Copy specific columns into the workbook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Update the report tab, then save a new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945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F8A2E"/>
                </a:solidFill>
                <a:latin typeface="Calibri"/>
              </a:rPr>
              <a:t>After:  it runs on its 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606040"/>
            <a:ext cx="51206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The file lands in the shared folder and the flow starts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An Office Script reads and maps today's rows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A new dated file is built, carrying full history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Today's rows are added and the dashboard updates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7492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2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230368"/>
            <a:ext cx="10332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FFCC00"/>
                </a:solidFill>
                <a:latin typeface="Calibri"/>
              </a:rPr>
              <a:t>Built with  Power Query (M),  Office Scripts (TypeScript),  Power Automate,  and SharePoint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CFD4DA"/>
                </a:solidFill>
                <a:latin typeface="Calibri"/>
              </a:rPr>
              <a:t>It also protects against duplicates and handles missing or incomplete data gracefully, such as month-start EUR gaps.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PILLAR 3 · SOA AUTOMATION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Recurring statements generated and delivered without a collector touching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D21"/>
                </a:solidFill>
                <a:latin typeface="Calibri"/>
              </a:rPr>
              <a:t>•  Automated 12 recurring weekly Statements of Account across multiple customers and countries.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D21"/>
                </a:solidFill>
                <a:latin typeface="Calibri"/>
              </a:rPr>
              <a:t>•  Generated from START templates with the right account filters, then emailed automatically with attachments and internal stakeholders CC'd.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D21"/>
                </a:solidFill>
                <a:latin typeface="Calibri"/>
              </a:rPr>
              <a:t>•  Built as a configurable framework, so new customers can be added by updating configuration (accounts, recipients, schedule, template) rather than rebuilding it.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D21"/>
                </a:solidFill>
                <a:latin typeface="Calibri"/>
              </a:rPr>
              <a:t>•  Designed so collectors only step in for exceptions, and can spend more of their time on collections.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440680"/>
            <a:ext cx="10881360" cy="777240"/>
          </a:xfrm>
          <a:prstGeom prst="roundRect">
            <a:avLst>
              <a:gd name="adj" fmla="val 12000"/>
            </a:avLst>
          </a:prstGeom>
          <a:solidFill>
            <a:srgbClr val="FCEFE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32120"/>
            <a:ext cx="103327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A5040D"/>
                </a:solidFill>
                <a:latin typeface="Calibri"/>
              </a:rPr>
              <a:t>12 SOAs a week are live today, on a framework built so more can be added over time. The reusable engine is the part that is done.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THE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Time saved, with the math shown, kept deliberately conservative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084831"/>
            <a:ext cx="10881360" cy="457200"/>
          </a:xfrm>
          <a:prstGeom prst="roundRect">
            <a:avLst>
              <a:gd name="adj" fmla="val 16000"/>
            </a:avLst>
          </a:prstGeom>
          <a:solidFill>
            <a:srgbClr val="ECF6EE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84831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F5C2E"/>
                </a:solidFill>
                <a:latin typeface="Calibri"/>
              </a:rPr>
              <a:t>Live today:   ✓ Dashboard in production    ✓ Daily pipeline running    ✓ 12 weekly SOAs automated    ✓ Framework ready for more customers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97480"/>
            <a:ext cx="10881360" cy="50292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4297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CC00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269748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CC00"/>
                </a:solidFill>
                <a:latin typeface="Calibri"/>
              </a:rPr>
              <a:t>Per week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269748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CC00"/>
                </a:solidFill>
                <a:latin typeface="Calibri"/>
              </a:rPr>
              <a:t>Per 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69748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CC00"/>
                </a:solidFill>
                <a:latin typeface="Calibri"/>
              </a:rPr>
              <a:t>Per year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00400"/>
            <a:ext cx="108813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200400"/>
            <a:ext cx="4297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A1D21"/>
                </a:solidFill>
                <a:latin typeface="Calibri"/>
              </a:rPr>
              <a:t>Daily data file  (15 min × 5 days)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20040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1.25 hrs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320040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~5.4 hrs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320040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~63 hrs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703320"/>
            <a:ext cx="10881360" cy="502920"/>
          </a:xfrm>
          <a:prstGeom prst="rect">
            <a:avLst/>
          </a:prstGeom>
          <a:solidFill>
            <a:srgbClr val="F1EFEA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703320"/>
            <a:ext cx="4297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A1D21"/>
                </a:solidFill>
                <a:latin typeface="Calibri"/>
              </a:rPr>
              <a:t>Daily report tab  (15–20 min × 5 days)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370332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1.25–1.7 hrs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370332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~5–7 hrs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0332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~63–83 hrs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206240"/>
            <a:ext cx="108813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206240"/>
            <a:ext cx="4297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A1D21"/>
                </a:solidFill>
                <a:latin typeface="Calibri"/>
              </a:rPr>
              <a:t>SOA automation  (12 SOAs × 30 min)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20624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6 hrs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420624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~26 hrs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420624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~300 hrs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709160"/>
            <a:ext cx="10881360" cy="502920"/>
          </a:xfrm>
          <a:prstGeom prst="rect">
            <a:avLst/>
          </a:prstGeom>
          <a:solidFill>
            <a:srgbClr val="FCEFE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709160"/>
            <a:ext cx="50800" cy="50292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709160"/>
            <a:ext cx="4297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A5040D"/>
                </a:solidFill>
                <a:latin typeface="Calibri"/>
              </a:rPr>
              <a:t>Combined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470916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50" b="1" i="0">
                <a:solidFill>
                  <a:srgbClr val="A5040D"/>
                </a:solidFill>
                <a:latin typeface="Calibri"/>
              </a:rPr>
              <a:t>~8.5–9 hrs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470916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50" b="1" i="0">
                <a:solidFill>
                  <a:srgbClr val="A5040D"/>
                </a:solidFill>
                <a:latin typeface="Calibri"/>
              </a:rPr>
              <a:t>~36–38 hrs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55480" y="470916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50" b="1" i="0">
                <a:solidFill>
                  <a:srgbClr val="A5040D"/>
                </a:solidFill>
                <a:latin typeface="Calibri"/>
              </a:rPr>
              <a:t>~425–445 hrs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44068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50" b="1" i="0">
                <a:solidFill>
                  <a:srgbClr val="A5040D"/>
                </a:solidFill>
                <a:latin typeface="Calibri"/>
              </a:rPr>
              <a:t>That comes to roughly 11 full work-weeks of time given back to the team each year.</a:t>
            </a:r>
          </a:p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8A837B"/>
                </a:solidFill>
                <a:latin typeface="Calibri"/>
              </a:rPr>
              <a:t>The assumptions are kept conservative on purpose: 5 business days a week, 12 SOAs a week at about 30 minutes each. The figures leave out error-correction, rework, and analysis time, so the real number is likely higher.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THE HARD PARTS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What it took along the way, and what I learned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35204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94560"/>
            <a:ext cx="3520440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395728"/>
            <a:ext cx="3118104" cy="1508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1A1D21"/>
                </a:solidFill>
                <a:latin typeface="Calibri"/>
              </a:rPr>
              <a:t>Power BI &amp; the data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 lot of trial and error on the model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Fragmented, inconsistent source data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Had to consolidate before trusting anything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2194560"/>
            <a:ext cx="35204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4256" y="2194560"/>
            <a:ext cx="3520440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395728"/>
            <a:ext cx="3118104" cy="1508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1A1D21"/>
                </a:solidFill>
                <a:latin typeface="Calibri"/>
              </a:rPr>
              <a:t>Hosting blocked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Azure Functions blocked by permissions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Rethought the recurring-run approach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Landed on GitHub Actions, clean and no cost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2194560"/>
            <a:ext cx="3493008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1" y="2194560"/>
            <a:ext cx="3493008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7" y="2395728"/>
            <a:ext cx="3090672" cy="1508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1A1D21"/>
                </a:solidFill>
                <a:latin typeface="Calibri"/>
              </a:rPr>
              <a:t>The right data pattern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Power Query replaces, it cannot append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Designed a carry-history-forward pipeline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Solved it without breaking the live report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06240"/>
            <a:ext cx="35204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3520440" cy="508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407408"/>
            <a:ext cx="3118104" cy="1508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1A1D21"/>
                </a:solidFill>
                <a:latin typeface="Calibri"/>
              </a:rPr>
              <a:t>A production incident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 live query edit went wrong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Recovered cleanly via version history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Adopted a test-first, never-in-prod habit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4256" y="4206240"/>
            <a:ext cx="35204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34256" y="4206240"/>
            <a:ext cx="3520440" cy="508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4407408"/>
            <a:ext cx="3118104" cy="1508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1A1D21"/>
                </a:solidFill>
                <a:latin typeface="Calibri"/>
              </a:rPr>
              <a:t>Connector quirks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Many field-name and identifier mismatches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Pagination, throttling, locked-file retries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Worked each one through to a clean run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28431" y="4206240"/>
            <a:ext cx="3493008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4206240"/>
            <a:ext cx="3493008" cy="508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7" y="4407408"/>
            <a:ext cx="3090672" cy="1508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1A1D21"/>
                </a:solidFill>
                <a:latin typeface="Calibri"/>
              </a:rPr>
              <a:t>The takeaway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Kept going through the obstacles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Learned to de-risk before touching live data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Left it documented and maintainable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THE BIGGER CHALLENGE WASN'T THE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The hardest parts were the ones around the building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Learning the business first: AR, aging, UAC, DSO, SOAs, START, and the AMKAD workflows, before automating any of it.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Understanding why collectors did each step, what the exceptions were, and what could break if I got it wrong.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Making imperfect, fragmented data reliable: different files, SAP exports, missing values, and inconsistent naming.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Building systems people actually depend on, where accuracy and uptime matter, not demo projects.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Piecing together processes that were never fully documented, by meeting people, asking questions, and testing.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WHAT I LEARNED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The parts that will stay with 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How accounts receivable connects to the wider health and performance of the business.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How to take a business problem and turn it into a practical automation opportunity.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How to work with people across finance, collections, and IT to get something built.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Why it is worth designing scalable, reusable solutions instead of one-off fixes.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How to stay calm and methodical when something breaks, and recover from it properly.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WHAT I'D DO DIFFERENTLY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Where I want to grow from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5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Spend more time on design up front. Map the process and sketch the architecture before building, so there is less rebuilding later when a new requirement appears.</a:t>
            </a:r>
          </a:p>
          <a:p>
            <a:pPr algn="l">
              <a:spcAft>
                <a:spcPts val="15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Document while I build, not at the end. As the automations grew more complex, earlier notes would have made them easier to hand off and maintain.</a:t>
            </a:r>
          </a:p>
          <a:p>
            <a:pPr algn="l">
              <a:spcAft>
                <a:spcPts val="15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Validate the workflow with users earlier and more often. Not just "can I make this work," but "is this the workflow people actually want."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257800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FCEFE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10332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A5040D"/>
                </a:solidFill>
                <a:latin typeface="Calibri"/>
              </a:rPr>
              <a:t>In short, I want to grow from building automations toward designing them: more thought up front, better documentation, and scalability from the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WHAT IT TOOK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Skills I got to build and 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50800" cy="1828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50592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Automation &amp; Data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Power Query (M)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Office Scripts (TypeScript)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Power Automate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SharePoint / GitHub 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28600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2286000"/>
            <a:ext cx="50800" cy="1828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450592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Analysis &amp; Modeling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AR aging &amp; cash-application logic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Data consolidation &amp; modeling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Power BI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MTD / snapshot filtering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4340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343400"/>
            <a:ext cx="50800" cy="1828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507992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Product &amp; Front-End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HTML / CSS / JavaScript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SVG charting &amp; dashboards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UX for non-technical users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Clear documentation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34340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4343400"/>
            <a:ext cx="50800" cy="1828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4507992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Ways of Working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Reverse-engineering undocumented processes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Working from ambiguity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Production troubleshooting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Following things through to done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WHAT I'M MOST PROUD OF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A few things that meant the most to 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Building three automation solutions that are genuinely in use, not just prototypes.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Taking real, repetitive reporting effort off the team's plate each day.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Creating reusable frameworks that can grow, rather than one-time fixes.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Leaving behind solutions that keep running after the internship ends.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Giving the team clearer visibility into AR performance and collections activity.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WHAT'S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How this can grow from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Extend the SOA framework to more customers and countries, since the reusable engine is already in place.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Move the data layer toward a centralized database (SQL and Data Factory), which would be a stronger backbone for everything above.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Build leadership-facing Power BI dashboards on top of the same consolidated data.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Small hardening steps, like standardizing the monthly folder names and adding alerts for missing or late source files.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CC00"/>
                </a:solidFill>
                <a:latin typeface="Calibri"/>
              </a:rPr>
              <a:t>LOOKING AHEAD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I have genuinely loved being part of this team.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1069848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500"/>
              </a:spcAft>
            </a:pPr>
            <a:r>
              <a:rPr sz="1600" b="0" i="0">
                <a:solidFill>
                  <a:srgbClr val="E7EAED"/>
                </a:solidFill>
                <a:latin typeface="Calibri"/>
              </a:rPr>
              <a:t>•  Thank you for the trust, the patience, and the chance to work on real problems that matter to the team.</a:t>
            </a:r>
          </a:p>
          <a:p>
            <a:pPr algn="l">
              <a:spcAft>
                <a:spcPts val="1500"/>
              </a:spcAft>
            </a:pPr>
            <a:r>
              <a:rPr sz="1600" b="0" i="0">
                <a:solidFill>
                  <a:srgbClr val="E7EAED"/>
                </a:solidFill>
                <a:latin typeface="Calibri"/>
              </a:rPr>
              <a:t>•  I learned an enormous amount here, from the AR and collections side of the business to the tools that support it.</a:t>
            </a:r>
          </a:p>
          <a:p>
            <a:pPr algn="l">
              <a:spcAft>
                <a:spcPts val="1500"/>
              </a:spcAft>
            </a:pPr>
            <a:r>
              <a:rPr sz="1600" b="0" i="0">
                <a:solidFill>
                  <a:srgbClr val="E7EAED"/>
                </a:solidFill>
                <a:latin typeface="Calibri"/>
              </a:rPr>
              <a:t>•  I am proud of what we built together, and I know there is more I could contribute with more time.</a:t>
            </a:r>
          </a:p>
          <a:p>
            <a:pPr algn="l">
              <a:spcAft>
                <a:spcPts val="1500"/>
              </a:spcAft>
            </a:pPr>
            <a:r>
              <a:rPr sz="1600" b="0" i="0">
                <a:solidFill>
                  <a:srgbClr val="E7EAED"/>
                </a:solidFill>
                <a:latin typeface="Calibri"/>
              </a:rPr>
              <a:t>•  This internship confirmed my interest in finance, analytics, and automation.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532120"/>
            <a:ext cx="10698480" cy="777240"/>
          </a:xfrm>
          <a:prstGeom prst="roundRect">
            <a:avLst>
              <a:gd name="adj" fmla="val 12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614416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I am grateful for the opportunity to contribute to AMKAD, and would be excited to keep building solutions like these in the future.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381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A1D21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1A1D21"/>
                </a:solidFill>
                <a:latin typeface="Calibri"/>
              </a:rPr>
              <a:t>Jean Kadadihi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B6470"/>
                </a:solidFill>
                <a:latin typeface="Calibri"/>
              </a:rPr>
              <a:t>Finance Intern, Controlling  ·  DHL Express Americas, Key Account Desk (AMKAD)</a:t>
            </a:r>
          </a:p>
          <a:p>
            <a:pPr algn="l">
              <a:spcAft>
                <a:spcPts val="600"/>
              </a:spcAft>
            </a:pPr>
            <a:r>
              <a:rPr sz="1350" b="0" i="1">
                <a:solidFill>
                  <a:srgbClr val="A5040D"/>
                </a:solidFill>
                <a:latin typeface="Calibri"/>
              </a:rPr>
              <a:t>I would be happy to answer any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548640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8A837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548640"/>
            <a:ext cx="1737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 i="1">
                <a:solidFill>
                  <a:srgbClr val="8A837B"/>
                </a:solidFill>
                <a:latin typeface="Calibri"/>
              </a:rPr>
              <a:t>paste DHL logo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