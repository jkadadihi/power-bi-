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0292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50292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DHL EXPRESS AMERICAS  ·  KEY ACCOUNT DESK (AMKAD)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Automating AR Reporting &amp; Collections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9CED4"/>
                </a:solidFill>
                <a:latin typeface="Calibri"/>
              </a:rPr>
              <a:t>Moving a few manual processes toward a live dashboard and pipelines that run on their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4BAC1"/>
                </a:solidFill>
                <a:latin typeface="Calibri"/>
              </a:rPr>
              <a:t>Finance Intern, Controlling  ·  Internship Close-Out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the work added up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~275 hrs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of team time given back each year, and likely more. A conservative estimate.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965960"/>
            <a:ext cx="34290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93976"/>
            <a:ext cx="3044952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6 / week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statements now generated and emailed automatically (Arrow ×5, Baker ×1)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3401568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965960"/>
            <a:ext cx="50800" cy="155448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2093976"/>
            <a:ext cx="30175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1D21"/>
                </a:solidFill>
                <a:latin typeface="Calibri"/>
              </a:rPr>
              <a:t>1 new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shared AR reporting view the team did not have in one place before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A5040D"/>
                </a:solidFill>
                <a:latin typeface="Calibri"/>
              </a:rPr>
              <a:t>That is roughly 7 to 11 full work-weeks a year that collectors can spend on collections instead of manual reporting.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Helped bring AR visibility together in one place: aging, UAC, trends, and what-if scenarios.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Took the daily data file off someone's plate so it no longer has to be rebuilt by hand.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A1D21"/>
                </a:solidFill>
                <a:latin typeface="Calibri"/>
              </a:rPr>
              <a:t>•  Reduced the reliance on one person, and the small errors that manual copy and paste can introduce.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I'll walk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12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My internship journey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From learning the systems to shipping automations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986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8986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Where things stood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manual starting point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844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5844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 I worked 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Three connected automations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702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impact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Time saved, with the math shown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560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9560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The hard parts and what I learned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The challenges along the way, and the growth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641848"/>
            <a:ext cx="457200" cy="457200"/>
          </a:xfrm>
          <a:prstGeom prst="ellipse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641848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A1D21"/>
                </a:solidFill>
                <a:latin typeface="Calibri"/>
              </a:rPr>
              <a:t>What's next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B6470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MY INTERNSHIP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From learning DHL's systems in week one to shipping automations that run on their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65960" y="2331720"/>
            <a:ext cx="27940" cy="356616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83664" y="236829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Learned AR, collections, START, and AMKAD processes; reviewed the existing Power BI reporting; picked up SAP extracts and the reporting workflow.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319125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06324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Built the first AR dashboard prototype and began data modeling and reporting enhancements.</a:t>
            </a:r>
          </a:p>
        </p:txBody>
      </p:sp>
      <p:sp>
        <p:nvSpPr>
          <p:cNvPr id="14" name="Oval 13"/>
          <p:cNvSpPr/>
          <p:nvPr/>
        </p:nvSpPr>
        <p:spPr>
          <a:xfrm>
            <a:off x="1883664" y="401421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8862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Developed the automated daily data pipeline, connecting Power Query, Office Scripts, Power Automate, and SharePoint.</a:t>
            </a:r>
          </a:p>
        </p:txBody>
      </p:sp>
      <p:sp>
        <p:nvSpPr>
          <p:cNvPr id="17" name="Oval 16"/>
          <p:cNvSpPr/>
          <p:nvPr/>
        </p:nvSpPr>
        <p:spPr>
          <a:xfrm>
            <a:off x="1883664" y="483717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7091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Reverse-engineered the START SOA process and designed a reusable SOA automation framework.</a:t>
            </a:r>
          </a:p>
        </p:txBody>
      </p:sp>
      <p:sp>
        <p:nvSpPr>
          <p:cNvPr id="20" name="Oval 19"/>
          <p:cNvSpPr/>
          <p:nvPr/>
        </p:nvSpPr>
        <p:spPr>
          <a:xfrm>
            <a:off x="1883664" y="5660136"/>
            <a:ext cx="237744" cy="237744"/>
          </a:xfrm>
          <a:prstGeom prst="ellipse">
            <a:avLst/>
          </a:prstGeom>
          <a:solidFill>
            <a:srgbClr val="D4051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321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Week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53212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D21"/>
                </a:solidFill>
                <a:latin typeface="Calibri"/>
              </a:rPr>
              <a:t>Deployed 5 Arrow SOAs and 1 Baker Hughes SOA, and completed documentation and handoff.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WHERE THINGS STOOD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manual processes, three sources of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AR Reporting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consolidated daily view of receivables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overdue, UAC lived across spreadsheets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No trend, drill-down, or what-if capability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Leadership lacked a single place to look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Daily Data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collector rebuilt it every business day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Copy, paste, calculate, and save a new file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Around 30 to 35 min a day, and mostly one person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Manual copy and paste can introduce small errors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Statements (SOA)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generated SOAs in START by hand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Then formatted, emailed, attached, and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Repeated weekly, per customer and country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Missed sends and delays pulled focus off collections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WORKED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Three connected automations across the AR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1 · AR Dashboard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Live HTML report of the whole book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Aging, UAC, gross sales, payments, trends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Drill-downs and what-if payment simulators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Visibility we did not have in one place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240280"/>
            <a:ext cx="3520440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240280"/>
            <a:ext cx="3520440" cy="50800"/>
          </a:xfrm>
          <a:prstGeom prst="rect">
            <a:avLst/>
          </a:prstGeom>
          <a:solidFill>
            <a:srgbClr val="A50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441448"/>
            <a:ext cx="311810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2 · Daily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Feeds the dashboard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Source file lands, data is extracted and added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New dated file built with full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Runs on its own, every business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240280"/>
            <a:ext cx="3493008" cy="3566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24028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441448"/>
            <a:ext cx="3090672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A1D21"/>
                </a:solidFill>
                <a:latin typeface="Calibri"/>
              </a:rPr>
              <a:t>3 · SOA Automation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6 weekly statements generated automatically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Emailed with attachments and stakeholders CC'd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configurable framework, not one-offs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Collectors step in only for exceptions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HOW IT FITS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path from the source systems to the dashboard and the automated statements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SAP / START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source 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494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871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SharePoint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files land here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782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Query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shapes the data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070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47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Office Script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reads &amp; writes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358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735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1A1D21"/>
                </a:solidFill>
                <a:latin typeface="Calibri"/>
              </a:rPr>
              <a:t>Power Automate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5B6470"/>
                </a:solidFill>
                <a:latin typeface="Calibri"/>
              </a:rPr>
              <a:t>runs it daily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564624" y="3396996"/>
            <a:ext cx="219456" cy="201168"/>
          </a:xfrm>
          <a:prstGeom prst="rightArrow">
            <a:avLst/>
          </a:prstGeom>
          <a:solidFill>
            <a:srgbClr val="C7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802368" y="2880360"/>
            <a:ext cx="1572768" cy="1234440"/>
          </a:xfrm>
          <a:prstGeom prst="roundRect">
            <a:avLst>
              <a:gd name="adj" fmla="val 10000"/>
            </a:avLst>
          </a:prstGeom>
          <a:solidFill>
            <a:srgbClr val="D40511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990088"/>
            <a:ext cx="1426464" cy="1014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Dashboard &amp; SOA emails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F3D6D6"/>
                </a:solidFill>
                <a:latin typeface="Calibri"/>
              </a:rPr>
              <a:t>what people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75488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5C2E"/>
                </a:solidFill>
                <a:latin typeface="Calibri"/>
              </a:rPr>
              <a:t>In plain terms: the data flows in on its own, gets shaped and checked automatically, and comes out as a live dashboard and ready-to-send statements. No one has to run it by hand.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1 · THE AR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Aging, UAC, payments, gross sales, trends, and forecasts brought into a single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Portfolio KPIs: Total AR, Overdue %, GT60 and GT90 aging, UAC, gross sales, payments.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Drill-downs both ways, from country to customer, to see what is driving each number.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Trends over time and same-month year-over-year comparison.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What-if payment simulators, at portfolio and customer level, with manual allocation across aging bands and UAC.</a:t>
            </a:r>
          </a:p>
          <a:p>
            <a:pPr algn="l">
              <a:spcAft>
                <a:spcPts val="11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Editable risk thresholds and an Action-Required list that follows the collections escalation process.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It replaced the report tab that used to be updated by hand each day, and brought AR visibility together in one place that the team did not have before.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2 · THE DAILY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manual daily file, now running on its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0511"/>
                </a:solidFill>
                <a:latin typeface="Calibri"/>
              </a:rPr>
              <a:t>Before:  around 30 to 35 min a day,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Open the emailed report and copy the data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Paste into a template and calculate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Copy specific columns into the workbook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Update the report tab, then save a new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F8A2E"/>
                </a:solidFill>
                <a:latin typeface="Calibri"/>
              </a:rPr>
              <a:t>After:  it runs on its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06040"/>
            <a:ext cx="5120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The file lands in the shared folder and the flow starts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An Office Script reads and maps today's rows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A new dated file is built, carrying full history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B6470"/>
                </a:solidFill>
                <a:latin typeface="Calibri"/>
              </a:rPr>
              <a:t>•  Today's rows are added and the dashboard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FFCC00"/>
                </a:solidFill>
                <a:latin typeface="Calibri"/>
              </a:rPr>
              <a:t>Built with  Power Query (M),  Office Scripts (TypeScript),  Power Automate,  and SharePoint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CFD4DA"/>
                </a:solidFill>
                <a:latin typeface="Calibri"/>
              </a:rPr>
              <a:t>It also protects against duplicates and handles missing or incomplete data gracefully, such as month-start EUR gaps.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PILLAR 3 · SOA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Recurring statements generated and delivered without a collector touching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Automated 6 recurring weekly Statements of Account: Arrow Electronics across 5 countries, and Baker Hughes.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Generated from START templates with the right account filters, then emailed automatically with attachments and internal stakeholders CC'd.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Built as a configurable framework, so new customers can be added by updating configuration (accounts, recipients, schedule, template) rather than rebuilding it.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D21"/>
                </a:solidFill>
                <a:latin typeface="Calibri"/>
              </a:rPr>
              <a:t>•  Designed so collectors only step in for exceptions, and can spend more of their time on collections.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12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A5040D"/>
                </a:solidFill>
                <a:latin typeface="Calibri"/>
              </a:rPr>
              <a:t>To be clear on scope: two customers are live today, six SOAs a week, on a framework built so more can be added over time. The reusable engine is the part that is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Time saved, with the math shown, kept deliberately conservative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10881360" cy="457200"/>
          </a:xfrm>
          <a:prstGeom prst="roundRect">
            <a:avLst>
              <a:gd name="adj" fmla="val 16000"/>
            </a:avLst>
          </a:prstGeom>
          <a:solidFill>
            <a:srgbClr val="ECF6EE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1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1F5C2E"/>
                </a:solidFill>
                <a:latin typeface="Calibri"/>
              </a:rPr>
              <a:t>Live today:   ✓ Dashboard in production    ✓ Daily pipeline running    ✓ 6 weekly SOAs automated    ✓ Framework ready for more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0881360" cy="50292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69748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Per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040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data file  (15 min × 5 days)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~5.4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320040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 hrs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881360" cy="502920"/>
          </a:xfrm>
          <a:prstGeom prst="rect">
            <a:avLst/>
          </a:prstGeom>
          <a:solidFill>
            <a:srgbClr val="F1EFEA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Daily report tab  (15–20 min × 5 days)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1.25–1.7 hrs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~5–7 hrs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70332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~63–83 hrs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206240"/>
            <a:ext cx="10881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D21"/>
                </a:solidFill>
                <a:latin typeface="Calibri"/>
              </a:rPr>
              <a:t>SOA automation  (6 SOAs × 30–60 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3–6 hrs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13–26 hrs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20624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A1D21"/>
                </a:solidFill>
                <a:latin typeface="Calibri"/>
              </a:rPr>
              <a:t>150–300 hrs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09160"/>
            <a:ext cx="10881360" cy="502920"/>
          </a:xfrm>
          <a:prstGeom prst="rect">
            <a:avLst/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709160"/>
            <a:ext cx="50800" cy="5029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0916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Combined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~5.5–9 hrs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~24–38 hrs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709160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~275–445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4068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50" b="1" i="0">
                <a:solidFill>
                  <a:srgbClr val="A5040D"/>
                </a:solidFill>
                <a:latin typeface="Calibri"/>
              </a:rPr>
              <a:t>That comes to roughly 7 to 11 full work-weeks of time given back to the team each year.</a:t>
            </a:r>
          </a:p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8A837B"/>
                </a:solidFill>
                <a:latin typeface="Calibri"/>
              </a:rPr>
              <a:t>The assumptions are kept conservative on purpose: 5 business days a week, SOAs at 30 to 60 minutes each, 6 a week. The figures leave out error-correction, rework, and analysis time, so the real number is likely higher.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HARD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What it took along the way, and what I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Power BI &amp; the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lot of trial and error on the model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Fragmented, inconsistent source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Had to consolidate before trusting anything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219456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2194560"/>
            <a:ext cx="3520440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9572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Hosting blocked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Azure Functions blocked by permissions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Rethought the recurring-run approach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Landed on GitHub Actions, clean and no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19456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2194560"/>
            <a:ext cx="3493008" cy="50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7" y="239572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right data pattern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Power Query replaces, it cannot append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Designed a carry-history-forward pipeline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Solved it without breaking the live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A production incident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 live query edit went wrong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Recovered cleanly via version history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Adopted a test-first, never-in-prod habit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206240"/>
            <a:ext cx="35204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34256" y="4206240"/>
            <a:ext cx="3520440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407408"/>
            <a:ext cx="3118104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Connector quirks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Many field-name and identifier mismatches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Pagination, throttling, locked-file retries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Worked each one through to a clean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4206240"/>
            <a:ext cx="3493008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4206240"/>
            <a:ext cx="3493008" cy="508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7" y="4407408"/>
            <a:ext cx="3090672" cy="1508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1A1D21"/>
                </a:solidFill>
                <a:latin typeface="Calibri"/>
              </a:rPr>
              <a:t>The takeaway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Kept going through the obstacles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Learned to de-risk before touching live data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•  Left it documented and maintainable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THE BIGGER CHALLENGE WASN'T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hardest parts were the ones around the building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Learning the business first: AR, aging, UAC, DSO, SOAs, START, and the AMKAD workflows, before automating any of it.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Understanding why collectors did each step, what the exceptions were, and what could break if I got it wrong.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Making imperfect, fragmented data reliable: different files, SAP exports, missing values, and inconsistent naming.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Building systems people actually depend on, where accuracy and uptime matter, not demo projects.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A1D21"/>
                </a:solidFill>
                <a:latin typeface="Calibri"/>
              </a:rPr>
              <a:t>•  Piecing together processes that were never fully documented, by meeting people, asking questions, and testing.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The parts that will stay with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accounts receivable connects to the wider health and performance of the business.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take a business problem and turn it into a practical automation opportunity.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work with people across finance, collections, and IT to get something built.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Why it is worth designing scalable, reusable solutions instead of one-off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How to stay calm and methodical when something breaks, and recover from it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Where I want to grow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Spend more time on design up front. Map the process and sketch the architecture before building, so there is less rebuilding later when a new requirement appears.</a:t>
            </a:r>
          </a:p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Document while I build, not at the end. As the automations grew more complex, earlier notes would have made them easier to hand off and maintain.</a:t>
            </a:r>
          </a:p>
          <a:p>
            <a:pPr algn="l">
              <a:spcAft>
                <a:spcPts val="15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Validate the workflow with users earlier and more often. Not just "can I make this work," but "is this the workflow people actually want."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A5040D"/>
                </a:solidFill>
                <a:latin typeface="Calibri"/>
              </a:rPr>
              <a:t>In short, I want to grow from building automations toward designing them: more thought up front, better documentation, and scalability from the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IT TOOK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Skills I got to build and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Automation &amp; Data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Query (M)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Office Scripts (TypeScript)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Automate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SharePoint / 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2860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505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Analysis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AR aging &amp; cash-application logic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Data consolidation &amp; modeling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Power BI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MTD / snapshot filtering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Product &amp; Front-End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HTML / CSS / JavaScript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SVG charting &amp; dashboards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UX for non-technical users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Clear documentation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34924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2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4343400"/>
            <a:ext cx="50800" cy="18288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50799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A5040D"/>
                </a:solidFill>
                <a:latin typeface="Calibri"/>
              </a:rPr>
              <a:t>Ways of Working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Reverse-engineering undocumented processes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Working from ambiguity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Production troubleshooting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D21"/>
                </a:solidFill>
                <a:latin typeface="Calibri"/>
              </a:rPr>
              <a:t>•  Following things through to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 I'M MOST PROUD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A few things that meant the most to 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Building three automation solutions that are genuinely in use, not just prototypes.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Taking real, repetitive reporting effort off the team's plate each day.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Creating reusable frameworks that can grow, rather than one-time fixes.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Leaving behind solutions that keep running after the internship ends.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Giving the team clearer visibility into AR performance and collections activity.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D40511"/>
                </a:solidFill>
                <a:latin typeface="Calibri"/>
              </a:rPr>
              <a:t>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77240"/>
            <a:ext cx="365760" cy="4064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 i="0">
                <a:solidFill>
                  <a:srgbClr val="1A1D21"/>
                </a:solidFill>
                <a:latin typeface="Calibri"/>
              </a:rPr>
              <a:t>How this can grow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10881360" cy="1778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Extend the SOA framework to more customers and countries, since the reusable engine is already in place.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Move the data layer toward a centralized database (SQL and Data Factory), which would be a stronger backbone for everything above.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Build leadership-facing Power BI dashboards on top of the same consolidated data.</a:t>
            </a:r>
          </a:p>
          <a:p>
            <a:pPr algn="l">
              <a:spcAft>
                <a:spcPts val="1300"/>
              </a:spcAft>
            </a:pPr>
            <a:r>
              <a:rPr sz="1550" b="0" i="0">
                <a:solidFill>
                  <a:srgbClr val="1A1D21"/>
                </a:solidFill>
                <a:latin typeface="Calibri"/>
              </a:rPr>
              <a:t>•  Small hardening steps, like standardizing the monthly folder names and adding alerts for missing or late source files.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AMKAD  ·  AR Reporting &amp; Collections Automation  ·  Internship Close-Out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8A837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38100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CC00"/>
                </a:solidFill>
                <a:latin typeface="Calibri"/>
              </a:rPr>
              <a:t>LOOKING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I have genuinely loved being part of this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69848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Thank you for the trust, the patience, and the chance to work on real problems that matter to the team.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learned an enormous amount here, from the AR and collections side of the business to the tools that support it.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I am proud of what we built together, and I know there is more I could contribute with more time.</a:t>
            </a:r>
          </a:p>
          <a:p>
            <a:pPr algn="l">
              <a:spcAft>
                <a:spcPts val="1500"/>
              </a:spcAft>
            </a:pPr>
            <a:r>
              <a:rPr sz="1600" b="0" i="0">
                <a:solidFill>
                  <a:srgbClr val="E7EAED"/>
                </a:solidFill>
                <a:latin typeface="Calibri"/>
              </a:rPr>
              <a:t>•  This internship confirmed my interest in finance, analytics,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32120"/>
            <a:ext cx="10698480" cy="777240"/>
          </a:xfrm>
          <a:prstGeom prst="roundRect">
            <a:avLst>
              <a:gd name="adj" fmla="val 12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14416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 am grateful for the opportunity to contribute to AMKAD, and would be excited to keep building solutions like these in the future.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A1D21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1A1D21"/>
                </a:solidFill>
                <a:latin typeface="Calibri"/>
              </a:rPr>
              <a:t>Jean Kadadihi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Finance Intern, Controlling  ·  DHL Express Americas, Key Account Desk (AMKAD)</a:t>
            </a:r>
          </a:p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A5040D"/>
                </a:solidFill>
                <a:latin typeface="Calibri"/>
              </a:rPr>
              <a:t>I would be happy to answer any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548640"/>
            <a:ext cx="1737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8A837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548640"/>
            <a:ext cx="1737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900" b="0" i="1">
                <a:solidFill>
                  <a:srgbClr val="8A837B"/>
                </a:solidFill>
                <a:latin typeface="Calibri"/>
              </a:rPr>
              <a:t>paste DHL 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