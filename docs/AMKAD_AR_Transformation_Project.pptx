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7000"/>
            <a:ext cx="12191695" cy="635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CC00"/>
                </a:solidFill>
                <a:latin typeface="Calibri"/>
              </a:rPr>
              <a:t>DHL EXPRESS · AMKAD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AR Reporting Transformation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8C8C8"/>
                </a:solidFill>
                <a:latin typeface="Calibri"/>
              </a:rPr>
              <a:t>Internship Close-Out  ·  Jean Kadadihi  ·  DHL Express AMKAD Finance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709160"/>
            <a:ext cx="2011680" cy="3175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49840" y="502920"/>
            <a:ext cx="1554480" cy="91440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i="1">
                <a:solidFill>
                  <a:srgbClr val="999999"/>
                </a:solidFill>
                <a:latin typeface="Calibri"/>
              </a:rPr>
              <a:t>Paste DHL logo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The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B6470"/>
                </a:solidFill>
                <a:latin typeface="Calibri"/>
              </a:rPr>
              <a:t>Move AMKAD AR reporting away from manual Excel processes toward a centralized, automated reporting ecosystem.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•  Historical SAP data collection &amp; standardization across countries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•  Centralized AR database strategy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•  Power BI executive dashboards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•  Automated HTML executive reports (Office Scripts + Power Automate)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•  Power Query ingestion automation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•  Future SQL / Data Factory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B6470"/>
                </a:solidFill>
                <a:latin typeface="Calibri"/>
              </a:rPr>
              <a:t>“Leading the technical side of an AMKAD AR reporting transformation — functioning as a Finance Analytics &amp; Automation Developer rather than a typical intern.”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Five Phases of the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084831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2432304"/>
            <a:ext cx="365760" cy="36576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07792"/>
            <a:ext cx="1755647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SAP Data Collection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Historical AR extracts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Open items data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Country standardization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5" y="2286000"/>
            <a:ext cx="2084831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35807" y="2432304"/>
            <a:ext cx="365760" cy="36576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7" y="2907792"/>
            <a:ext cx="1755647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Centralized Database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Shared AR database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Cross-country reporting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Eliminate manual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0" y="2286000"/>
            <a:ext cx="2084831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66942" y="2432304"/>
            <a:ext cx="365760" cy="36576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2" y="2907792"/>
            <a:ext cx="1755647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Power BI Development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Executive KPIs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Customer &amp; aging views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Replace monthly Excel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5" y="2286000"/>
            <a:ext cx="2084831" cy="3291840"/>
          </a:xfrm>
          <a:prstGeom prst="roundRect">
            <a:avLst>
              <a:gd name="adj" fmla="val 8000"/>
            </a:avLst>
          </a:prstGeom>
          <a:solidFill>
            <a:srgbClr val="1A1D21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77" y="2432304"/>
            <a:ext cx="365760" cy="36576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7" y="2907792"/>
            <a:ext cx="1755647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HTML Dashboard Automation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C8C8C8"/>
                </a:solidFill>
                <a:latin typeface="Calibri"/>
              </a:rPr>
              <a:t>Office Scripts + Power
Automate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C8C8C8"/>
                </a:solidFill>
                <a:latin typeface="Calibri"/>
              </a:rPr>
              <a:t>Fully automated pipeline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C8C8C8"/>
                </a:solidFill>
                <a:latin typeface="Calibri"/>
              </a:rPr>
              <a:t>Deepest technical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64620" y="2286000"/>
            <a:ext cx="2084831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9212" y="2432304"/>
            <a:ext cx="365760" cy="365760"/>
          </a:xfrm>
          <a:prstGeom prst="ellipse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9212" y="2907792"/>
            <a:ext cx="1755647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A1D21"/>
                </a:solidFill>
                <a:latin typeface="Calibri"/>
              </a:rPr>
              <a:t>SQL / Data Factory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Data Factory access
granted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Centralized SQL layer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5B6470"/>
                </a:solidFill>
                <a:latin typeface="Calibri"/>
              </a:rPr>
              <a:t>Future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PHASE 1 &amp;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Foundations: SAP Data &amp; Database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3035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D40511"/>
                </a:solidFill>
                <a:latin typeface="Calibri"/>
              </a:rPr>
              <a:t>Phase 1 — Historical SAP Data Collection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•  Downloaded historical AR extracts &amp; open items data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•  Worked through SAP variants across countries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•  Standardized country-level reporting formats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•  Collaborated with Jose Pablo Cuevas, Sandra Garcia,
Javier Leiva &amp; country teams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•  Built the historical dataset underpinning all
later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48840"/>
            <a:ext cx="52578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D40511"/>
                </a:solidFill>
                <a:latin typeface="Calibri"/>
              </a:rPr>
              <a:t>Phase 2 — Centralized AR Database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•  Strategy to upload AR files into a shared database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•  Goal: centralized reporting across all countries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•  Eliminate repetitive manual Excel processing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•  Recurring governance meetings with Sandra
(“Data Base &amp; PBIs AMKAD”)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1"/>
                </a:solidFill>
                <a:latin typeface="Calibri"/>
              </a:rPr>
              <a:t>•  Foundation for the SQL / Data Factory phase
that followed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PHASE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Power BI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B6470"/>
                </a:solidFill>
                <a:latin typeface="Calibri"/>
              </a:rPr>
              <a:t>A documented implementation plan, aimed at replacing the existing monthly Excel report.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A1D21"/>
                </a:solidFill>
                <a:latin typeface="Calibri"/>
              </a:rPr>
              <a:t>•  Executive Dashboard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Total AR, Overdue %, GT60 %, GT90 %</a:t>
            </a:r>
          </a:p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A1D21"/>
                </a:solidFill>
                <a:latin typeface="Calibri"/>
              </a:rPr>
              <a:t>•  Customer View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Customer-level AR performance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Top risk customers</a:t>
            </a:r>
          </a:p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A1D21"/>
                </a:solidFill>
                <a:latin typeface="Calibri"/>
              </a:rPr>
              <a:t>•  Aging Analysis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Aging buckets &amp; distribution analytics</a:t>
            </a:r>
          </a:p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A1D21"/>
                </a:solidFill>
                <a:latin typeface="Calibri"/>
              </a:rPr>
              <a:t>•  Future Enhancements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Database connectivity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Sales integration &amp; DSO calculations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Leadership-ready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PHASE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HTML Dashboard Automation — 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B6470"/>
                </a:solidFill>
                <a:latin typeface="Calibri"/>
              </a:rPr>
              <a:t>The most technically complex piece of the project: a fully automated, self-refreshing reporting chain.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8551" y="2743200"/>
            <a:ext cx="162763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711" y="2871216"/>
            <a:ext cx="135331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D40511"/>
                </a:solidFill>
                <a:latin typeface="Calibri"/>
              </a:rPr>
              <a:t>SOURCE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Daily Excel File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Uploaded to SharePoint each day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81047" y="3410712"/>
            <a:ext cx="256032" cy="219456"/>
          </a:xfrm>
          <a:prstGeom prst="rightArrow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91943" y="2743200"/>
            <a:ext cx="162763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9103" y="2871216"/>
            <a:ext cx="135331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D40511"/>
                </a:solidFill>
                <a:latin typeface="Calibri"/>
              </a:rPr>
              <a:t>LOAD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Power Query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Always finds the latest file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74439" y="3410712"/>
            <a:ext cx="256032" cy="219456"/>
          </a:xfrm>
          <a:prstGeom prst="rightArrow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5335" y="2743200"/>
            <a:ext cx="162763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2495" y="2871216"/>
            <a:ext cx="135331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D40511"/>
                </a:solidFill>
                <a:latin typeface="Calibri"/>
              </a:rPr>
              <a:t>CALCULATE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Office Script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MTD calculations, KPIs, tables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7831" y="3410712"/>
            <a:ext cx="256032" cy="219456"/>
          </a:xfrm>
          <a:prstGeom prst="rightArrow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8727" y="2743200"/>
            <a:ext cx="162763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2871216"/>
            <a:ext cx="135331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D40511"/>
                </a:solidFill>
                <a:latin typeface="Calibri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JSON Result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Structured data for the flow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61223" y="3410712"/>
            <a:ext cx="256032" cy="219456"/>
          </a:xfrm>
          <a:prstGeom prst="rightArrow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2119" y="2743200"/>
            <a:ext cx="162763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9279" y="2871216"/>
            <a:ext cx="135331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D40511"/>
                </a:solidFill>
                <a:latin typeface="Calibri"/>
              </a:rPr>
              <a:t>ASSEMBLE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Power Automate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Injects data into the template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954615" y="3410712"/>
            <a:ext cx="256032" cy="219456"/>
          </a:xfrm>
          <a:prstGeom prst="rightArrow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65511" y="2743200"/>
            <a:ext cx="162763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02671" y="2871216"/>
            <a:ext cx="135331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D40511"/>
                </a:solidFill>
                <a:latin typeface="Calibri"/>
              </a:rPr>
              <a:t>DELIVER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HTML Dashboard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Emailed automatically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5B6470"/>
                </a:solidFill>
                <a:latin typeface="Calibri"/>
              </a:rPr>
              <a:t>Runs on a schedule with no manual intervention — already distributing “Weekly Automated Report” emails in production.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SIGNATURE TECHNICAL 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Solving the “Monthly Snapshot”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B6470"/>
                </a:solidFill>
                <a:latin typeface="Calibri"/>
              </a:rPr>
              <a:t>The single most important concept in the reporting logic.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6126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1D21"/>
                </a:solidFill>
                <a:latin typeface="Calibri"/>
              </a:rPr>
              <a:t>The problem:</a:t>
            </a:r>
          </a:p>
          <a:p>
            <a:pPr algn="l">
              <a:spcAft>
                <a:spcPts val="14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The AR source file contains multiple historical months and multiple daily snapshots per month, stretching back to 2024. Summing every row for a month meant a month's figures were counted 20+ times over.</a:t>
            </a:r>
          </a:p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A1D21"/>
                </a:solidFill>
                <a:latin typeface="Calibri"/>
              </a:rPr>
              <a:t>The fix:</a:t>
            </a:r>
          </a:p>
          <a:p>
            <a:pPr algn="l">
              <a:spcAft>
                <a:spcPts val="14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Keep only the latest valid snapshot for each month — a two-pass algorithm that detects the true point-in-time extract and discards every earlier daily copy.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D21"/>
                </a:solidFill>
                <a:latin typeface="Calibri"/>
              </a:rPr>
              <a:t>Result: a Month-to-Date view that finance can actually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148840"/>
            <a:ext cx="448056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331720"/>
            <a:ext cx="40233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D40511"/>
                </a:solidFill>
                <a:latin typeface="Calibri"/>
              </a:rPr>
              <a:t>REAL IMPACT — BEFORE vs. AFTER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June figures, before fix: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F2E2E"/>
                </a:solidFill>
                <a:latin typeface="Calibri"/>
              </a:rPr>
              <a:t>€924,030,792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June figures, after fix: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0F8A2E"/>
                </a:solidFill>
                <a:latin typeface="Calibri"/>
              </a:rPr>
              <a:t>€45,423,420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~20× overstatement, caught and corrected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THE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Executive Overview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B6470"/>
                </a:solidFill>
                <a:latin typeface="Calibri"/>
              </a:rPr>
              <a:t>Auto-generated narrative briefing, live KPIs, and a data-quality confidence banner.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69971" y="2110740"/>
            <a:ext cx="4851753" cy="4236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071" y="2148840"/>
            <a:ext cx="4775553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7395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8A837B"/>
                </a:solidFill>
                <a:latin typeface="Calibri"/>
              </a:rPr>
              <a:t>Live render of the deployed HTML report, current AMKAD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THE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Portfolio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B6470"/>
                </a:solidFill>
                <a:latin typeface="Calibri"/>
              </a:rPr>
              <a:t>AR concentration (Pareto/HHI) and a customer risk map — insights nobody had visibility into before.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69971" y="2110740"/>
            <a:ext cx="4851753" cy="4236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071" y="2148840"/>
            <a:ext cx="4775553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7395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8A837B"/>
                </a:solidFill>
                <a:latin typeface="Calibri"/>
              </a:rPr>
              <a:t>Live render of the deployed HTML report, current AMKAD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THE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Biggest Movers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B6470"/>
                </a:solidFill>
                <a:latin typeface="Calibri"/>
              </a:rPr>
              <a:t>Automatically ranks the customers most improved and most deteriorated, month over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69971" y="2110740"/>
            <a:ext cx="4851753" cy="4236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-mo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071" y="2148840"/>
            <a:ext cx="4775553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7395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8A837B"/>
                </a:solidFill>
                <a:latin typeface="Calibri"/>
              </a:rPr>
              <a:t>Live render of the deployed HTML report, current AMKAD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THE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Trend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B6470"/>
                </a:solidFill>
                <a:latin typeface="Calibri"/>
              </a:rPr>
              <a:t>Interactive, hover-enabled trend charts across 2+ years of point-in-time snapshots.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69231" y="2110740"/>
            <a:ext cx="4853233" cy="4236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x-trends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331" y="2148840"/>
            <a:ext cx="4777033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7395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8A837B"/>
                </a:solidFill>
                <a:latin typeface="Calibri"/>
              </a:rPr>
              <a:t>Live render of the deployed HTML report, current AMKAD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Data Trust &amp;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B6470"/>
                </a:solidFill>
                <a:latin typeface="Calibri"/>
              </a:rPr>
              <a:t>A dashboard is only as good as the numbers behind it — built to fail loudly, never silently.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•  Confidence banner</a:t>
            </a:r>
          </a:p>
          <a:p>
            <a:pPr lvl="1">
              <a:spcAft>
                <a:spcPts val="10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Every report surfaces rows used vs. skipped, and any structural anomalies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•  Snapshot audit trail</a:t>
            </a:r>
          </a:p>
          <a:p>
            <a:pPr lvl="1">
              <a:spcAft>
                <a:spcPts val="10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Shows exactly which date was chosen for every month, fully auditable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•  Automated refresh reliability</a:t>
            </a:r>
          </a:p>
          <a:p>
            <a:pPr lvl="1">
              <a:spcAft>
                <a:spcPts val="10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A dedicated trigger flow guarantees the source file refreshes before the report runs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D21"/>
                </a:solidFill>
                <a:latin typeface="Calibri"/>
              </a:rPr>
              <a:t>•  Freshness safeguards</a:t>
            </a:r>
          </a:p>
          <a:p>
            <a:pPr lvl="1">
              <a:spcAft>
                <a:spcPts val="10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Designed to fail visibly rather than silently ship stale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PHASE 5 — LOOKING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SQL &amp; Data Factory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•  Requested and received Data Factory access under Finance O2C reporting functions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•  Reviewed SQL environments and centralization strategies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•  Groundwork laid for moving from file-based automation to a true data platform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1A1D21"/>
                </a:solidFill>
                <a:latin typeface="Calibri"/>
              </a:rPr>
              <a:t>•  Positions the next phase of this project for scale across AMKAD and beyond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MILESTONE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Houston Working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3154680" cy="3602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 i="0">
                <a:solidFill>
                  <a:srgbClr val="D40511"/>
                </a:solidFill>
                <a:latin typeface="Calibri"/>
              </a:rPr>
              <a:t>Power BI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A1D21"/>
                </a:solidFill>
                <a:latin typeface="Calibri"/>
              </a:rPr>
              <a:t>•  Validated May numbers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A1D21"/>
                </a:solidFill>
                <a:latin typeface="Calibri"/>
              </a:rPr>
              <a:t>•  Reviewed charts &amp; graphs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A1D21"/>
                </a:solidFill>
                <a:latin typeface="Calibri"/>
              </a:rPr>
              <a:t>•  Gross Sales review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A1D21"/>
                </a:solidFill>
                <a:latin typeface="Calibri"/>
              </a:rPr>
              <a:t>•  DSO logic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219456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2359152"/>
            <a:ext cx="3154680" cy="3602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 i="0">
                <a:solidFill>
                  <a:srgbClr val="D40511"/>
                </a:solidFill>
                <a:latin typeface="Calibri"/>
              </a:rPr>
              <a:t>SAP &amp; Reporting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A1D21"/>
                </a:solidFill>
                <a:latin typeface="Calibri"/>
              </a:rPr>
              <a:t>•  SAP download process improvements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A1D21"/>
                </a:solidFill>
                <a:latin typeface="Calibri"/>
              </a:rPr>
              <a:t>•  HTML automation development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A1D21"/>
                </a:solidFill>
                <a:latin typeface="Calibri"/>
              </a:rPr>
              <a:t>•  Forecasting work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A1D21"/>
                </a:solidFill>
                <a:latin typeface="Calibri"/>
              </a:rPr>
              <a:t>•  SQL environment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219456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2359152"/>
            <a:ext cx="3154680" cy="3602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 i="0">
                <a:solidFill>
                  <a:srgbClr val="D40511"/>
                </a:solidFill>
                <a:latin typeface="Calibri"/>
              </a:rPr>
              <a:t>Process Exposure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A1D21"/>
                </a:solidFill>
                <a:latin typeface="Calibri"/>
              </a:rPr>
              <a:t>•  Collections process exposure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A1D21"/>
                </a:solidFill>
                <a:latin typeface="Calibri"/>
              </a:rPr>
              <a:t>•  AMKAD overview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A1D21"/>
                </a:solidFill>
                <a:latin typeface="Calibri"/>
              </a:rPr>
              <a:t>•  Mexico SPR presentation observed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IN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Live Automation &amp; Operational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A1D21"/>
                </a:solidFill>
                <a:latin typeface="Calibri"/>
              </a:rPr>
              <a:t>•  Weekly Automated Reports</a:t>
            </a:r>
          </a:p>
          <a:p>
            <a:pPr lvl="1">
              <a:spcAft>
                <a:spcPts val="12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Already distributing production reports on a recurring schedule — development has moved to real usage</a:t>
            </a:r>
          </a:p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A1D21"/>
                </a:solidFill>
                <a:latin typeface="Calibri"/>
              </a:rPr>
              <a:t>•  Statement of Account (SOA) shadowing</a:t>
            </a:r>
          </a:p>
          <a:p>
            <a:pPr lvl="1">
              <a:spcAft>
                <a:spcPts val="12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Shadowed Taralynn Haag on SOA workflows, invoice reconciliation, and Power BI usage in customer account reviews</a:t>
            </a:r>
          </a:p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A1D21"/>
                </a:solidFill>
                <a:latin typeface="Calibri"/>
              </a:rPr>
              <a:t>•  Recurring governance</a:t>
            </a:r>
          </a:p>
          <a:p>
            <a:pPr lvl="1">
              <a:spcAft>
                <a:spcPts val="12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Regular Power BI plan review sessions with Sandra kept the project aligned with business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HONEST 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Challenges Faced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•  Diagnosing the multi-snapshot inflation bug — required building a diagnostic audit, not just guessing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•  A month showing zero data (April) — traced to source-level gaps, not the automation itself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•  Platform limits: Office Scripts cannot trigger a Power Query refresh — required a workaround flow design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•  Power Automate silently stripping HTML on save — learned to always redeploy the full file, never a fragment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•  Getting data-refresh timing right with no native “wait until ready” mechanism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A1D21"/>
                </a:solidFill>
                <a:latin typeface="Calibri"/>
              </a:rPr>
              <a:t>•  Standardizing AR business logic (Total AR, Overdue, GT60/90, DSO/TDSO) consistently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Value Added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54203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50800" cy="155448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32304"/>
            <a:ext cx="2176272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A1D21"/>
                </a:solidFill>
                <a:latin typeface="Calibri"/>
              </a:rPr>
              <a:t>~20×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Reporting distortion found and corrected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2286000"/>
            <a:ext cx="254203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2286000"/>
            <a:ext cx="50800" cy="1554480"/>
          </a:xfrm>
          <a:prstGeom prst="rect">
            <a:avLst/>
          </a:prstGeom>
          <a:solidFill>
            <a:srgbClr val="0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432304"/>
            <a:ext cx="2176272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A1D21"/>
                </a:solidFill>
                <a:latin typeface="Calibri"/>
              </a:rPr>
              <a:t>100%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Manual monthly Excel process automated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2286000"/>
            <a:ext cx="254203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9904" y="2286000"/>
            <a:ext cx="50800" cy="155448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432304"/>
            <a:ext cx="2176272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A1D21"/>
                </a:solidFill>
                <a:latin typeface="Calibri"/>
              </a:rPr>
              <a:t>2+ yrs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Historical AR data standardized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4816" y="2286000"/>
            <a:ext cx="2542032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14816" y="2286000"/>
            <a:ext cx="50800" cy="1554480"/>
          </a:xfrm>
          <a:prstGeom prst="rect">
            <a:avLst/>
          </a:prstGeom>
          <a:solidFill>
            <a:srgbClr val="0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5984" y="2432304"/>
            <a:ext cx="2176272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A1D21"/>
                </a:solidFill>
                <a:latin typeface="Calibri"/>
              </a:rPr>
              <a:t>Live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Weekly automated reports 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50" b="0" i="0">
                <a:solidFill>
                  <a:srgbClr val="1A1D21"/>
                </a:solidFill>
                <a:latin typeface="Calibri"/>
              </a:rPr>
              <a:t>•  Surfaced a real concentration risk invisible before: top customer ≈ 62% of AR, HHI ≈ 3,990</a:t>
            </a:r>
          </a:p>
          <a:p>
            <a:pPr algn="l">
              <a:spcAft>
                <a:spcPts val="1200"/>
              </a:spcAft>
            </a:pPr>
            <a:r>
              <a:rPr sz="1450" b="0" i="0">
                <a:solidFill>
                  <a:srgbClr val="1A1D21"/>
                </a:solidFill>
                <a:latin typeface="Calibri"/>
              </a:rPr>
              <a:t>•  Replaced a fully manual monthly reporting cycle with a self-refreshing automated pipeline</a:t>
            </a:r>
          </a:p>
          <a:p>
            <a:pPr algn="l">
              <a:spcAft>
                <a:spcPts val="1200"/>
              </a:spcAft>
            </a:pPr>
            <a:r>
              <a:rPr sz="1450" b="0" i="0">
                <a:solidFill>
                  <a:srgbClr val="1A1D21"/>
                </a:solidFill>
                <a:latin typeface="Calibri"/>
              </a:rPr>
              <a:t>•  Unlocked the path to SQL / Data Factory centralization for the next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40511"/>
                </a:solidFill>
                <a:latin typeface="Calibri"/>
              </a:rPr>
              <a:t>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365760" cy="4064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Calibri"/>
              </a:rPr>
              <a:t>What I'm Leaving Behind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7780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A1D21"/>
                </a:solidFill>
                <a:latin typeface="Calibri"/>
              </a:rPr>
              <a:t>•  Maintenance guide, in three formats</a:t>
            </a:r>
          </a:p>
          <a:p>
            <a:pPr lvl="1">
              <a:spcAft>
                <a:spcPts val="9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Markdown (versioned in the repo), Word document, and a shareable web page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A1D21"/>
                </a:solidFill>
                <a:latin typeface="Calibri"/>
              </a:rPr>
              <a:t>•  A documented Power BI implementation plan</a:t>
            </a:r>
          </a:p>
          <a:p>
            <a:pPr lvl="1">
              <a:spcAft>
                <a:spcPts val="9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KPIs, customer view, aging analysis, and a future-enhancements roadmap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A1D21"/>
                </a:solidFill>
                <a:latin typeface="Calibri"/>
              </a:rPr>
              <a:t>•  A standardized historical SAP dataset</a:t>
            </a:r>
          </a:p>
          <a:p>
            <a:pPr lvl="1">
              <a:spcAft>
                <a:spcPts val="9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The foundation for all reporting going forward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A1D21"/>
                </a:solidFill>
                <a:latin typeface="Calibri"/>
              </a:rPr>
              <a:t>•  A running, self-refreshing automation</a:t>
            </a:r>
          </a:p>
          <a:p>
            <a:pPr lvl="1">
              <a:spcAft>
                <a:spcPts val="9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Already in production, distributing weekly reports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A1D21"/>
                </a:solidFill>
                <a:latin typeface="Calibri"/>
              </a:rPr>
              <a:t>•  Data Factory access under Finance O2C</a:t>
            </a:r>
          </a:p>
          <a:p>
            <a:pPr lvl="1">
              <a:spcAft>
                <a:spcPts val="900"/>
              </a:spcAft>
            </a:pPr>
            <a:r>
              <a:rPr sz="1250">
                <a:solidFill>
                  <a:srgbClr val="5B6470"/>
                </a:solidFill>
                <a:latin typeface="Calibri"/>
              </a:rPr>
              <a:t>–  A clear on-ramp to full SQL integration for my successor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AMKAD AR Reporting Transformation  ·  Internship Close-Out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A837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7000"/>
            <a:ext cx="12191695" cy="6350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9875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0" i="0">
                <a:solidFill>
                  <a:srgbClr val="D8D8D8"/>
                </a:solidFill>
                <a:latin typeface="Calibri"/>
              </a:rPr>
              <a:t>This internship took me from reading SAP extracts to designing a self-refreshing automated reporting platform — and taught me to build things that are still trustworthy after I'm gone.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CC0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502920"/>
            <a:ext cx="1554480" cy="91440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i="1">
                <a:solidFill>
                  <a:srgbClr val="999999"/>
                </a:solidFill>
                <a:latin typeface="Calibri"/>
              </a:rPr>
              <a:t>Paste DHL logo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