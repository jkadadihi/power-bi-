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225" r:id="rId4"/>
    <p:sldMasterId id="2147484906" r:id="rId5"/>
  </p:sldMasterIdLst>
  <p:notesMasterIdLst>
    <p:notesMasterId r:id="rId31"/>
  </p:notesMasterIdLst>
  <p:handoutMasterIdLst>
    <p:handoutMasterId r:id="rId32"/>
  </p:handoutMasterIdLst>
  <p:sldIdLst>
    <p:sldId id="765" r:id="rId6"/>
    <p:sldId id="924" r:id="rId7"/>
    <p:sldId id="787" r:id="rId8"/>
    <p:sldId id="930" r:id="rId9"/>
    <p:sldId id="935" r:id="rId10"/>
    <p:sldId id="1164" r:id="rId40"/>
    <p:sldId id="1165" r:id="rId41"/>
    <p:sldId id="1166" r:id="rId42"/>
    <p:sldId id="1167" r:id="rId43"/>
    <p:sldId id="1168" r:id="rId44"/>
    <p:sldId id="1169" r:id="rId45"/>
    <p:sldId id="938" r:id="rId29"/>
    <p:sldId id="909" r:id="rId30"/>
  </p:sldIdLst>
  <p:sldSz cx="12192000" cy="6858000"/>
  <p:notesSz cx="6807200" cy="9906000"/>
  <p:custDataLst>
    <p:tags r:id="rId3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elly" initials="KW" lastIdx="1" clrIdx="0"/>
  <p:cmAuthor id="1" name="Damaris Flores (DHL US)" initials="DF(U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66FF"/>
    <a:srgbClr val="00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F9E353-963E-4E73-B057-8FAE3A8AD6C1}" v="4" dt="2026-06-22T22:37:43.885"/>
    <p1510:client id="{274DF9EF-0718-4527-8833-9EFF881F769F}" v="292" dt="2026-06-23T14:55:45.196"/>
    <p1510:client id="{8E77936C-0D04-4F06-9B3F-BFC0D6E86C53}" v="23" dt="2026-06-23T03:07:14.106"/>
    <p1510:client id="{A9CAAA3E-7BB0-49FA-A9FF-A0AAB0404B29}" v="3" dt="2026-06-22T18:51:40.800"/>
    <p1510:client id="{C13D7860-C25A-4C6B-85D0-F11FEA41F231}" v="438" dt="2026-06-22T18:53:31.711"/>
    <p1510:client id="{E71E1F8E-2B53-4263-A7D3-06885A0ABF0F}" v="57" dt="2026-06-23T15:04:21.1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82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5/10/relationships/revisionInfo" Target="revisionInfo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41F313-9B20-46E2-BFEC-26BFC6F39545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08981"/>
            <a:ext cx="2949787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5838" y="9408981"/>
            <a:ext cx="2949787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9A6B69-8433-42CE-825B-83D8A8B3B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59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5133E8-2031-4A61-A7B0-013587DFACCD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1600" y="742950"/>
            <a:ext cx="6604000" cy="3714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720" y="4705350"/>
            <a:ext cx="5445760" cy="44577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08981"/>
            <a:ext cx="2949787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5838" y="9408981"/>
            <a:ext cx="2949787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DE8BAF-408A-475F-94EA-A5F6E6BD1E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111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4.emf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4.emf"/><Relationship Id="rId5" Type="http://schemas.openxmlformats.org/officeDocument/2006/relationships/image" Target="../media/image12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20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0.emf"/><Relationship Id="rId5" Type="http://schemas.openxmlformats.org/officeDocument/2006/relationships/image" Target="../media/image23.png"/><Relationship Id="rId6" Type="http://schemas.openxmlformats.org/officeDocument/2006/relationships/image" Target="../media/image24.w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20.emf"/><Relationship Id="rId5" Type="http://schemas.openxmlformats.org/officeDocument/2006/relationships/image" Target="../media/image2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6" descr="C:\Users\mauyeung\Desktop\2016 Townhall (Ken Lee)\Image Library\Cover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36" y="4405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itle 36"/>
          <p:cNvSpPr>
            <a:spLocks noGrp="1"/>
          </p:cNvSpPr>
          <p:nvPr>
            <p:ph type="title" hasCustomPrompt="1"/>
          </p:nvPr>
        </p:nvSpPr>
        <p:spPr bwMode="invGray">
          <a:xfrm>
            <a:off x="554636" y="2568375"/>
            <a:ext cx="11088000" cy="1548000"/>
          </a:xfrm>
          <a:prstGeom prst="rect">
            <a:avLst/>
          </a:prstGeom>
        </p:spPr>
        <p:txBody>
          <a:bodyPr wrap="square" lIns="0" tIns="0" rIns="0" bIns="0" anchor="b" anchorCtr="0"/>
          <a:lstStyle>
            <a:lvl1pPr>
              <a:lnSpc>
                <a:spcPct val="90000"/>
              </a:lnSpc>
              <a:defRPr sz="4200" cap="all" baseline="0">
                <a:solidFill>
                  <a:srgbClr val="D40511"/>
                </a:solidFill>
                <a:latin typeface="DeutschePost-MedCn" panose="020B0500000000000000" pitchFamily="34" charset="0"/>
              </a:defRPr>
            </a:lvl1pPr>
          </a:lstStyle>
          <a:p>
            <a:r>
              <a:rPr lang="en-US"/>
              <a:t>SAMPLE TITLE ONE OR</a:t>
            </a:r>
            <a:br>
              <a:rPr lang="en-US"/>
            </a:br>
            <a:r>
              <a:rPr lang="en-US"/>
              <a:t>TWO LINES, Arial, 42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57" name="meta-project"/>
          <p:cNvSpPr>
            <a:spLocks noGrp="1"/>
          </p:cNvSpPr>
          <p:nvPr>
            <p:ph type="body" sz="quarter" idx="3" hasCustomPrompt="1"/>
          </p:nvPr>
        </p:nvSpPr>
        <p:spPr>
          <a:xfrm>
            <a:off x="558799" y="4119526"/>
            <a:ext cx="11083836" cy="637849"/>
          </a:xfr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144000" rIns="0" bIns="0" numCol="1" rtlCol="0" anchor="t" anchorCtr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lnSpc>
                <a:spcPct val="100000"/>
              </a:lnSpc>
              <a:spcAft>
                <a:spcPts val="0"/>
              </a:spcAft>
              <a:defRPr lang="en-US" sz="1600" b="0" kern="1200" dirty="0" smtClean="0">
                <a:solidFill>
                  <a:srgbClr val="000000"/>
                </a:solidFill>
                <a:latin typeface="DeutschePost-MedCn" panose="020B0500000000000000" pitchFamily="34" charset="0"/>
                <a:ea typeface="+mn-ea"/>
                <a:cs typeface="+mn-cs"/>
              </a:defRPr>
            </a:lvl1pPr>
            <a:lvl2pPr>
              <a:spcAft>
                <a:spcPts val="1600"/>
              </a:spcAft>
              <a:defRPr sz="2000" b="0" baseline="0"/>
            </a:lvl2pPr>
          </a:lstStyle>
          <a:p>
            <a:r>
              <a:rPr lang="en-US"/>
              <a:t>Name of the event or project or presenter, Arial, 12 </a:t>
            </a:r>
            <a:r>
              <a:rPr lang="en-US" err="1"/>
              <a:t>pt</a:t>
            </a:r>
            <a:br>
              <a:rPr lang="en-US"/>
            </a:br>
            <a:r>
              <a:rPr lang="en-US"/>
              <a:t>Location, ## Month ####</a:t>
            </a:r>
          </a:p>
        </p:txBody>
      </p:sp>
      <p:sp>
        <p:nvSpPr>
          <p:cNvPr id="59" name="Rechteck 9"/>
          <p:cNvSpPr>
            <a:spLocks noChangeArrowheads="1"/>
          </p:cNvSpPr>
          <p:nvPr userDrawn="1"/>
        </p:nvSpPr>
        <p:spPr bwMode="auto">
          <a:xfrm>
            <a:off x="1003300" y="6176963"/>
            <a:ext cx="8424333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b"/>
          <a:lstStyle/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de-DE" sz="10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60" name="Rectangle 59"/>
          <p:cNvSpPr/>
          <p:nvPr userDrawn="1"/>
        </p:nvSpPr>
        <p:spPr bwMode="auto">
          <a:xfrm>
            <a:off x="508000" y="5857876"/>
            <a:ext cx="11531600" cy="702245"/>
          </a:xfrm>
          <a:prstGeom prst="rect">
            <a:avLst/>
          </a:prstGeom>
          <a:gradFill flip="none" rotWithShape="1">
            <a:gsLst>
              <a:gs pos="0">
                <a:srgbClr val="FFCC00"/>
              </a:gs>
              <a:gs pos="100000">
                <a:schemeClr val="accent3"/>
              </a:gs>
              <a:gs pos="7000">
                <a:schemeClr val="bg1"/>
              </a:gs>
              <a:gs pos="52000">
                <a:schemeClr val="accent3">
                  <a:alpha val="90000"/>
                </a:schemeClr>
              </a:gs>
              <a:gs pos="74000">
                <a:schemeClr val="accent3"/>
              </a:gs>
            </a:gsLst>
            <a:lin ang="0" scaled="1"/>
            <a:tileRect/>
          </a:gradFill>
        </p:spPr>
        <p:txBody>
          <a:bodyPr vert="horz" lIns="0" tIns="0" rIns="0" bIns="0" rtlCol="0" anchor="b" anchorCtr="0">
            <a:noAutofit/>
          </a:bodyPr>
          <a:lstStyle/>
          <a:p>
            <a:pPr marR="0" lvl="0" indent="0" fontAlgn="auto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 pitchFamily="34" charset="0"/>
              <a:buNone/>
              <a:tabLst/>
            </a:pPr>
            <a:endParaRPr kumimoji="0" lang="en-US" sz="100" b="0" i="0" u="none" strike="noStrike" cap="none" spc="0" normalizeH="0" baseline="0" noProof="0">
              <a:ln>
                <a:noFill/>
              </a:ln>
              <a:solidFill>
                <a:schemeClr val="accent3"/>
              </a:solidFill>
              <a:effectLst/>
              <a:uLnTx/>
              <a:uFillTx/>
            </a:endParaRPr>
          </a:p>
        </p:txBody>
      </p:sp>
      <p:pic>
        <p:nvPicPr>
          <p:cNvPr id="61" name="Picture 2" descr="C:\Users\mauyeung\Desktop\Focus2020.png"/>
          <p:cNvPicPr>
            <a:picLocks noChangeAspect="1" noChangeArrowheads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33847" y="6006220"/>
            <a:ext cx="2374900" cy="610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2" name="Text Placeholder 27"/>
          <p:cNvSpPr>
            <a:spLocks noGrp="1" noChangeAspect="1"/>
          </p:cNvSpPr>
          <p:nvPr>
            <p:ph type="body" sz="quarter" idx="6" hasCustomPrompt="1"/>
          </p:nvPr>
        </p:nvSpPr>
        <p:spPr bwMode="gray">
          <a:xfrm>
            <a:off x="8953501" y="6096000"/>
            <a:ext cx="2705100" cy="295970"/>
          </a:xfrm>
          <a:prstGeom prst="rect">
            <a:avLst/>
          </a:prstGeo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none" lIns="0" tIns="0" rIns="0" bIns="0" anchor="t" anchorCtr="0"/>
          <a:lstStyle>
            <a:lvl1pPr>
              <a:defRPr sz="10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grpSp>
        <p:nvGrpSpPr>
          <p:cNvPr id="63" name="Group 62"/>
          <p:cNvGrpSpPr/>
          <p:nvPr userDrawn="1"/>
        </p:nvGrpSpPr>
        <p:grpSpPr>
          <a:xfrm>
            <a:off x="192087" y="5619750"/>
            <a:ext cx="3545908" cy="1181100"/>
            <a:chOff x="333460" y="5435360"/>
            <a:chExt cx="3576089" cy="1353898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pic>
          <p:nvPicPr>
            <p:cNvPr id="64" name="Picture 5" descr="C:\Users\mauyeung\Desktop\GQ.png"/>
            <p:cNvPicPr>
              <a:picLocks noChangeAspect="1" noChangeArrowheads="1"/>
            </p:cNvPicPr>
            <p:nvPr/>
          </p:nvPicPr>
          <p:blipFill rotWithShape="1"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333460" y="5435360"/>
              <a:ext cx="2321835" cy="1353898"/>
            </a:xfrm>
            <a:prstGeom prst="rect">
              <a:avLst/>
            </a:prstGeom>
            <a:noFill/>
            <a:effectLst>
              <a:outerShdw blurRad="1778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410"/>
            <p:cNvPicPr>
              <a:picLocks noChangeAspect="1" noChangeArrowheads="1"/>
            </p:cNvPicPr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30411" y="5786231"/>
              <a:ext cx="1379138" cy="8178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79882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 11" descr="Verlauf_laengs_large_RGB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630363"/>
            <a:ext cx="12192000" cy="5227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5" name="Title 36"/>
          <p:cNvSpPr>
            <a:spLocks noGrp="1"/>
          </p:cNvSpPr>
          <p:nvPr>
            <p:ph type="title" hasCustomPrompt="1"/>
          </p:nvPr>
        </p:nvSpPr>
        <p:spPr bwMode="invGray">
          <a:xfrm>
            <a:off x="552000" y="1512776"/>
            <a:ext cx="11088000" cy="1548000"/>
          </a:xfrm>
          <a:prstGeom prst="rect">
            <a:avLst/>
          </a:prstGeom>
        </p:spPr>
        <p:txBody>
          <a:bodyPr wrap="square" lIns="0" tIns="0" rIns="0" bIns="0" anchor="b" anchorCtr="0"/>
          <a:lstStyle>
            <a:lvl1pPr>
              <a:lnSpc>
                <a:spcPct val="90000"/>
              </a:lnSpc>
              <a:defRPr sz="4200" cap="all" baseline="0">
                <a:solidFill>
                  <a:srgbClr val="D40511"/>
                </a:solidFill>
                <a:latin typeface="DeutschePost-MedCn" panose="020B0500000000000000" pitchFamily="34" charset="0"/>
              </a:defRPr>
            </a:lvl1pPr>
          </a:lstStyle>
          <a:p>
            <a:r>
              <a:rPr lang="en-US"/>
              <a:t>SAMPLE TITLE ONE OR</a:t>
            </a:r>
            <a:br>
              <a:rPr lang="en-US"/>
            </a:br>
            <a:r>
              <a:rPr lang="en-US"/>
              <a:t>TWO LINES, Arial, 42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57" name="meta-project"/>
          <p:cNvSpPr>
            <a:spLocks noGrp="1"/>
          </p:cNvSpPr>
          <p:nvPr>
            <p:ph type="body" sz="quarter" idx="3" hasCustomPrompt="1"/>
          </p:nvPr>
        </p:nvSpPr>
        <p:spPr>
          <a:xfrm>
            <a:off x="552001" y="3060777"/>
            <a:ext cx="11083836" cy="760959"/>
          </a:xfr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144000" rIns="0" bIns="0" numCol="1" rtlCol="0" anchor="t" anchorCtr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lnSpc>
                <a:spcPct val="100000"/>
              </a:lnSpc>
              <a:spcAft>
                <a:spcPts val="0"/>
              </a:spcAft>
              <a:defRPr lang="en-US" sz="2000" b="0" kern="1200" dirty="0" smtClean="0">
                <a:solidFill>
                  <a:srgbClr val="000000"/>
                </a:solidFill>
                <a:latin typeface="DeutschePost-MedCn" panose="020B0500000000000000" pitchFamily="34" charset="0"/>
                <a:ea typeface="+mn-ea"/>
                <a:cs typeface="+mn-cs"/>
              </a:defRPr>
            </a:lvl1pPr>
            <a:lvl2pPr>
              <a:spcAft>
                <a:spcPts val="1600"/>
              </a:spcAft>
              <a:defRPr sz="2000" b="0" baseline="0"/>
            </a:lvl2pPr>
          </a:lstStyle>
          <a:p>
            <a:r>
              <a:rPr lang="en-US"/>
              <a:t>Name of the event or project or presenter, Arial, 12 </a:t>
            </a:r>
            <a:r>
              <a:rPr lang="en-US" err="1"/>
              <a:t>pt</a:t>
            </a:r>
            <a:br>
              <a:rPr lang="en-US"/>
            </a:br>
            <a:r>
              <a:rPr lang="en-US"/>
              <a:t>Location, ## Month ####</a:t>
            </a:r>
          </a:p>
        </p:txBody>
      </p:sp>
      <p:sp>
        <p:nvSpPr>
          <p:cNvPr id="59" name="Rechteck 9"/>
          <p:cNvSpPr>
            <a:spLocks noChangeArrowheads="1"/>
          </p:cNvSpPr>
          <p:nvPr userDrawn="1"/>
        </p:nvSpPr>
        <p:spPr bwMode="auto">
          <a:xfrm>
            <a:off x="1003300" y="6176963"/>
            <a:ext cx="8424333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b"/>
          <a:lstStyle/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de-DE" sz="10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62" name="Text Placeholder 27"/>
          <p:cNvSpPr>
            <a:spLocks noGrp="1" noChangeAspect="1"/>
          </p:cNvSpPr>
          <p:nvPr>
            <p:ph type="body" sz="quarter" idx="6" hasCustomPrompt="1"/>
          </p:nvPr>
        </p:nvSpPr>
        <p:spPr bwMode="gray">
          <a:xfrm>
            <a:off x="8953501" y="6096000"/>
            <a:ext cx="2705100" cy="295970"/>
          </a:xfrm>
          <a:prstGeom prst="rect">
            <a:avLst/>
          </a:prstGeo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none" lIns="0" tIns="0" rIns="0" bIns="0" anchor="t" anchorCtr="0"/>
          <a:lstStyle>
            <a:lvl1pPr>
              <a:defRPr sz="10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pic>
        <p:nvPicPr>
          <p:cNvPr id="984066" name="Picture 2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2358" y="144302"/>
            <a:ext cx="1335088" cy="549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16284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ver">
    <p:bg>
      <p:bgPr>
        <a:gradFill flip="none" rotWithShape="1">
          <a:gsLst>
            <a:gs pos="0">
              <a:srgbClr val="FFCC00"/>
            </a:gs>
            <a:gs pos="100000">
              <a:schemeClr val="bg1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 userDrawn="1"/>
        </p:nvGrpSpPr>
        <p:grpSpPr>
          <a:xfrm>
            <a:off x="-953" y="0"/>
            <a:ext cx="12192953" cy="6858000"/>
            <a:chOff x="-715" y="0"/>
            <a:chExt cx="9754315" cy="6048376"/>
          </a:xfrm>
        </p:grpSpPr>
        <p:pic>
          <p:nvPicPr>
            <p:cNvPr id="11" name="Picture 2" descr="https://www.dpdhl-corporate.net/images/mdb_thumbs/000/001/029/485/1024x768.jpg"/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715" y="0"/>
              <a:ext cx="9754315" cy="60483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Rectangle 1"/>
            <p:cNvSpPr/>
            <p:nvPr userDrawn="1"/>
          </p:nvSpPr>
          <p:spPr bwMode="auto">
            <a:xfrm>
              <a:off x="-715" y="0"/>
              <a:ext cx="9753600" cy="6048376"/>
            </a:xfrm>
            <a:prstGeom prst="rect">
              <a:avLst/>
            </a:prstGeom>
            <a:gradFill flip="none" rotWithShape="1">
              <a:gsLst>
                <a:gs pos="82000">
                  <a:schemeClr val="bg1">
                    <a:alpha val="55000"/>
                  </a:schemeClr>
                </a:gs>
                <a:gs pos="100000">
                  <a:schemeClr val="bg1"/>
                </a:gs>
              </a:gsLst>
              <a:lin ang="16200000" scaled="1"/>
              <a:tileRect/>
            </a:gradFill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144000" tIns="144000" rIns="144000" bIns="14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9536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55" name="Title 36"/>
          <p:cNvSpPr>
            <a:spLocks noGrp="1"/>
          </p:cNvSpPr>
          <p:nvPr>
            <p:ph type="title" hasCustomPrompt="1"/>
          </p:nvPr>
        </p:nvSpPr>
        <p:spPr bwMode="invGray">
          <a:xfrm>
            <a:off x="554636" y="2568375"/>
            <a:ext cx="11088000" cy="1548000"/>
          </a:xfrm>
          <a:prstGeom prst="rect">
            <a:avLst/>
          </a:prstGeom>
        </p:spPr>
        <p:txBody>
          <a:bodyPr wrap="square" lIns="0" tIns="0" rIns="0" bIns="0" anchor="b" anchorCtr="0"/>
          <a:lstStyle>
            <a:lvl1pPr>
              <a:lnSpc>
                <a:spcPct val="90000"/>
              </a:lnSpc>
              <a:defRPr sz="4200" cap="all" baseline="0">
                <a:solidFill>
                  <a:srgbClr val="D40511"/>
                </a:solidFill>
                <a:latin typeface="DeutschePost-MedCn" panose="020B0500000000000000" pitchFamily="34" charset="0"/>
              </a:defRPr>
            </a:lvl1pPr>
          </a:lstStyle>
          <a:p>
            <a:r>
              <a:rPr lang="en-US"/>
              <a:t>SAMPLE TITLE ONE OR</a:t>
            </a:r>
            <a:br>
              <a:rPr lang="en-US"/>
            </a:br>
            <a:r>
              <a:rPr lang="en-US"/>
              <a:t>TWO LINES, Arial, 42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57" name="meta-project"/>
          <p:cNvSpPr>
            <a:spLocks noGrp="1"/>
          </p:cNvSpPr>
          <p:nvPr>
            <p:ph type="body" sz="quarter" idx="3" hasCustomPrompt="1"/>
          </p:nvPr>
        </p:nvSpPr>
        <p:spPr>
          <a:xfrm>
            <a:off x="558799" y="4119526"/>
            <a:ext cx="11083836" cy="637849"/>
          </a:xfr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144000" rIns="0" bIns="0" numCol="1" rtlCol="0" anchor="t" anchorCtr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lnSpc>
                <a:spcPct val="100000"/>
              </a:lnSpc>
              <a:spcAft>
                <a:spcPts val="0"/>
              </a:spcAft>
              <a:defRPr lang="en-US" sz="1600" b="0" kern="1200" dirty="0" smtClean="0">
                <a:solidFill>
                  <a:srgbClr val="000000"/>
                </a:solidFill>
                <a:latin typeface="DeutschePost-MedCn" panose="020B0500000000000000" pitchFamily="34" charset="0"/>
                <a:ea typeface="+mn-ea"/>
                <a:cs typeface="+mn-cs"/>
              </a:defRPr>
            </a:lvl1pPr>
            <a:lvl2pPr>
              <a:spcAft>
                <a:spcPts val="1600"/>
              </a:spcAft>
              <a:defRPr sz="2000" b="0" baseline="0"/>
            </a:lvl2pPr>
          </a:lstStyle>
          <a:p>
            <a:r>
              <a:rPr lang="en-US"/>
              <a:t>Name of the event or project or presenter, Arial, 12 </a:t>
            </a:r>
            <a:r>
              <a:rPr lang="en-US" err="1"/>
              <a:t>pt</a:t>
            </a:r>
            <a:br>
              <a:rPr lang="en-US"/>
            </a:br>
            <a:r>
              <a:rPr lang="en-US"/>
              <a:t>Location, ## Month ####</a:t>
            </a:r>
          </a:p>
        </p:txBody>
      </p:sp>
      <p:sp>
        <p:nvSpPr>
          <p:cNvPr id="59" name="Rechteck 9"/>
          <p:cNvSpPr>
            <a:spLocks noChangeArrowheads="1"/>
          </p:cNvSpPr>
          <p:nvPr userDrawn="1"/>
        </p:nvSpPr>
        <p:spPr bwMode="auto">
          <a:xfrm>
            <a:off x="1003300" y="6176963"/>
            <a:ext cx="8424333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b"/>
          <a:lstStyle/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de-DE" sz="10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60" name="Rectangle 59"/>
          <p:cNvSpPr/>
          <p:nvPr userDrawn="1"/>
        </p:nvSpPr>
        <p:spPr bwMode="auto">
          <a:xfrm>
            <a:off x="508000" y="5857876"/>
            <a:ext cx="11531600" cy="702245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chemeClr val="accent3"/>
              </a:gs>
            </a:gsLst>
            <a:lin ang="5400000" scaled="1"/>
            <a:tileRect/>
          </a:gradFill>
        </p:spPr>
        <p:txBody>
          <a:bodyPr vert="horz" lIns="0" tIns="0" rIns="0" bIns="0" rtlCol="0" anchor="b" anchorCtr="0">
            <a:noAutofit/>
          </a:bodyPr>
          <a:lstStyle/>
          <a:p>
            <a:pPr marR="0" lvl="0" indent="0" fontAlgn="auto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 pitchFamily="34" charset="0"/>
              <a:buNone/>
              <a:tabLst/>
            </a:pPr>
            <a:endParaRPr kumimoji="0" lang="en-US" sz="100" b="0" i="0" u="none" strike="noStrike" cap="none" spc="0" normalizeH="0" baseline="0" noProof="0">
              <a:ln>
                <a:noFill/>
              </a:ln>
              <a:solidFill>
                <a:schemeClr val="accent3"/>
              </a:solidFill>
              <a:effectLst/>
              <a:uLnTx/>
              <a:uFillTx/>
            </a:endParaRPr>
          </a:p>
        </p:txBody>
      </p:sp>
      <p:pic>
        <p:nvPicPr>
          <p:cNvPr id="61" name="Picture 2" descr="C:\Users\mauyeung\Desktop\Focus2020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33847" y="6006220"/>
            <a:ext cx="2374900" cy="610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2" name="Text Placeholder 27"/>
          <p:cNvSpPr>
            <a:spLocks noGrp="1" noChangeAspect="1"/>
          </p:cNvSpPr>
          <p:nvPr>
            <p:ph type="body" sz="quarter" idx="6" hasCustomPrompt="1"/>
          </p:nvPr>
        </p:nvSpPr>
        <p:spPr bwMode="gray">
          <a:xfrm>
            <a:off x="8953501" y="6096000"/>
            <a:ext cx="2705100" cy="295970"/>
          </a:xfrm>
          <a:prstGeom prst="rect">
            <a:avLst/>
          </a:prstGeo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none" lIns="0" tIns="0" rIns="0" bIns="0" anchor="t" anchorCtr="0"/>
          <a:lstStyle>
            <a:lvl1pPr>
              <a:defRPr sz="10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grpSp>
        <p:nvGrpSpPr>
          <p:cNvPr id="63" name="Group 62"/>
          <p:cNvGrpSpPr/>
          <p:nvPr userDrawn="1"/>
        </p:nvGrpSpPr>
        <p:grpSpPr>
          <a:xfrm>
            <a:off x="192087" y="5619750"/>
            <a:ext cx="3545908" cy="1181100"/>
            <a:chOff x="333460" y="5435360"/>
            <a:chExt cx="3576089" cy="1353898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pic>
          <p:nvPicPr>
            <p:cNvPr id="64" name="Picture 5" descr="C:\Users\mauyeung\Desktop\GQ.png"/>
            <p:cNvPicPr>
              <a:picLocks noChangeAspect="1" noChangeArrowheads="1"/>
            </p:cNvPicPr>
            <p:nvPr/>
          </p:nvPicPr>
          <p:blipFill rotWithShape="1"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333460" y="5435360"/>
              <a:ext cx="2321835" cy="1353898"/>
            </a:xfrm>
            <a:prstGeom prst="rect">
              <a:avLst/>
            </a:prstGeom>
            <a:noFill/>
            <a:effectLst>
              <a:outerShdw blurRad="1778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410"/>
            <p:cNvPicPr>
              <a:picLocks noChangeAspect="1" noChangeArrowheads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30411" y="5786231"/>
              <a:ext cx="1379138" cy="8178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347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7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ct 7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Bild 21" descr="Verlauf_laengs_large_RGB.png"/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185" y="5580063"/>
            <a:ext cx="11713633" cy="109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34" descr="DP_DHL_Black_RGB"/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4034" y="6313489"/>
            <a:ext cx="1775884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hteck 9"/>
          <p:cNvSpPr>
            <a:spLocks noChangeArrowheads="1"/>
          </p:cNvSpPr>
          <p:nvPr/>
        </p:nvSpPr>
        <p:spPr bwMode="auto">
          <a:xfrm>
            <a:off x="1104900" y="6253163"/>
            <a:ext cx="8424333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b"/>
          <a:lstStyle/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de-DE" sz="1000">
              <a:solidFill>
                <a:srgbClr val="000000"/>
              </a:solidFill>
              <a:cs typeface="Arial" charset="0"/>
            </a:endParaRPr>
          </a:p>
        </p:txBody>
      </p:sp>
      <p:pic>
        <p:nvPicPr>
          <p:cNvPr id="8" name="Bild 11" descr="Verlauf_laengs_large_RGB.png"/>
          <p:cNvPicPr>
            <a:picLocks noChangeAspect="1"/>
          </p:cNvPicPr>
          <p:nvPr userDrawn="1"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630363"/>
            <a:ext cx="12192000" cy="5227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24000" y="1728000"/>
            <a:ext cx="10944000" cy="1548000"/>
          </a:xfrm>
        </p:spPr>
        <p:txBody>
          <a:bodyPr anchor="b"/>
          <a:lstStyle>
            <a:lvl1pPr algn="ctr">
              <a:lnSpc>
                <a:spcPts val="6000"/>
              </a:lnSpc>
              <a:defRPr sz="5500">
                <a:solidFill>
                  <a:srgbClr val="D4051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624000" y="3456000"/>
            <a:ext cx="10944000" cy="1080000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 b="0">
                <a:solidFill>
                  <a:srgbClr val="D4051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56048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Gradient with Footer &amp;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63569096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8"/>
          <p:cNvSpPr>
            <a:spLocks noChangeArrowheads="1"/>
          </p:cNvSpPr>
          <p:nvPr userDrawn="1"/>
        </p:nvSpPr>
        <p:spPr bwMode="auto">
          <a:xfrm>
            <a:off x="547325" y="6416948"/>
            <a:ext cx="484716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b"/>
          <a:lstStyle/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fld id="{58CBD727-95B6-48BD-B5BE-1FC33BFB6509}" type="slidenum">
              <a:rPr lang="de-DE" sz="900">
                <a:solidFill>
                  <a:srgbClr val="000000"/>
                </a:solidFill>
                <a:cs typeface="Arial" charset="0"/>
              </a:rPr>
              <a:pPr defTabSz="995363" eaLnBrk="0" fontAlgn="base" hangingPunct="0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de-DE" sz="9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6" name="Rechteck 9"/>
          <p:cNvSpPr>
            <a:spLocks noChangeArrowheads="1"/>
          </p:cNvSpPr>
          <p:nvPr userDrawn="1"/>
        </p:nvSpPr>
        <p:spPr bwMode="auto">
          <a:xfrm>
            <a:off x="1032040" y="6416948"/>
            <a:ext cx="8424333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b"/>
          <a:lstStyle/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sz="900">
                <a:solidFill>
                  <a:srgbClr val="000000"/>
                </a:solidFill>
                <a:cs typeface="Arial" charset="0"/>
              </a:rPr>
              <a:t>Asia-Pacific Shared Services | 21 July  2017</a:t>
            </a:r>
          </a:p>
        </p:txBody>
      </p:sp>
      <p:pic>
        <p:nvPicPr>
          <p:cNvPr id="11" name="Bild 21" descr="Verlauf_laengs_large_RGB.png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185" y="169864"/>
            <a:ext cx="11713633" cy="1100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Bild 9" descr="DHL_rgb_BG.png"/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67951" y="325439"/>
            <a:ext cx="1301749" cy="141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itelplatzhalter 1"/>
          <p:cNvSpPr txBox="1">
            <a:spLocks/>
          </p:cNvSpPr>
          <p:nvPr userDrawn="1"/>
        </p:nvSpPr>
        <p:spPr>
          <a:xfrm>
            <a:off x="387351" y="269875"/>
            <a:ext cx="10943167" cy="90011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rtl="0" eaLnBrk="0" fontAlgn="base" hangingPunct="0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defRPr sz="2400" kern="1200" cap="all" baseline="0">
                <a:solidFill>
                  <a:srgbClr val="D40511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algn="l" rtl="0" eaLnBrk="0" fontAlgn="base" hangingPunct="0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defRPr sz="2800">
                <a:solidFill>
                  <a:srgbClr val="D40511"/>
                </a:solidFill>
                <a:latin typeface="Arial" pitchFamily="34" charset="0"/>
              </a:defRPr>
            </a:lvl2pPr>
            <a:lvl3pPr algn="l" rtl="0" eaLnBrk="0" fontAlgn="base" hangingPunct="0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defRPr sz="2800">
                <a:solidFill>
                  <a:srgbClr val="D40511"/>
                </a:solidFill>
                <a:latin typeface="Arial" pitchFamily="34" charset="0"/>
              </a:defRPr>
            </a:lvl3pPr>
            <a:lvl4pPr algn="l" rtl="0" eaLnBrk="0" fontAlgn="base" hangingPunct="0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defRPr sz="2800">
                <a:solidFill>
                  <a:srgbClr val="D40511"/>
                </a:solidFill>
                <a:latin typeface="Arial" pitchFamily="34" charset="0"/>
              </a:defRPr>
            </a:lvl4pPr>
            <a:lvl5pPr algn="l" rtl="0" eaLnBrk="0" fontAlgn="base" hangingPunct="0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defRPr sz="2800">
                <a:solidFill>
                  <a:srgbClr val="D40511"/>
                </a:solidFill>
                <a:latin typeface="Arial" pitchFamily="34" charset="0"/>
              </a:defRPr>
            </a:lvl5pPr>
            <a:lvl6pPr marL="457200" algn="l" rtl="0" fontAlgn="base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defRPr sz="2800">
                <a:solidFill>
                  <a:srgbClr val="D40511"/>
                </a:solidFill>
                <a:latin typeface="Arial" pitchFamily="34" charset="0"/>
              </a:defRPr>
            </a:lvl6pPr>
            <a:lvl7pPr marL="914400" algn="l" rtl="0" fontAlgn="base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defRPr sz="2800">
                <a:solidFill>
                  <a:srgbClr val="D40511"/>
                </a:solidFill>
                <a:latin typeface="Arial" pitchFamily="34" charset="0"/>
              </a:defRPr>
            </a:lvl7pPr>
            <a:lvl8pPr marL="1371600" algn="l" rtl="0" fontAlgn="base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defRPr sz="2800">
                <a:solidFill>
                  <a:srgbClr val="D40511"/>
                </a:solidFill>
                <a:latin typeface="Arial" pitchFamily="34" charset="0"/>
              </a:defRPr>
            </a:lvl8pPr>
            <a:lvl9pPr marL="1828800" algn="l" rtl="0" fontAlgn="base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defRPr sz="2800">
                <a:solidFill>
                  <a:srgbClr val="D40511"/>
                </a:solidFill>
                <a:latin typeface="Arial" pitchFamily="34" charset="0"/>
              </a:defRPr>
            </a:lvl9pPr>
          </a:lstStyle>
          <a:p>
            <a:r>
              <a:rPr lang="en-US" sz="2400"/>
              <a:t>Click here to insert headline in upper case letters</a:t>
            </a:r>
          </a:p>
        </p:txBody>
      </p:sp>
    </p:spTree>
    <p:extLst>
      <p:ext uri="{BB962C8B-B14F-4D97-AF65-F5344CB8AC3E}">
        <p14:creationId xmlns:p14="http://schemas.microsoft.com/office/powerpoint/2010/main" val="287580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Gradient w/out Footer &amp;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5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kt 15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Bild 21" descr="Verlauf_laengs_large_RGB.png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185" y="169864"/>
            <a:ext cx="11713633" cy="1100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Bild 9" descr="DHL_rgb_BG.png"/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67951" y="325439"/>
            <a:ext cx="1301749" cy="141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387351" y="269875"/>
            <a:ext cx="10943167" cy="90011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baseline="0"/>
            </a:lvl1pPr>
          </a:lstStyle>
          <a:p>
            <a:r>
              <a:rPr lang="en-US" noProof="0"/>
              <a:t>Click here to insert headline in upper case letters</a:t>
            </a:r>
          </a:p>
        </p:txBody>
      </p:sp>
    </p:spTree>
    <p:extLst>
      <p:ext uri="{BB962C8B-B14F-4D97-AF65-F5344CB8AC3E}">
        <p14:creationId xmlns:p14="http://schemas.microsoft.com/office/powerpoint/2010/main" val="2584343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5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kt 15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Bild 21" descr="Verlauf_laengs_large_RGB.png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6010271"/>
            <a:ext cx="12192000" cy="8477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C:\MyData\Docs\01_Presentations in Progress\27183_Template2010\20140402_Formatted_Templates\DHL_rgb_BG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033929" y="6373811"/>
            <a:ext cx="1680000" cy="181823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hteck 8"/>
          <p:cNvSpPr>
            <a:spLocks noChangeArrowheads="1"/>
          </p:cNvSpPr>
          <p:nvPr userDrawn="1"/>
        </p:nvSpPr>
        <p:spPr bwMode="auto">
          <a:xfrm>
            <a:off x="312694" y="6373811"/>
            <a:ext cx="484716" cy="203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b"/>
          <a:lstStyle/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fld id="{58CBD727-95B6-48BD-B5BE-1FC33BFB6509}" type="slidenum">
              <a:rPr lang="de-DE" sz="900">
                <a:solidFill>
                  <a:srgbClr val="000000"/>
                </a:solidFill>
                <a:cs typeface="Arial" charset="0"/>
              </a:rPr>
              <a:pPr defTabSz="995363" eaLnBrk="0" fontAlgn="base" hangingPunct="0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de-DE" sz="9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0" name="Rechteck 9"/>
          <p:cNvSpPr>
            <a:spLocks noChangeArrowheads="1"/>
          </p:cNvSpPr>
          <p:nvPr userDrawn="1"/>
        </p:nvSpPr>
        <p:spPr bwMode="auto">
          <a:xfrm>
            <a:off x="790765" y="6338515"/>
            <a:ext cx="5305236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b"/>
          <a:lstStyle/>
          <a:p>
            <a:pPr algn="l"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sz="900">
                <a:solidFill>
                  <a:srgbClr val="000000"/>
                </a:solidFill>
                <a:cs typeface="Arial" charset="0"/>
              </a:rPr>
              <a:t>AMKAD Monthly Performance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1519584" y="142614"/>
            <a:ext cx="9444828" cy="814388"/>
          </a:xfrm>
        </p:spPr>
        <p:txBody>
          <a:bodyPr anchor="ctr"/>
          <a:lstStyle>
            <a:lvl1pPr marL="342900" indent="-157163">
              <a:spcAft>
                <a:spcPts val="0"/>
              </a:spcAft>
              <a:defRPr sz="3200" b="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DeutschePost-MedCn" panose="020B0500000000000000" pitchFamily="34" charset="0"/>
              </a:defRPr>
            </a:lvl1pPr>
            <a:lvl2pPr>
              <a:spcAft>
                <a:spcPts val="0"/>
              </a:spcAft>
              <a:defRPr sz="2000" b="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DeutschePost-MedCn" panose="020B0500000000000000" pitchFamily="34" charset="0"/>
              </a:defRPr>
            </a:lvl2pPr>
            <a:lvl3pPr marL="0" indent="0">
              <a:buNone/>
              <a:defRPr sz="3200" b="0">
                <a:latin typeface="DeutschePost-MedCn" panose="020B0500000000000000" pitchFamily="34" charset="0"/>
              </a:defRPr>
            </a:lvl3pPr>
            <a:lvl4pPr>
              <a:defRPr sz="3200" b="0">
                <a:latin typeface="DeutschePost-MedCn" panose="020B0500000000000000" pitchFamily="34" charset="0"/>
              </a:defRPr>
            </a:lvl4pPr>
            <a:lvl5pPr>
              <a:defRPr sz="3200" b="0">
                <a:latin typeface="DeutschePost-MedCn" panose="020B0500000000000000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cxnSp>
        <p:nvCxnSpPr>
          <p:cNvPr id="12" name="Straight Connector 11"/>
          <p:cNvCxnSpPr/>
          <p:nvPr userDrawn="1"/>
        </p:nvCxnSpPr>
        <p:spPr bwMode="auto">
          <a:xfrm>
            <a:off x="1784627" y="957002"/>
            <a:ext cx="9929303" cy="0"/>
          </a:xfrm>
          <a:prstGeom prst="line">
            <a:avLst/>
          </a:prstGeom>
          <a:solidFill>
            <a:schemeClr val="bg1"/>
          </a:solidFill>
          <a:ln w="15875" cap="flat" cmpd="sng" algn="ctr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5000">
                  <a:schemeClr val="tx1">
                    <a:lumMod val="75000"/>
                    <a:lumOff val="25000"/>
                  </a:schemeClr>
                </a:gs>
              </a:gsLst>
              <a:lin ang="5400000" scaled="1"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983486" name="Picture 446"/>
          <p:cNvPicPr preferRelativeResize="0">
            <a:picLocks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53" y="316922"/>
            <a:ext cx="1335024" cy="5471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83489" name="Picture 449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8265" y="299635"/>
            <a:ext cx="731838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32752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 of content: 1 column,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97740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ontent: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7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">
                  <p:embed/>
                </p:oleObj>
              </mc:Choice>
              <mc:Fallback>
                <p:oleObj name="think-cell Folie" r:id="rId3" imgW="270" imgH="270" progId="">
                  <p:embed/>
                  <p:pic>
                    <p:nvPicPr>
                      <p:cNvPr id="4" name="Object 3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7" y="1589"/>
                        <a:ext cx="2116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Rechteck 8"/>
          <p:cNvSpPr/>
          <p:nvPr userDrawn="1"/>
        </p:nvSpPr>
        <p:spPr bwMode="gray">
          <a:xfrm>
            <a:off x="11160000" y="6225003"/>
            <a:ext cx="483816" cy="2520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fld id="{2E45E626-985F-4F96-B1C4-178AC390C14C}" type="slidenum">
              <a:rPr kumimoji="0" 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pPr marL="0" marR="0" indent="0" algn="r" defTabSz="99536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3" name="Titel 12"/>
          <p:cNvSpPr>
            <a:spLocks noGrp="1"/>
          </p:cNvSpPr>
          <p:nvPr>
            <p:ph type="title"/>
          </p:nvPr>
        </p:nvSpPr>
        <p:spPr>
          <a:xfrm>
            <a:off x="552000" y="201600"/>
            <a:ext cx="11088000" cy="712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platzhalter 18"/>
          <p:cNvSpPr>
            <a:spLocks noGrp="1"/>
          </p:cNvSpPr>
          <p:nvPr>
            <p:ph type="body" sz="quarter" idx="32"/>
          </p:nvPr>
        </p:nvSpPr>
        <p:spPr>
          <a:xfrm>
            <a:off x="552451" y="1249200"/>
            <a:ext cx="11087100" cy="4755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6" name="Straight Connector 10"/>
          <p:cNvCxnSpPr/>
          <p:nvPr userDrawn="1"/>
        </p:nvCxnSpPr>
        <p:spPr bwMode="gray">
          <a:xfrm>
            <a:off x="552000" y="1015200"/>
            <a:ext cx="11088000" cy="0"/>
          </a:xfrm>
          <a:prstGeom prst="line">
            <a:avLst/>
          </a:prstGeom>
          <a:ln w="12700" cmpd="sng">
            <a:solidFill>
              <a:srgbClr val="D4051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208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8"/>
          <p:cNvCxnSpPr/>
          <p:nvPr userDrawn="1"/>
        </p:nvCxnSpPr>
        <p:spPr>
          <a:xfrm>
            <a:off x="620185" y="609600"/>
            <a:ext cx="10943167" cy="0"/>
          </a:xfrm>
          <a:prstGeom prst="line">
            <a:avLst/>
          </a:prstGeom>
          <a:ln w="12700" cmpd="sng">
            <a:solidFill>
              <a:srgbClr val="D4051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4418" y="1547813"/>
            <a:ext cx="10943167" cy="4572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title"/>
          </p:nvPr>
        </p:nvSpPr>
        <p:spPr bwMode="gray">
          <a:xfrm>
            <a:off x="717551" y="228600"/>
            <a:ext cx="9404349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lvl="0"/>
            <a:r>
              <a:rPr lang="en-US" err="1"/>
              <a:t>Titelmasterformat</a:t>
            </a:r>
            <a:r>
              <a:rPr lang="en-US"/>
              <a:t> </a:t>
            </a:r>
            <a:r>
              <a:rPr lang="en-US" err="1"/>
              <a:t>durch</a:t>
            </a:r>
            <a:r>
              <a:rPr lang="en-US"/>
              <a:t> </a:t>
            </a:r>
            <a:r>
              <a:rPr lang="en-US" err="1"/>
              <a:t>Klicken</a:t>
            </a:r>
            <a:r>
              <a:rPr lang="en-US"/>
              <a:t> </a:t>
            </a:r>
            <a:r>
              <a:rPr lang="en-US" err="1"/>
              <a:t>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849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 of content: 1 column,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0878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905362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11"/>
          <p:cNvSpPr/>
          <p:nvPr/>
        </p:nvSpPr>
        <p:spPr bwMode="hidden">
          <a:xfrm>
            <a:off x="239184" y="5952326"/>
            <a:ext cx="11712000" cy="720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accent3"/>
              </a:gs>
              <a:gs pos="36000">
                <a:schemeClr val="accent3">
                  <a:alpha val="77000"/>
                </a:schemeClr>
              </a:gs>
              <a:gs pos="52000">
                <a:schemeClr val="accent3">
                  <a:alpha val="90000"/>
                </a:schemeClr>
              </a:gs>
              <a:gs pos="74000">
                <a:schemeClr val="accent3"/>
              </a:gs>
            </a:gsLst>
            <a:lin ang="5400000" scaled="0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/>
          </p:nvPr>
        </p:nvSpPr>
        <p:spPr bwMode="gray">
          <a:xfrm>
            <a:off x="551999" y="1249200"/>
            <a:ext cx="11088000" cy="47556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/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0"/>
            </a:lvl2pPr>
            <a:lvl3pPr marL="180000" marR="0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itchFamily="34" charset="0"/>
              <a:buChar char="•"/>
              <a:tabLst/>
              <a:defRPr/>
            </a:lvl3pPr>
            <a:lvl4pPr marL="360000" marR="0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Symbol" pitchFamily="18" charset="2"/>
              <a:buChar char="-"/>
              <a:tabLst/>
              <a:defRPr/>
            </a:lvl4pPr>
            <a:lvl5pPr marL="533400" marR="0" indent="-174625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Symbol" charset="2"/>
              <a:buChar char="-"/>
              <a:tabLst/>
              <a:defRPr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9" name="Rechteck 8"/>
          <p:cNvSpPr/>
          <p:nvPr/>
        </p:nvSpPr>
        <p:spPr bwMode="gray">
          <a:xfrm>
            <a:off x="11160000" y="6225003"/>
            <a:ext cx="483816" cy="2520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fld id="{2E45E626-985F-4F96-B1C4-178AC390C14C}" type="slidenum">
              <a:rPr kumimoji="0" 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pPr marL="0" marR="0" indent="0" algn="r" defTabSz="99536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30" name="Footer Placeholder 2"/>
          <p:cNvSpPr>
            <a:spLocks noGrp="1"/>
          </p:cNvSpPr>
          <p:nvPr>
            <p:ph type="ftr" sz="quarter" idx="31"/>
          </p:nvPr>
        </p:nvSpPr>
        <p:spPr bwMode="gray">
          <a:xfrm>
            <a:off x="2856000" y="6225003"/>
            <a:ext cx="8304000" cy="252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 | Location | xx Month 20xx</a:t>
            </a:r>
          </a:p>
        </p:txBody>
      </p:sp>
      <p:sp>
        <p:nvSpPr>
          <p:cNvPr id="13" name="Titel 12"/>
          <p:cNvSpPr>
            <a:spLocks noGrp="1"/>
          </p:cNvSpPr>
          <p:nvPr>
            <p:ph type="title"/>
          </p:nvPr>
        </p:nvSpPr>
        <p:spPr>
          <a:xfrm>
            <a:off x="552000" y="201600"/>
            <a:ext cx="11088000" cy="712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noProof="0"/>
          </a:p>
        </p:txBody>
      </p:sp>
      <p:cxnSp>
        <p:nvCxnSpPr>
          <p:cNvPr id="14" name="Straight Connector 10"/>
          <p:cNvCxnSpPr/>
          <p:nvPr/>
        </p:nvCxnSpPr>
        <p:spPr bwMode="gray">
          <a:xfrm>
            <a:off x="552000" y="1015200"/>
            <a:ext cx="11088000" cy="0"/>
          </a:xfrm>
          <a:prstGeom prst="line">
            <a:avLst/>
          </a:prstGeom>
          <a:ln w="12700" cmpd="sng">
            <a:solidFill>
              <a:srgbClr val="D4051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3" descr="C:\MyData\Docs\01_Presentations in Progress\27183_Template2010\20140402_Formatted_Templates\DHL_rgb_BG.png"/>
          <p:cNvPicPr>
            <a:picLocks noChangeAspect="1" noChangeArrowheads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552000" y="6278378"/>
            <a:ext cx="1680000" cy="18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 descr="Focus Logo.png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4566" y="6166485"/>
            <a:ext cx="1797140" cy="365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9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/>
          </p:cNvGraphicFramePr>
          <p:nvPr userDrawn="1">
            <p:custDataLst>
              <p:tags r:id="rId1"/>
            </p:custDataLst>
          </p:nvPr>
        </p:nvGraphicFramePr>
        <p:xfrm>
          <a:off x="2117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">
                  <p:embed/>
                </p:oleObj>
              </mc:Choice>
              <mc:Fallback>
                <p:oleObj name="think-cell Slide" r:id="rId3" imgW="270" imgH="270" progId="">
                  <p:embed/>
                  <p:pic>
                    <p:nvPicPr>
                      <p:cNvPr id="2" name="Object 1" hidden="1"/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7" y="1589"/>
                        <a:ext cx="2116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platzhalter 15"/>
          <p:cNvSpPr>
            <a:spLocks noGrp="1"/>
          </p:cNvSpPr>
          <p:nvPr>
            <p:ph type="body" sz="quarter" idx="32"/>
          </p:nvPr>
        </p:nvSpPr>
        <p:spPr>
          <a:xfrm>
            <a:off x="552451" y="1249199"/>
            <a:ext cx="5400000" cy="4755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33"/>
          </p:nvPr>
        </p:nvSpPr>
        <p:spPr>
          <a:xfrm>
            <a:off x="6240000" y="1249199"/>
            <a:ext cx="5400000" cy="4755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1" name="Rechteck 11"/>
          <p:cNvSpPr/>
          <p:nvPr userDrawn="1"/>
        </p:nvSpPr>
        <p:spPr bwMode="hidden">
          <a:xfrm>
            <a:off x="239184" y="6225003"/>
            <a:ext cx="11712000" cy="447323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accent3"/>
              </a:gs>
              <a:gs pos="36000">
                <a:schemeClr val="accent3">
                  <a:alpha val="77000"/>
                </a:schemeClr>
              </a:gs>
              <a:gs pos="52000">
                <a:schemeClr val="accent3">
                  <a:alpha val="90000"/>
                </a:schemeClr>
              </a:gs>
              <a:gs pos="74000">
                <a:schemeClr val="accent3"/>
              </a:gs>
            </a:gsLst>
            <a:lin ang="5400000" scaled="0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3" name="Rechteck 8"/>
          <p:cNvSpPr/>
          <p:nvPr userDrawn="1"/>
        </p:nvSpPr>
        <p:spPr bwMode="gray">
          <a:xfrm>
            <a:off x="11160000" y="6308128"/>
            <a:ext cx="483816" cy="2520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fld id="{2E45E626-985F-4F96-B1C4-178AC390C14C}" type="slidenum">
              <a:rPr kumimoji="0" 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pPr marL="0" marR="0" indent="0" algn="r" defTabSz="99536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21" name="Straight Connector 10"/>
          <p:cNvCxnSpPr/>
          <p:nvPr userDrawn="1"/>
        </p:nvCxnSpPr>
        <p:spPr bwMode="gray">
          <a:xfrm>
            <a:off x="472833" y="837075"/>
            <a:ext cx="11277600" cy="0"/>
          </a:xfrm>
          <a:prstGeom prst="line">
            <a:avLst/>
          </a:prstGeom>
          <a:ln w="12700" cmpd="sng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DHL_Ex_extern"/>
          <p:cNvPicPr>
            <a:picLocks noChangeAspect="1" noChangeArrowheads="1"/>
          </p:cNvPicPr>
          <p:nvPr userDrawn="1"/>
        </p:nvPicPr>
        <p:blipFill>
          <a:blip r:embed="rId5" cstate="print"/>
          <a:srcRect/>
          <a:stretch>
            <a:fillRect/>
          </a:stretch>
        </p:blipFill>
        <p:spPr bwMode="gray">
          <a:xfrm>
            <a:off x="9136507" y="6348659"/>
            <a:ext cx="1564253" cy="274320"/>
          </a:xfrm>
          <a:prstGeom prst="rect">
            <a:avLst/>
          </a:prstGeom>
          <a:noFill/>
          <a:ln w="0">
            <a:noFill/>
            <a:miter lim="800000"/>
            <a:headEnd/>
            <a:tailEnd/>
          </a:ln>
          <a:effectLst/>
        </p:spPr>
      </p:pic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552000" y="201600"/>
            <a:ext cx="11088000" cy="712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12" name="Picture 100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827" y="6324509"/>
            <a:ext cx="1581008" cy="32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45638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1"/>
          <p:cNvSpPr/>
          <p:nvPr/>
        </p:nvSpPr>
        <p:spPr bwMode="hidden">
          <a:xfrm>
            <a:off x="239184" y="5952326"/>
            <a:ext cx="11712000" cy="720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accent3"/>
              </a:gs>
              <a:gs pos="36000">
                <a:schemeClr val="accent3">
                  <a:alpha val="77000"/>
                </a:schemeClr>
              </a:gs>
              <a:gs pos="52000">
                <a:schemeClr val="accent3">
                  <a:alpha val="90000"/>
                </a:schemeClr>
              </a:gs>
              <a:gs pos="74000">
                <a:schemeClr val="accent3"/>
              </a:gs>
            </a:gsLst>
            <a:lin ang="5400000" scaled="0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3" name="Rechteck 8"/>
          <p:cNvSpPr/>
          <p:nvPr/>
        </p:nvSpPr>
        <p:spPr bwMode="gray">
          <a:xfrm>
            <a:off x="11160000" y="6225003"/>
            <a:ext cx="483816" cy="2520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fld id="{2E45E626-985F-4F96-B1C4-178AC390C14C}" type="slidenum">
              <a:rPr kumimoji="0" 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pPr marL="0" marR="0" indent="0" algn="r" defTabSz="99536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34" name="Footer Placeholder 2"/>
          <p:cNvSpPr>
            <a:spLocks noGrp="1"/>
          </p:cNvSpPr>
          <p:nvPr>
            <p:ph type="ftr" sz="quarter" idx="31"/>
          </p:nvPr>
        </p:nvSpPr>
        <p:spPr bwMode="gray">
          <a:xfrm>
            <a:off x="2856000" y="6225003"/>
            <a:ext cx="8304000" cy="252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 | Location | xx Month 20xx</a:t>
            </a:r>
          </a:p>
        </p:txBody>
      </p:sp>
      <p:sp>
        <p:nvSpPr>
          <p:cNvPr id="29" name="Text Placeholder 9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552000" y="1249200"/>
            <a:ext cx="5400000" cy="4755600"/>
          </a:xfrm>
          <a:prstGeom prst="rect">
            <a:avLst/>
          </a:prstGeom>
        </p:spPr>
        <p:txBody>
          <a:bodyPr lIns="0" tIns="0" rIns="0" bIns="0"/>
          <a:lstStyle>
            <a:lvl1pPr marL="270000" marR="0" indent="-27000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 typeface="Arial" pitchFamily="34" charset="0"/>
              <a:buAutoNum type="arabicPlain"/>
              <a:tabLst/>
              <a:defRPr sz="1400" b="1" baseline="0"/>
            </a:lvl1pPr>
            <a:lvl2pPr marL="27000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 pitchFamily="34" charset="0"/>
              <a:buNone/>
              <a:tabLst/>
              <a:defRPr sz="1400" b="0"/>
            </a:lvl2pPr>
            <a:lvl3pPr marL="180000" marR="0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 pitchFamily="34" charset="0"/>
              <a:buChar char="•"/>
              <a:tabLst/>
              <a:defRPr/>
            </a:lvl3pPr>
            <a:lvl4pPr marL="360000" marR="0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Symbol" pitchFamily="18" charset="2"/>
              <a:buChar char="-"/>
              <a:tabLst/>
              <a:defRPr/>
            </a:lvl4pPr>
            <a:lvl5pPr marL="533400" marR="0" indent="-174625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Symbol" charset="2"/>
              <a:buChar char="-"/>
              <a:tabLst/>
              <a:defRPr/>
            </a:lvl5pPr>
          </a:lstStyle>
          <a:p>
            <a:r>
              <a:rPr lang="en-US"/>
              <a:t>Sample section</a:t>
            </a:r>
          </a:p>
          <a:p>
            <a:pPr lvl="1"/>
            <a:r>
              <a:rPr lang="fr-FR" err="1"/>
              <a:t>Lorem</a:t>
            </a:r>
            <a:r>
              <a:rPr lang="fr-FR"/>
              <a:t> </a:t>
            </a:r>
            <a:r>
              <a:rPr lang="fr-FR" err="1"/>
              <a:t>ipsum</a:t>
            </a:r>
            <a:r>
              <a:rPr lang="fr-FR"/>
              <a:t> </a:t>
            </a:r>
            <a:r>
              <a:rPr lang="fr-FR" err="1"/>
              <a:t>dolore</a:t>
            </a:r>
            <a:r>
              <a:rPr lang="fr-FR"/>
              <a:t> est consista</a:t>
            </a:r>
            <a:endParaRPr lang="en-US"/>
          </a:p>
          <a:p>
            <a:r>
              <a:rPr lang="en-US"/>
              <a:t>Sample section</a:t>
            </a:r>
          </a:p>
          <a:p>
            <a:pPr lvl="1"/>
            <a:r>
              <a:rPr lang="fr-FR" err="1"/>
              <a:t>Lorem</a:t>
            </a:r>
            <a:r>
              <a:rPr lang="fr-FR"/>
              <a:t> </a:t>
            </a:r>
            <a:r>
              <a:rPr lang="fr-FR" err="1"/>
              <a:t>ipsum</a:t>
            </a:r>
            <a:r>
              <a:rPr lang="fr-FR"/>
              <a:t> </a:t>
            </a:r>
            <a:r>
              <a:rPr lang="fr-FR" err="1"/>
              <a:t>dolore</a:t>
            </a:r>
            <a:r>
              <a:rPr lang="fr-FR"/>
              <a:t> est consista</a:t>
            </a:r>
            <a:endParaRPr lang="en-US"/>
          </a:p>
          <a:p>
            <a:r>
              <a:rPr lang="en-US"/>
              <a:t>Sample section</a:t>
            </a:r>
          </a:p>
          <a:p>
            <a:pPr lvl="1"/>
            <a:r>
              <a:rPr lang="fr-FR" err="1"/>
              <a:t>Lorem</a:t>
            </a:r>
            <a:r>
              <a:rPr lang="fr-FR"/>
              <a:t> </a:t>
            </a:r>
            <a:r>
              <a:rPr lang="fr-FR" err="1"/>
              <a:t>ipsum</a:t>
            </a:r>
            <a:r>
              <a:rPr lang="fr-FR"/>
              <a:t> </a:t>
            </a:r>
            <a:r>
              <a:rPr lang="fr-FR" err="1"/>
              <a:t>dolore</a:t>
            </a:r>
            <a:r>
              <a:rPr lang="fr-FR"/>
              <a:t> est consista</a:t>
            </a:r>
            <a:endParaRPr lang="en-US"/>
          </a:p>
          <a:p>
            <a:r>
              <a:rPr lang="en-US"/>
              <a:t>Sample section</a:t>
            </a:r>
          </a:p>
          <a:p>
            <a:pPr lvl="1"/>
            <a:r>
              <a:rPr lang="fr-FR" err="1"/>
              <a:t>Lorem</a:t>
            </a:r>
            <a:r>
              <a:rPr lang="fr-FR"/>
              <a:t> </a:t>
            </a:r>
            <a:r>
              <a:rPr lang="fr-FR" err="1"/>
              <a:t>ipsum</a:t>
            </a:r>
            <a:r>
              <a:rPr lang="fr-FR"/>
              <a:t> </a:t>
            </a:r>
            <a:r>
              <a:rPr lang="fr-FR" err="1"/>
              <a:t>dolore</a:t>
            </a:r>
            <a:r>
              <a:rPr lang="fr-FR"/>
              <a:t> est consista</a:t>
            </a:r>
            <a:endParaRPr lang="en-US"/>
          </a:p>
          <a:p>
            <a:r>
              <a:rPr lang="en-US"/>
              <a:t>Sample section</a:t>
            </a:r>
          </a:p>
          <a:p>
            <a:pPr lvl="1"/>
            <a:r>
              <a:rPr lang="fr-FR" err="1"/>
              <a:t>Lorem</a:t>
            </a:r>
            <a:r>
              <a:rPr lang="fr-FR"/>
              <a:t> </a:t>
            </a:r>
            <a:r>
              <a:rPr lang="fr-FR" err="1"/>
              <a:t>ipsum</a:t>
            </a:r>
            <a:r>
              <a:rPr lang="fr-FR"/>
              <a:t> </a:t>
            </a:r>
            <a:r>
              <a:rPr lang="fr-FR" err="1"/>
              <a:t>dolore</a:t>
            </a:r>
            <a:r>
              <a:rPr lang="fr-FR"/>
              <a:t> est consista</a:t>
            </a:r>
            <a:endParaRPr lang="en-US"/>
          </a:p>
          <a:p>
            <a:r>
              <a:rPr lang="en-US"/>
              <a:t>Sample section</a:t>
            </a:r>
          </a:p>
          <a:p>
            <a:pPr lvl="1"/>
            <a:r>
              <a:rPr lang="fr-FR" err="1"/>
              <a:t>Lorem</a:t>
            </a:r>
            <a:r>
              <a:rPr lang="fr-FR"/>
              <a:t> </a:t>
            </a:r>
            <a:r>
              <a:rPr lang="fr-FR" err="1"/>
              <a:t>ipsum</a:t>
            </a:r>
            <a:r>
              <a:rPr lang="fr-FR"/>
              <a:t> </a:t>
            </a:r>
            <a:r>
              <a:rPr lang="fr-FR" err="1"/>
              <a:t>dolore</a:t>
            </a:r>
            <a:r>
              <a:rPr lang="fr-FR"/>
              <a:t> est consista</a:t>
            </a:r>
            <a:endParaRPr lang="en-US"/>
          </a:p>
        </p:txBody>
      </p:sp>
      <p:sp>
        <p:nvSpPr>
          <p:cNvPr id="32" name="Text Placeholder 9"/>
          <p:cNvSpPr>
            <a:spLocks noGrp="1"/>
          </p:cNvSpPr>
          <p:nvPr>
            <p:ph type="body" sz="quarter" idx="33" hasCustomPrompt="1"/>
          </p:nvPr>
        </p:nvSpPr>
        <p:spPr bwMode="gray">
          <a:xfrm>
            <a:off x="6240000" y="1249200"/>
            <a:ext cx="5400000" cy="4755600"/>
          </a:xfrm>
          <a:prstGeom prst="rect">
            <a:avLst/>
          </a:prstGeom>
        </p:spPr>
        <p:txBody>
          <a:bodyPr lIns="0" tIns="0" rIns="0" bIns="0"/>
          <a:lstStyle>
            <a:lvl1pPr marL="266700" marR="0" indent="-26670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 typeface="Wingdings" pitchFamily="2" charset="2"/>
              <a:buAutoNum type="arabicPlain" startAt="7"/>
              <a:tabLst/>
              <a:defRPr sz="1400" b="1" baseline="0"/>
            </a:lvl1pPr>
            <a:lvl2pPr marL="27000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 pitchFamily="34" charset="0"/>
              <a:buNone/>
              <a:tabLst/>
              <a:defRPr sz="1400" b="0"/>
            </a:lvl2pPr>
            <a:lvl3pPr marL="180000" marR="0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 pitchFamily="34" charset="0"/>
              <a:buChar char="•"/>
              <a:tabLst/>
              <a:defRPr/>
            </a:lvl3pPr>
            <a:lvl4pPr marL="360000" marR="0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Symbol" pitchFamily="18" charset="2"/>
              <a:buChar char="-"/>
              <a:tabLst/>
              <a:defRPr/>
            </a:lvl4pPr>
            <a:lvl5pPr marL="533400" marR="0" indent="-174625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Symbol" charset="2"/>
              <a:buChar char="-"/>
              <a:tabLst/>
              <a:defRPr/>
            </a:lvl5pPr>
          </a:lstStyle>
          <a:p>
            <a:r>
              <a:rPr lang="en-US"/>
              <a:t>Sample section</a:t>
            </a:r>
          </a:p>
          <a:p>
            <a:pPr lvl="1"/>
            <a:r>
              <a:rPr lang="fr-FR" err="1"/>
              <a:t>Lorem</a:t>
            </a:r>
            <a:r>
              <a:rPr lang="fr-FR"/>
              <a:t> </a:t>
            </a:r>
            <a:r>
              <a:rPr lang="fr-FR" err="1"/>
              <a:t>ipsum</a:t>
            </a:r>
            <a:r>
              <a:rPr lang="fr-FR"/>
              <a:t> </a:t>
            </a:r>
            <a:r>
              <a:rPr lang="fr-FR" err="1"/>
              <a:t>dolore</a:t>
            </a:r>
            <a:r>
              <a:rPr lang="fr-FR"/>
              <a:t> est consista</a:t>
            </a:r>
            <a:endParaRPr lang="en-US"/>
          </a:p>
          <a:p>
            <a:r>
              <a:rPr lang="en-US"/>
              <a:t>Sample section</a:t>
            </a:r>
          </a:p>
          <a:p>
            <a:pPr lvl="1"/>
            <a:r>
              <a:rPr lang="fr-FR" err="1"/>
              <a:t>Lorem</a:t>
            </a:r>
            <a:r>
              <a:rPr lang="fr-FR"/>
              <a:t> </a:t>
            </a:r>
            <a:r>
              <a:rPr lang="fr-FR" err="1"/>
              <a:t>ipsum</a:t>
            </a:r>
            <a:r>
              <a:rPr lang="fr-FR"/>
              <a:t> </a:t>
            </a:r>
            <a:r>
              <a:rPr lang="fr-FR" err="1"/>
              <a:t>dolore</a:t>
            </a:r>
            <a:r>
              <a:rPr lang="fr-FR"/>
              <a:t> est consista</a:t>
            </a:r>
            <a:endParaRPr lang="en-US"/>
          </a:p>
          <a:p>
            <a:r>
              <a:rPr lang="en-US"/>
              <a:t>Sample section</a:t>
            </a:r>
          </a:p>
          <a:p>
            <a:pPr lvl="1"/>
            <a:r>
              <a:rPr lang="fr-FR" err="1"/>
              <a:t>Lorem</a:t>
            </a:r>
            <a:r>
              <a:rPr lang="fr-FR"/>
              <a:t> </a:t>
            </a:r>
            <a:r>
              <a:rPr lang="fr-FR" err="1"/>
              <a:t>ipsum</a:t>
            </a:r>
            <a:r>
              <a:rPr lang="fr-FR"/>
              <a:t> </a:t>
            </a:r>
            <a:r>
              <a:rPr lang="fr-FR" err="1"/>
              <a:t>dolore</a:t>
            </a:r>
            <a:r>
              <a:rPr lang="fr-FR"/>
              <a:t> est consista</a:t>
            </a:r>
            <a:endParaRPr lang="en-US"/>
          </a:p>
          <a:p>
            <a:r>
              <a:rPr lang="en-US"/>
              <a:t>Sample section</a:t>
            </a:r>
          </a:p>
          <a:p>
            <a:pPr lvl="1"/>
            <a:r>
              <a:rPr lang="fr-FR" err="1"/>
              <a:t>Lorem</a:t>
            </a:r>
            <a:r>
              <a:rPr lang="fr-FR"/>
              <a:t> </a:t>
            </a:r>
            <a:r>
              <a:rPr lang="fr-FR" err="1"/>
              <a:t>ipsum</a:t>
            </a:r>
            <a:r>
              <a:rPr lang="fr-FR"/>
              <a:t> </a:t>
            </a:r>
            <a:r>
              <a:rPr lang="fr-FR" err="1"/>
              <a:t>dolore</a:t>
            </a:r>
            <a:r>
              <a:rPr lang="fr-FR"/>
              <a:t> est consista</a:t>
            </a:r>
            <a:endParaRPr lang="en-US"/>
          </a:p>
          <a:p>
            <a:r>
              <a:rPr lang="en-US"/>
              <a:t>Sample section</a:t>
            </a:r>
          </a:p>
          <a:p>
            <a:pPr lvl="1"/>
            <a:r>
              <a:rPr lang="fr-FR" err="1"/>
              <a:t>Lorem</a:t>
            </a:r>
            <a:r>
              <a:rPr lang="fr-FR"/>
              <a:t> </a:t>
            </a:r>
            <a:r>
              <a:rPr lang="fr-FR" err="1"/>
              <a:t>ipsum</a:t>
            </a:r>
            <a:r>
              <a:rPr lang="fr-FR"/>
              <a:t> </a:t>
            </a:r>
            <a:r>
              <a:rPr lang="fr-FR" err="1"/>
              <a:t>dolore</a:t>
            </a:r>
            <a:r>
              <a:rPr lang="fr-FR"/>
              <a:t> est consista</a:t>
            </a:r>
            <a:endParaRPr lang="en-US"/>
          </a:p>
          <a:p>
            <a:r>
              <a:rPr lang="en-US"/>
              <a:t>Sample section</a:t>
            </a:r>
          </a:p>
          <a:p>
            <a:pPr lvl="1"/>
            <a:r>
              <a:rPr lang="fr-FR" err="1"/>
              <a:t>Lorem</a:t>
            </a:r>
            <a:r>
              <a:rPr lang="fr-FR"/>
              <a:t> </a:t>
            </a:r>
            <a:r>
              <a:rPr lang="fr-FR" err="1"/>
              <a:t>ipsum</a:t>
            </a:r>
            <a:r>
              <a:rPr lang="fr-FR"/>
              <a:t> </a:t>
            </a:r>
            <a:r>
              <a:rPr lang="fr-FR" err="1"/>
              <a:t>dolore</a:t>
            </a:r>
            <a:r>
              <a:rPr lang="fr-FR"/>
              <a:t> est consista</a:t>
            </a:r>
            <a:endParaRPr lang="en-US"/>
          </a:p>
        </p:txBody>
      </p:sp>
      <p:sp>
        <p:nvSpPr>
          <p:cNvPr id="13" name="Titel 12"/>
          <p:cNvSpPr>
            <a:spLocks noGrp="1"/>
          </p:cNvSpPr>
          <p:nvPr>
            <p:ph type="title"/>
          </p:nvPr>
        </p:nvSpPr>
        <p:spPr>
          <a:xfrm>
            <a:off x="552000" y="201600"/>
            <a:ext cx="11088000" cy="712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14" name="Straight Connector 10"/>
          <p:cNvCxnSpPr/>
          <p:nvPr/>
        </p:nvCxnSpPr>
        <p:spPr bwMode="gray">
          <a:xfrm>
            <a:off x="552000" y="1015200"/>
            <a:ext cx="11088000" cy="0"/>
          </a:xfrm>
          <a:prstGeom prst="line">
            <a:avLst/>
          </a:prstGeom>
          <a:ln w="12700" cmpd="sng">
            <a:solidFill>
              <a:srgbClr val="D4051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3" descr="C:\MyData\Docs\01_Presentations in Progress\27183_Template2010\20140402_Formatted_Templates\DHL_rgb_BG.png"/>
          <p:cNvPicPr>
            <a:picLocks noChangeAspect="1" noChangeArrowheads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552000" y="6278378"/>
            <a:ext cx="1680000" cy="18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Focus Logo.png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4566" y="6166485"/>
            <a:ext cx="1797140" cy="365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8815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: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4" name="Object 3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hteck 11"/>
          <p:cNvSpPr/>
          <p:nvPr userDrawn="1"/>
        </p:nvSpPr>
        <p:spPr bwMode="hidden">
          <a:xfrm>
            <a:off x="239184" y="5952326"/>
            <a:ext cx="11712000" cy="720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accent3"/>
              </a:gs>
              <a:gs pos="36000">
                <a:schemeClr val="accent3">
                  <a:alpha val="77000"/>
                </a:schemeClr>
              </a:gs>
              <a:gs pos="52000">
                <a:schemeClr val="accent3">
                  <a:alpha val="90000"/>
                </a:schemeClr>
              </a:gs>
              <a:gs pos="74000">
                <a:schemeClr val="accent3"/>
              </a:gs>
            </a:gsLst>
            <a:lin ang="5400000" scaled="0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3985" tIns="143985" rIns="143985" bIns="143985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95262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9" name="Rechteck 8"/>
          <p:cNvSpPr/>
          <p:nvPr userDrawn="1"/>
        </p:nvSpPr>
        <p:spPr bwMode="gray">
          <a:xfrm>
            <a:off x="11160004" y="6225003"/>
            <a:ext cx="483817" cy="2520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r" defTabSz="995262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fld id="{2E45E626-985F-4F96-B1C4-178AC390C14C}" type="slidenum">
              <a:rPr kumimoji="0" 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pPr marL="0" marR="0" indent="0" algn="r" defTabSz="995262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30" name="Footer Placeholder 2"/>
          <p:cNvSpPr>
            <a:spLocks noGrp="1"/>
          </p:cNvSpPr>
          <p:nvPr>
            <p:ph type="ftr" sz="quarter" idx="31"/>
          </p:nvPr>
        </p:nvSpPr>
        <p:spPr bwMode="gray">
          <a:xfrm>
            <a:off x="2856000" y="6225003"/>
            <a:ext cx="8304000" cy="2520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Source:ShortsTravel;YTDAugust;Datesarebasedondateofbooking,notactualcheck-in</a:t>
            </a:r>
          </a:p>
        </p:txBody>
      </p:sp>
      <p:sp>
        <p:nvSpPr>
          <p:cNvPr id="13" name="Titel 12"/>
          <p:cNvSpPr>
            <a:spLocks noGrp="1"/>
          </p:cNvSpPr>
          <p:nvPr>
            <p:ph type="title"/>
          </p:nvPr>
        </p:nvSpPr>
        <p:spPr>
          <a:xfrm>
            <a:off x="533803" y="256192"/>
            <a:ext cx="11088000" cy="35482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platzhalter 18"/>
          <p:cNvSpPr>
            <a:spLocks noGrp="1"/>
          </p:cNvSpPr>
          <p:nvPr>
            <p:ph type="body" sz="quarter" idx="32"/>
          </p:nvPr>
        </p:nvSpPr>
        <p:spPr>
          <a:xfrm>
            <a:off x="552454" y="1249200"/>
            <a:ext cx="11087100" cy="4755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6" name="Straight Connector 10"/>
          <p:cNvCxnSpPr/>
          <p:nvPr userDrawn="1"/>
        </p:nvCxnSpPr>
        <p:spPr bwMode="gray">
          <a:xfrm>
            <a:off x="552000" y="1015200"/>
            <a:ext cx="11088000" cy="0"/>
          </a:xfrm>
          <a:prstGeom prst="line">
            <a:avLst/>
          </a:prstGeom>
          <a:ln w="12700" cmpd="sng">
            <a:solidFill>
              <a:srgbClr val="D4051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3" descr="C:\MyData\Docs\01_Presentations in Progress\27183_Template2010\20140402_Formatted_Templates\DHL_rgb_BG.png"/>
          <p:cNvPicPr>
            <a:picLocks noChangeAspect="1" noChangeArrowheads="1"/>
          </p:cNvPicPr>
          <p:nvPr userDrawn="1"/>
        </p:nvPicPr>
        <p:blipFill>
          <a:blip r:embed="rId5"/>
          <a:stretch>
            <a:fillRect/>
          </a:stretch>
        </p:blipFill>
        <p:spPr bwMode="auto">
          <a:xfrm>
            <a:off x="552000" y="6278380"/>
            <a:ext cx="1680000" cy="18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500437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tags" Target="../tags/tag2.xml"/><Relationship Id="rId11" Type="http://schemas.openxmlformats.org/officeDocument/2006/relationships/oleObject" Target="../embeddings/oleObject1.bin"/><Relationship Id="rId12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theme" Target="../theme/theme2.xml"/><Relationship Id="rId10" Type="http://schemas.openxmlformats.org/officeDocument/2006/relationships/image" Target="../media/image18.png"/><Relationship Id="rId11" Type="http://schemas.openxmlformats.org/officeDocument/2006/relationships/image" Target="../media/image1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0"/>
            </p:custDataLst>
            <p:extLst>
              <p:ext uri="{D42A27DB-BD31-4B8C-83A1-F6EECF244321}">
                <p14:modId xmlns:p14="http://schemas.microsoft.com/office/powerpoint/2010/main" val="553716313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87351" y="269875"/>
            <a:ext cx="10943167" cy="90011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here to insert headline in upper case letters</a:t>
            </a:r>
          </a:p>
        </p:txBody>
      </p:sp>
      <p:sp>
        <p:nvSpPr>
          <p:cNvPr id="10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624418" y="1547813"/>
            <a:ext cx="10943167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Insert here copy text bold (first level)</a:t>
            </a:r>
          </a:p>
          <a:p>
            <a:pPr lvl="1"/>
            <a:r>
              <a:rPr lang="en-US"/>
              <a:t>Insert here copy text (second level)</a:t>
            </a:r>
          </a:p>
          <a:p>
            <a:pPr lvl="2"/>
            <a:r>
              <a:rPr lang="en-US"/>
              <a:t>Insert here bullet text (third level)</a:t>
            </a:r>
          </a:p>
          <a:p>
            <a:pPr lvl="3"/>
            <a:r>
              <a:rPr lang="en-US"/>
              <a:t>Insert here bullet text (fourth level)</a:t>
            </a:r>
          </a:p>
          <a:p>
            <a:pPr lvl="4"/>
            <a:r>
              <a:rPr lang="en-US"/>
              <a:t>Insert here bullet text (fifth level)</a:t>
            </a:r>
          </a:p>
        </p:txBody>
      </p:sp>
      <p:sp>
        <p:nvSpPr>
          <p:cNvPr id="4" name="MSIPCMContentMarking" descr="{&quot;HashCode&quot;:905108722,&quot;Placement&quot;:&quot;Header&quot;,&quot;Top&quot;:0.0,&quot;Left&quot;:0.0,&quot;SlideWidth&quot;:960,&quot;SlideHeight&quot;:540}"/>
          <p:cNvSpPr txBox="1"/>
          <p:nvPr userDrawn="1"/>
        </p:nvSpPr>
        <p:spPr>
          <a:xfrm>
            <a:off x="0" y="0"/>
            <a:ext cx="1387009" cy="23431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747474"/>
                </a:solidFill>
                <a:latin typeface="Delivery" panose="020F0503020204020204" pitchFamily="34" charset="0"/>
              </a:rPr>
              <a:t>FOR INTERNAL USE</a:t>
            </a:r>
          </a:p>
        </p:txBody>
      </p:sp>
    </p:spTree>
    <p:extLst>
      <p:ext uri="{BB962C8B-B14F-4D97-AF65-F5344CB8AC3E}">
        <p14:creationId xmlns:p14="http://schemas.microsoft.com/office/powerpoint/2010/main" val="2997223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65" r:id="rId1"/>
    <p:sldLayoutId id="2147484893" r:id="rId2"/>
    <p:sldLayoutId id="2147484894" r:id="rId3"/>
    <p:sldLayoutId id="2147484231" r:id="rId4"/>
    <p:sldLayoutId id="2147484228" r:id="rId5"/>
    <p:sldLayoutId id="2147484486" r:id="rId6"/>
    <p:sldLayoutId id="2147484867" r:id="rId7"/>
    <p:sldLayoutId id="2147484905" r:id="rId8"/>
  </p:sldLayoutIdLst>
  <p:hf hdr="0" dt="0"/>
  <p:txStyles>
    <p:titleStyle>
      <a:lvl1pPr algn="l" rtl="0" eaLnBrk="0" fontAlgn="base" hangingPunct="0">
        <a:lnSpc>
          <a:spcPts val="3200"/>
        </a:lnSpc>
        <a:spcBef>
          <a:spcPct val="0"/>
        </a:spcBef>
        <a:spcAft>
          <a:spcPct val="0"/>
        </a:spcAft>
        <a:defRPr sz="2400" kern="1200" cap="all">
          <a:solidFill>
            <a:srgbClr val="D40511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algn="l" rtl="0" eaLnBrk="0" fontAlgn="base" hangingPunct="0">
        <a:lnSpc>
          <a:spcPts val="3200"/>
        </a:lnSpc>
        <a:spcBef>
          <a:spcPct val="0"/>
        </a:spcBef>
        <a:spcAft>
          <a:spcPct val="0"/>
        </a:spcAft>
        <a:defRPr sz="2800">
          <a:solidFill>
            <a:srgbClr val="D40511"/>
          </a:solidFill>
          <a:latin typeface="Arial" pitchFamily="34" charset="0"/>
        </a:defRPr>
      </a:lvl2pPr>
      <a:lvl3pPr algn="l" rtl="0" eaLnBrk="0" fontAlgn="base" hangingPunct="0">
        <a:lnSpc>
          <a:spcPts val="3200"/>
        </a:lnSpc>
        <a:spcBef>
          <a:spcPct val="0"/>
        </a:spcBef>
        <a:spcAft>
          <a:spcPct val="0"/>
        </a:spcAft>
        <a:defRPr sz="2800">
          <a:solidFill>
            <a:srgbClr val="D40511"/>
          </a:solidFill>
          <a:latin typeface="Arial" pitchFamily="34" charset="0"/>
        </a:defRPr>
      </a:lvl3pPr>
      <a:lvl4pPr algn="l" rtl="0" eaLnBrk="0" fontAlgn="base" hangingPunct="0">
        <a:lnSpc>
          <a:spcPts val="3200"/>
        </a:lnSpc>
        <a:spcBef>
          <a:spcPct val="0"/>
        </a:spcBef>
        <a:spcAft>
          <a:spcPct val="0"/>
        </a:spcAft>
        <a:defRPr sz="2800">
          <a:solidFill>
            <a:srgbClr val="D40511"/>
          </a:solidFill>
          <a:latin typeface="Arial" pitchFamily="34" charset="0"/>
        </a:defRPr>
      </a:lvl4pPr>
      <a:lvl5pPr algn="l" rtl="0" eaLnBrk="0" fontAlgn="base" hangingPunct="0">
        <a:lnSpc>
          <a:spcPts val="3200"/>
        </a:lnSpc>
        <a:spcBef>
          <a:spcPct val="0"/>
        </a:spcBef>
        <a:spcAft>
          <a:spcPct val="0"/>
        </a:spcAft>
        <a:defRPr sz="2800">
          <a:solidFill>
            <a:srgbClr val="D40511"/>
          </a:solidFill>
          <a:latin typeface="Arial" pitchFamily="34" charset="0"/>
        </a:defRPr>
      </a:lvl5pPr>
      <a:lvl6pPr marL="457200" algn="l" rtl="0" fontAlgn="base">
        <a:lnSpc>
          <a:spcPts val="3200"/>
        </a:lnSpc>
        <a:spcBef>
          <a:spcPct val="0"/>
        </a:spcBef>
        <a:spcAft>
          <a:spcPct val="0"/>
        </a:spcAft>
        <a:defRPr sz="2800">
          <a:solidFill>
            <a:srgbClr val="D40511"/>
          </a:solidFill>
          <a:latin typeface="Arial" pitchFamily="34" charset="0"/>
        </a:defRPr>
      </a:lvl6pPr>
      <a:lvl7pPr marL="914400" algn="l" rtl="0" fontAlgn="base">
        <a:lnSpc>
          <a:spcPts val="3200"/>
        </a:lnSpc>
        <a:spcBef>
          <a:spcPct val="0"/>
        </a:spcBef>
        <a:spcAft>
          <a:spcPct val="0"/>
        </a:spcAft>
        <a:defRPr sz="2800">
          <a:solidFill>
            <a:srgbClr val="D40511"/>
          </a:solidFill>
          <a:latin typeface="Arial" pitchFamily="34" charset="0"/>
        </a:defRPr>
      </a:lvl7pPr>
      <a:lvl8pPr marL="1371600" algn="l" rtl="0" fontAlgn="base">
        <a:lnSpc>
          <a:spcPts val="3200"/>
        </a:lnSpc>
        <a:spcBef>
          <a:spcPct val="0"/>
        </a:spcBef>
        <a:spcAft>
          <a:spcPct val="0"/>
        </a:spcAft>
        <a:defRPr sz="2800">
          <a:solidFill>
            <a:srgbClr val="D40511"/>
          </a:solidFill>
          <a:latin typeface="Arial" pitchFamily="34" charset="0"/>
        </a:defRPr>
      </a:lvl8pPr>
      <a:lvl9pPr marL="1828800" algn="l" rtl="0" fontAlgn="base">
        <a:lnSpc>
          <a:spcPts val="3200"/>
        </a:lnSpc>
        <a:spcBef>
          <a:spcPct val="0"/>
        </a:spcBef>
        <a:spcAft>
          <a:spcPct val="0"/>
        </a:spcAft>
        <a:defRPr sz="2800">
          <a:solidFill>
            <a:srgbClr val="D40511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0"/>
        </a:spcBef>
        <a:spcAft>
          <a:spcPts val="500"/>
        </a:spcAft>
        <a:buFont typeface="Arial" charset="0"/>
        <a:defRPr sz="1400" b="1" kern="1200">
          <a:solidFill>
            <a:schemeClr val="tx1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0" fontAlgn="base" hangingPunct="0">
        <a:spcBef>
          <a:spcPct val="0"/>
        </a:spcBef>
        <a:spcAft>
          <a:spcPts val="500"/>
        </a:spcAft>
        <a:buFont typeface="Arial" charset="0"/>
        <a:defRPr sz="1400" kern="1200">
          <a:solidFill>
            <a:schemeClr val="tx1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79388" indent="-179388" algn="l" rtl="0" eaLnBrk="0" fontAlgn="base" hangingPunct="0">
        <a:spcBef>
          <a:spcPct val="0"/>
        </a:spcBef>
        <a:spcAft>
          <a:spcPts val="500"/>
        </a:spcAft>
        <a:buFont typeface="Arial" charset="0"/>
        <a:buChar char="•"/>
        <a:defRPr sz="1400" kern="1200">
          <a:solidFill>
            <a:schemeClr val="tx1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358775" indent="-179388" algn="l" rtl="0" eaLnBrk="0" fontAlgn="base" hangingPunct="0">
        <a:spcBef>
          <a:spcPct val="0"/>
        </a:spcBef>
        <a:spcAft>
          <a:spcPts val="500"/>
        </a:spcAft>
        <a:buFont typeface="Symbol" pitchFamily="18" charset="2"/>
        <a:buChar char="-"/>
        <a:defRPr sz="1400" kern="1200">
          <a:solidFill>
            <a:schemeClr val="tx1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539750" indent="-179388" algn="l" rtl="0" eaLnBrk="0" fontAlgn="base" hangingPunct="0">
        <a:spcBef>
          <a:spcPct val="0"/>
        </a:spcBef>
        <a:spcAft>
          <a:spcPts val="500"/>
        </a:spcAft>
        <a:buFont typeface="Arial" charset="0"/>
        <a:buChar char="•"/>
        <a:defRPr sz="1400" kern="1200">
          <a:solidFill>
            <a:schemeClr val="tx1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 21" descr="Verlauf_laengs_large_RGB.png"/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6432882"/>
            <a:ext cx="12192000" cy="42511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pic>
      <p:pic>
        <p:nvPicPr>
          <p:cNvPr id="11" name="Bild 9" descr="DHL_rgb_BG.png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355" y="6574976"/>
            <a:ext cx="1302165" cy="140930"/>
          </a:xfrm>
          <a:prstGeom prst="rect">
            <a:avLst/>
          </a:prstGeom>
        </p:spPr>
      </p:pic>
      <p:sp>
        <p:nvSpPr>
          <p:cNvPr id="6" name="Rechteck 8"/>
          <p:cNvSpPr/>
          <p:nvPr userDrawn="1"/>
        </p:nvSpPr>
        <p:spPr bwMode="auto">
          <a:xfrm>
            <a:off x="670589" y="6432882"/>
            <a:ext cx="483816" cy="2520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fld id="{2E45E626-985F-4F96-B1C4-178AC390C14C}" type="slidenum">
              <a:rPr lang="de-DE" sz="1000" smtClean="0">
                <a:solidFill>
                  <a:srgbClr val="000000"/>
                </a:solidFill>
              </a:rPr>
              <a:pPr defTabSz="995363" eaLnBrk="0" fontAlgn="base" hangingPunct="0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de-DE" sz="1000">
              <a:solidFill>
                <a:srgbClr val="000000"/>
              </a:solidFill>
            </a:endParaRPr>
          </a:p>
        </p:txBody>
      </p:sp>
      <p:cxnSp>
        <p:nvCxnSpPr>
          <p:cNvPr id="8" name="Gerade Verbindung 8"/>
          <p:cNvCxnSpPr/>
          <p:nvPr userDrawn="1"/>
        </p:nvCxnSpPr>
        <p:spPr>
          <a:xfrm>
            <a:off x="0" y="867103"/>
            <a:ext cx="12192000" cy="0"/>
          </a:xfrm>
          <a:prstGeom prst="line">
            <a:avLst/>
          </a:prstGeom>
          <a:ln w="12700" cmpd="sng">
            <a:solidFill>
              <a:srgbClr val="D4051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SIPCMContentMarking" descr="{&quot;HashCode&quot;:905108722,&quot;Placement&quot;:&quot;Header&quot;,&quot;Top&quot;:0.0,&quot;Left&quot;:0.0,&quot;SlideWidth&quot;:960,&quot;SlideHeight&quot;:540}"/>
          <p:cNvSpPr txBox="1"/>
          <p:nvPr userDrawn="1"/>
        </p:nvSpPr>
        <p:spPr>
          <a:xfrm>
            <a:off x="0" y="0"/>
            <a:ext cx="1387009" cy="23431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747474"/>
                </a:solidFill>
                <a:latin typeface="Delivery" panose="020F0503020204020204" pitchFamily="34" charset="0"/>
              </a:rPr>
              <a:t>FOR INTERNAL USE</a:t>
            </a:r>
          </a:p>
        </p:txBody>
      </p:sp>
    </p:spTree>
    <p:extLst>
      <p:ext uri="{BB962C8B-B14F-4D97-AF65-F5344CB8AC3E}">
        <p14:creationId xmlns:p14="http://schemas.microsoft.com/office/powerpoint/2010/main" val="1566440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07" r:id="rId1"/>
    <p:sldLayoutId id="2147484908" r:id="rId2"/>
    <p:sldLayoutId id="2147484909" r:id="rId3"/>
    <p:sldLayoutId id="2147484910" r:id="rId4"/>
    <p:sldLayoutId id="2147484911" r:id="rId5"/>
    <p:sldLayoutId id="2147484912" r:id="rId6"/>
    <p:sldLayoutId id="2147484913" r:id="rId7"/>
    <p:sldLayoutId id="2147484914" r:id="rId8"/>
  </p:sldLayoutIdLst>
  <p:hf hdr="0" dt="0"/>
  <p:txStyles>
    <p:titleStyle>
      <a:lvl1pPr algn="l" defTabSz="914400" rtl="0" eaLnBrk="1" latinLnBrk="0" hangingPunct="1">
        <a:lnSpc>
          <a:spcPts val="3200"/>
        </a:lnSpc>
        <a:spcBef>
          <a:spcPct val="0"/>
        </a:spcBef>
        <a:buNone/>
        <a:defRPr sz="2800" kern="1200" cap="all" baseline="0">
          <a:solidFill>
            <a:srgbClr val="D4051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500"/>
        </a:spcAft>
        <a:buFont typeface="Arial" pitchFamily="34" charset="0"/>
        <a:buNone/>
        <a:defRPr sz="14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spcBef>
          <a:spcPts val="0"/>
        </a:spcBef>
        <a:spcAft>
          <a:spcPts val="500"/>
        </a:spcAft>
        <a:buFont typeface="Arial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spcBef>
          <a:spcPts val="0"/>
        </a:spcBef>
        <a:spcAft>
          <a:spcPts val="500"/>
        </a:spcAft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spcBef>
          <a:spcPts val="0"/>
        </a:spcBef>
        <a:spcAft>
          <a:spcPts val="50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spcBef>
          <a:spcPts val="0"/>
        </a:spcBef>
        <a:spcAft>
          <a:spcPts val="500"/>
        </a:spcAft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28.png"/><Relationship Id="rId4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28.png"/><Relationship Id="rId4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28.png"/><Relationship Id="rId4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/>
            </a:br>
            <a:r>
              <a:rPr lang="en-US"/>
              <a:t>key accounts desk</a:t>
            </a:r>
            <a:br>
              <a:rPr lang="en-US"/>
            </a:br>
            <a:r>
              <a:rPr lang="en-US"/>
              <a:t>Country Performance Review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624" y="3060776"/>
            <a:ext cx="8312877" cy="760959"/>
          </a:xfrm>
        </p:spPr>
        <p:txBody>
          <a:bodyPr/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Mexico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June 2026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2379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24" name="Rectangle 23"/>
          <p:cNvSpPr/>
          <p:nvPr/>
        </p:nvSpPr>
        <p:spPr bwMode="auto">
          <a:xfrm>
            <a:off x="2599115" y="1628489"/>
            <a:ext cx="7438218" cy="549935"/>
          </a:xfrm>
          <a:prstGeom prst="rect">
            <a:avLst/>
          </a:prstGeom>
          <a:solidFill>
            <a:srgbClr val="FFDB4C">
              <a:alpha val="35000"/>
            </a:srgbClr>
          </a:solidFill>
          <a:ln w="25400">
            <a:gradFill flip="none" rotWithShape="1">
              <a:gsLst>
                <a:gs pos="0">
                  <a:schemeClr val="tx1">
                    <a:lumMod val="65000"/>
                    <a:lumOff val="35000"/>
                  </a:schemeClr>
                </a:gs>
                <a:gs pos="100000">
                  <a:srgbClr val="FFCC00"/>
                </a:gs>
              </a:gsLst>
              <a:path path="circle">
                <a:fillToRect l="100000" t="100000"/>
              </a:path>
              <a:tileRect r="-100000" b="-100000"/>
            </a:gradFill>
            <a:round/>
            <a:headEnd/>
            <a:tailEnd/>
          </a:ln>
          <a:effectLst/>
        </p:spPr>
        <p:txBody>
          <a:bodyPr wrap="none" lIns="144000" tIns="144000" rIns="144000" bIns="144000" anchor="ctr"/>
          <a:lstStyle/>
          <a:p>
            <a:pPr defTabSz="995363" eaLnBrk="0" hangingPunct="0"/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  <a:latin typeface="Frutiger" panose="020B0500000000000000" pitchFamily="34" charset="0"/>
              </a:rPr>
              <a:t>OVERALL COUNTRY PERFORMANCE</a:t>
            </a:r>
          </a:p>
        </p:txBody>
      </p:sp>
      <p:sp>
        <p:nvSpPr>
          <p:cNvPr id="28" name="Rectangle 27"/>
          <p:cNvSpPr/>
          <p:nvPr/>
        </p:nvSpPr>
        <p:spPr bwMode="auto">
          <a:xfrm>
            <a:off x="2073335" y="1632430"/>
            <a:ext cx="443058" cy="548018"/>
          </a:xfrm>
          <a:prstGeom prst="rect">
            <a:avLst/>
          </a:prstGeom>
          <a:solidFill>
            <a:srgbClr val="FFDB4C">
              <a:alpha val="35000"/>
            </a:srgbClr>
          </a:solidFill>
          <a:ln w="25400">
            <a:solidFill>
              <a:srgbClr val="FFCC00"/>
            </a:solidFill>
            <a:round/>
            <a:headEnd/>
            <a:tailEnd/>
          </a:ln>
          <a:effectLst/>
        </p:spPr>
        <p:txBody>
          <a:bodyPr wrap="none" lIns="144000" tIns="144000" rIns="144000" bIns="144000" anchor="ctr"/>
          <a:lstStyle/>
          <a:p>
            <a:pPr algn="ctr" defTabSz="995363" eaLnBrk="0" hangingPunct="0"/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  <a:latin typeface="Frutiger" panose="020B0500000000000000" pitchFamily="34" charset="0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 bwMode="auto">
          <a:xfrm>
            <a:off x="2599115" y="2318771"/>
            <a:ext cx="7438218" cy="549935"/>
          </a:xfrm>
          <a:prstGeom prst="rect">
            <a:avLst/>
          </a:prstGeom>
          <a:solidFill>
            <a:schemeClr val="bg1">
              <a:alpha val="35000"/>
            </a:schemeClr>
          </a:solidFill>
          <a:ln w="25400">
            <a:gradFill flip="none" rotWithShape="1">
              <a:gsLst>
                <a:gs pos="0">
                  <a:schemeClr val="tx1">
                    <a:lumMod val="65000"/>
                    <a:lumOff val="35000"/>
                  </a:schemeClr>
                </a:gs>
                <a:gs pos="100000">
                  <a:srgbClr val="FFCC00"/>
                </a:gs>
              </a:gsLst>
              <a:path path="circle">
                <a:fillToRect l="100000" t="100000"/>
              </a:path>
              <a:tileRect r="-100000" b="-100000"/>
            </a:gradFill>
            <a:round/>
            <a:headEnd/>
            <a:tailEnd/>
          </a:ln>
          <a:effectLst/>
        </p:spPr>
        <p:txBody>
          <a:bodyPr wrap="none" lIns="144000" tIns="144000" rIns="144000" bIns="144000" anchor="ctr"/>
          <a:lstStyle/>
          <a:p>
            <a:pPr defTabSz="995363" eaLnBrk="0" hangingPunct="0"/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  <a:latin typeface="Frutiger" panose="020B0500000000000000" pitchFamily="34" charset="0"/>
              </a:rPr>
              <a:t>CUSTOMER PERFORMANCE</a:t>
            </a:r>
          </a:p>
        </p:txBody>
      </p:sp>
      <p:sp>
        <p:nvSpPr>
          <p:cNvPr id="33" name="Rectangle 32"/>
          <p:cNvSpPr/>
          <p:nvPr/>
        </p:nvSpPr>
        <p:spPr bwMode="auto">
          <a:xfrm>
            <a:off x="2073335" y="2322712"/>
            <a:ext cx="443058" cy="548018"/>
          </a:xfrm>
          <a:prstGeom prst="rect">
            <a:avLst/>
          </a:prstGeom>
          <a:solidFill>
            <a:schemeClr val="bg1">
              <a:alpha val="35000"/>
            </a:schemeClr>
          </a:solidFill>
          <a:ln w="25400">
            <a:solidFill>
              <a:srgbClr val="FFCC00"/>
            </a:solidFill>
            <a:round/>
            <a:headEnd/>
            <a:tailEnd/>
          </a:ln>
          <a:effectLst/>
        </p:spPr>
        <p:txBody>
          <a:bodyPr wrap="none" lIns="144000" tIns="144000" rIns="144000" bIns="144000" anchor="ctr"/>
          <a:lstStyle/>
          <a:p>
            <a:pPr algn="ctr" defTabSz="995363" eaLnBrk="0" hangingPunct="0"/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  <a:latin typeface="Frutiger" panose="020B0500000000000000" pitchFamily="34" charset="0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 bwMode="auto">
          <a:xfrm>
            <a:off x="2599115" y="3009053"/>
            <a:ext cx="7438218" cy="549935"/>
          </a:xfrm>
          <a:prstGeom prst="rect">
            <a:avLst/>
          </a:prstGeom>
          <a:solidFill>
            <a:schemeClr val="bg1">
              <a:alpha val="35000"/>
            </a:schemeClr>
          </a:solidFill>
          <a:ln w="25400">
            <a:gradFill flip="none" rotWithShape="1">
              <a:gsLst>
                <a:gs pos="0">
                  <a:schemeClr val="tx1">
                    <a:lumMod val="65000"/>
                    <a:lumOff val="35000"/>
                  </a:schemeClr>
                </a:gs>
                <a:gs pos="100000">
                  <a:srgbClr val="FFCC00"/>
                </a:gs>
              </a:gsLst>
              <a:path path="circle">
                <a:fillToRect l="100000" t="100000"/>
              </a:path>
              <a:tileRect r="-100000" b="-100000"/>
            </a:gradFill>
            <a:round/>
            <a:headEnd/>
            <a:tailEnd/>
          </a:ln>
          <a:effectLst/>
        </p:spPr>
        <p:txBody>
          <a:bodyPr wrap="none" lIns="144000" tIns="144000" rIns="144000" bIns="144000" anchor="ctr"/>
          <a:lstStyle/>
          <a:p>
            <a:pPr defTabSz="995363" eaLnBrk="0" hangingPunct="0"/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  <a:latin typeface="Frutiger" panose="020B0500000000000000" pitchFamily="34" charset="0"/>
              </a:rPr>
              <a:t>SPECIAL TOPICS</a:t>
            </a:r>
          </a:p>
        </p:txBody>
      </p:sp>
      <p:sp>
        <p:nvSpPr>
          <p:cNvPr id="36" name="Rectangle 35"/>
          <p:cNvSpPr/>
          <p:nvPr/>
        </p:nvSpPr>
        <p:spPr bwMode="auto">
          <a:xfrm>
            <a:off x="2073335" y="3012994"/>
            <a:ext cx="443058" cy="548018"/>
          </a:xfrm>
          <a:prstGeom prst="rect">
            <a:avLst/>
          </a:prstGeom>
          <a:solidFill>
            <a:schemeClr val="bg1">
              <a:alpha val="35000"/>
            </a:schemeClr>
          </a:solidFill>
          <a:ln w="25400">
            <a:solidFill>
              <a:srgbClr val="FFCC00"/>
            </a:solidFill>
            <a:round/>
            <a:headEnd/>
            <a:tailEnd/>
          </a:ln>
          <a:effectLst/>
        </p:spPr>
        <p:txBody>
          <a:bodyPr wrap="none" lIns="144000" tIns="144000" rIns="144000" bIns="144000" anchor="ctr"/>
          <a:lstStyle/>
          <a:p>
            <a:pPr algn="ctr" defTabSz="995363" eaLnBrk="0" hangingPunct="0"/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  <a:latin typeface="Frutiger" panose="020B0500000000000000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168250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 anchor="b"/>
          <a:lstStyle/>
          <a:p>
            <a:pPr algn="ctr"/>
            <a:r>
              <a:rPr 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homa" pitchFamily="34" charset="0"/>
                <a:ea typeface="Tahoma" pitchFamily="34" charset="0"/>
                <a:cs typeface="Tahoma" pitchFamily="34" charset="0"/>
              </a:rPr>
              <a:t>Country Performance</a:t>
            </a:r>
          </a:p>
        </p:txBody>
      </p:sp>
    </p:spTree>
    <p:extLst>
      <p:ext uri="{BB962C8B-B14F-4D97-AF65-F5344CB8AC3E}">
        <p14:creationId xmlns:p14="http://schemas.microsoft.com/office/powerpoint/2010/main" val="2168906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/>
              <a:t>       Overall country Performance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80CF20-9D7B-9C52-CEFA-6DCA6A5E0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67" y="1048442"/>
            <a:ext cx="8719123" cy="25509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CA019D-58FB-DF2C-174F-A3EC3BF0B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167" y="3572750"/>
            <a:ext cx="8719123" cy="247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796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 anchor="b"/>
          <a:lstStyle/>
          <a:p>
            <a:pPr algn="ctr"/>
            <a:r>
              <a:rPr 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homa" pitchFamily="34" charset="0"/>
                <a:ea typeface="Tahoma" pitchFamily="34" charset="0"/>
                <a:cs typeface="Tahoma" pitchFamily="34" charset="0"/>
              </a:rPr>
              <a:t>Customer Performance</a:t>
            </a:r>
          </a:p>
        </p:txBody>
      </p:sp>
    </p:spTree>
    <p:extLst>
      <p:ext uri="{BB962C8B-B14F-4D97-AF65-F5344CB8AC3E}">
        <p14:creationId xmlns:p14="http://schemas.microsoft.com/office/powerpoint/2010/main" val="26580283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 anchor="b"/>
          <a:lstStyle/>
          <a:p>
            <a:pPr algn="ctr"/>
            <a:r>
              <a:rPr 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homa" pitchFamily="34" charset="0"/>
                <a:ea typeface="Tahoma" pitchFamily="34" charset="0"/>
                <a:cs typeface="Tahoma" pitchFamily="34" charset="0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871508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 anchor="b"/>
          <a:lstStyle/>
          <a:p>
            <a:pPr algn="ctr"/>
            <a:r>
              <a:rPr 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homa" pitchFamily="34" charset="0"/>
                <a:ea typeface="Tahoma" pitchFamily="34" charset="0"/>
                <a:cs typeface="Tahoma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033529795"/>
      </p:ext>
    </p:extLst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1519583" y="142614"/>
            <a:ext cx="9708397" cy="814388"/>
          </a:xfrm>
        </p:spPr>
        <p:txBody>
          <a:bodyPr/>
          <a:lstStyle/>
          <a:p>
            <a:r>
              <a:rPr lang="en-US" sz="3000"/>
              <a:t>Nokia — Net terms: TBD          Go Live: TBD</a:t>
            </a:r>
          </a:p>
        </p:txBody>
      </p:sp>
      <p:pic>
        <p:nvPicPr>
          <p:cNvPr id="98713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5783" y="317795"/>
            <a:ext cx="1201737" cy="463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Rectangle 6"/>
          <p:cNvSpPr/>
          <p:nvPr/>
        </p:nvSpPr>
        <p:spPr>
          <a:xfrm>
            <a:off x="7359082" y="2364859"/>
            <a:ext cx="2487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latin typeface="Arial" charset="0"/>
              </a:rPr>
              <a:t> </a:t>
            </a:r>
            <a:endParaRPr lang="en-US"/>
          </a:p>
        </p:txBody>
      </p:sp>
      <p:sp>
        <p:nvSpPr>
          <p:cNvPr id="13" name="Rounded Rectangle 12"/>
          <p:cNvSpPr/>
          <p:nvPr/>
        </p:nvSpPr>
        <p:spPr bwMode="auto">
          <a:xfrm>
            <a:off x="98657" y="971550"/>
            <a:ext cx="1791828" cy="625914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>
                <a:latin typeface="Arial" charset="0"/>
              </a:rPr>
              <a:t>AMKAD POC:</a:t>
            </a:r>
          </a:p>
          <a:p>
            <a:pPr marL="0" marR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sz="1400" i="1">
                <a:solidFill>
                  <a:srgbClr val="0070C0"/>
                </a:solidFill>
                <a:latin typeface="Arial" charset="0"/>
              </a:rPr>
              <a:t>— fill in —</a:t>
            </a:r>
          </a:p>
        </p:txBody>
      </p:sp>
      <p:sp>
        <p:nvSpPr>
          <p:cNvPr id="5" name="Rectangle 4"/>
          <p:cNvSpPr/>
          <p:nvPr/>
        </p:nvSpPr>
        <p:spPr>
          <a:xfrm>
            <a:off x="8593405" y="3830576"/>
            <a:ext cx="3352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</a:t>
            </a:r>
            <a:endParaRPr lang="en-US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183E30-EB17-EC97-3ADA-6B96BE41B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538" y="974338"/>
            <a:ext cx="9413750" cy="24906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6FEFF2-A39E-453E-90E5-BD4F1F4DB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538" y="3482308"/>
            <a:ext cx="9413750" cy="241272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Rectangle 15"/>
          <p:cNvSpPr/>
          <p:nvPr/>
        </p:nvSpPr>
        <p:spPr bwMode="auto">
          <a:xfrm>
            <a:off x="7717601" y="1147548"/>
            <a:ext cx="2845820" cy="3824923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741135" y="368629"/>
            <a:ext cx="8756594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/>
                <a:ea typeface="MS PGothic"/>
              </a:rPr>
              <a:t>Nokia  MX –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/>
                <a:ea typeface="MS PGothic"/>
              </a:rPr>
              <a:t>ACCOUNT BUSINESS REVIEW    		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/>
                <a:ea typeface="MS PGothic"/>
              </a:rPr>
              <a:t> Date: </a:t>
            </a:r>
            <a:r>
              <a:rPr lang="en-US" sz="1100" b="1" dirty="0">
                <a:solidFill>
                  <a:srgbClr val="D40511"/>
                </a:solidFill>
                <a:latin typeface="DeutschePost-MedCn"/>
                <a:ea typeface="MS PGothic"/>
              </a:rPr>
              <a:t>June 22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/>
                <a:ea typeface="MS PGothic"/>
              </a:rPr>
              <a:t>, </a:t>
            </a:r>
            <a:r>
              <a:rPr lang="en-US" sz="1100" b="1" dirty="0">
                <a:solidFill>
                  <a:srgbClr val="D40511"/>
                </a:solidFill>
                <a:latin typeface="DeutschePost-MedCn"/>
                <a:ea typeface="MS PGothic"/>
              </a:rPr>
              <a:t>2026</a:t>
            </a:r>
            <a:endParaRPr lang="en-US" sz="1600" b="1" i="0" u="none" strike="noStrike" kern="1200" cap="none" spc="0" normalizeH="0" baseline="0" noProof="0" dirty="0">
              <a:ln>
                <a:noFill/>
              </a:ln>
              <a:solidFill>
                <a:srgbClr val="D40511"/>
              </a:solidFill>
              <a:effectLst/>
              <a:uLnTx/>
              <a:uFillTx/>
              <a:latin typeface="DeutschePost-MedCn"/>
              <a:ea typeface="MS PGothic"/>
            </a:endParaRPr>
          </a:p>
        </p:txBody>
      </p:sp>
      <p:sp>
        <p:nvSpPr>
          <p:cNvPr id="3" name="Rectangle 2"/>
          <p:cNvSpPr/>
          <p:nvPr/>
        </p:nvSpPr>
        <p:spPr bwMode="auto">
          <a:xfrm>
            <a:off x="1577341" y="1137172"/>
            <a:ext cx="3141308" cy="3828875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4745998" y="1147547"/>
            <a:ext cx="2966157" cy="3808120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1577341" y="4966048"/>
            <a:ext cx="8991524" cy="1444738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1570625" y="900649"/>
            <a:ext cx="3145157" cy="250854"/>
          </a:xfrm>
          <a:prstGeom prst="rect">
            <a:avLst/>
          </a:prstGeom>
          <a:solidFill>
            <a:schemeClr val="accent3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 panose="020B0500000000000000" pitchFamily="34" charset="0"/>
                <a:ea typeface="+mn-ea"/>
                <a:cs typeface="+mn-cs"/>
              </a:rPr>
              <a:t>MAIN ISSUES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4739736" y="900649"/>
            <a:ext cx="2961468" cy="250854"/>
          </a:xfrm>
          <a:prstGeom prst="rect">
            <a:avLst/>
          </a:prstGeom>
          <a:solidFill>
            <a:schemeClr val="accent3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 panose="020B0500000000000000" pitchFamily="34" charset="0"/>
                <a:ea typeface="+mn-ea"/>
                <a:cs typeface="+mn-cs"/>
              </a:rPr>
              <a:t>CURRENT ACTIONS / SUPPORT NEEDED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7732630" y="896694"/>
            <a:ext cx="2830790" cy="250854"/>
          </a:xfrm>
          <a:prstGeom prst="rect">
            <a:avLst/>
          </a:prstGeom>
          <a:solidFill>
            <a:schemeClr val="accent3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 panose="020B0500000000000000" pitchFamily="34" charset="0"/>
                <a:ea typeface="+mn-ea"/>
                <a:cs typeface="+mn-cs"/>
              </a:rPr>
              <a:t>PAYMENTS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926" y="1372304"/>
            <a:ext cx="2949759" cy="18004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28600" marR="0" lvl="0" indent="-17145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900" dirty="0">
              <a:solidFill>
                <a:srgbClr val="000000"/>
              </a:solidFill>
              <a:latin typeface="Arial"/>
            </a:endParaRPr>
          </a:p>
          <a:p>
            <a:pPr marL="57150" marR="0" lvl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lang="en-US" sz="1050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en-US" sz="1000" b="1" dirty="0">
                <a:solidFill>
                  <a:srgbClr val="000000"/>
                </a:solidFill>
                <a:latin typeface="DeutschePost-MedCn" panose="020B0500000000000000"/>
              </a:rPr>
              <a:t/>
            </a:r>
            <a:r>
              <a:rPr lang="en-US" sz="1000" dirty="0">
                <a:solidFill>
                  <a:srgbClr val="000000"/>
                </a:solidFill>
                <a:latin typeface="DeutschePost-MedCn" panose="020B0500000000000000"/>
              </a:rPr>
              <a:t/>
            </a: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en-US" sz="1000" b="1" dirty="0">
                <a:solidFill>
                  <a:srgbClr val="000000"/>
                </a:solidFill>
                <a:latin typeface="DeutschePost-MedCn" panose="020B0500000000000000"/>
              </a:rPr>
              <a:t/>
            </a:r>
            <a:r>
              <a:rPr lang="en-US" sz="1000" dirty="0">
                <a:solidFill>
                  <a:srgbClr val="000000"/>
                </a:solidFill>
                <a:latin typeface="DeutschePost-MedCn" panose="020B0500000000000000"/>
              </a:rPr>
              <a:t/>
            </a: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dirty="0">
              <a:solidFill>
                <a:srgbClr val="000000"/>
              </a:solidFill>
            </a:endParaRPr>
          </a:p>
          <a:p>
            <a:pPr marL="228600" marR="0" lvl="0" indent="-17145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57150" marR="0" lvl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lang="en-US" sz="1050" b="1" dirty="0">
              <a:solidFill>
                <a:srgbClr val="000000"/>
              </a:solidFill>
              <a:latin typeface="DeutschePost-MedCn" panose="020B050000000000000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736580" y="1372304"/>
            <a:ext cx="2927293" cy="206210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rgbClr val="000000"/>
                </a:solidFill>
                <a:latin typeface="Arial"/>
              </a:rPr>
              <a:t>Nokia MX- TTL AR: € 1,988,894 </a:t>
            </a: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rgbClr val="000000"/>
                </a:solidFill>
                <a:latin typeface="Arial"/>
              </a:rPr>
              <a:t>       Past Due: € 97,824</a:t>
            </a: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rgbClr val="000000"/>
                </a:solidFill>
                <a:latin typeface="Arial"/>
              </a:rPr>
              <a:t>       Over 90: € 90,706</a:t>
            </a: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rgbClr val="000000"/>
                </a:solidFill>
                <a:latin typeface="Arial"/>
              </a:rPr>
              <a:t>	</a:t>
            </a: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628650" marR="0" lvl="1" indent="-17145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900" dirty="0">
              <a:solidFill>
                <a:srgbClr val="000000"/>
              </a:solidFill>
              <a:latin typeface="Arial"/>
            </a:endParaRPr>
          </a:p>
          <a:p>
            <a:pPr marR="0" lvl="1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lang="en-US" sz="900" dirty="0">
              <a:solidFill>
                <a:srgbClr val="000000"/>
              </a:solidFill>
              <a:latin typeface="Arial"/>
            </a:endParaRPr>
          </a:p>
          <a:p>
            <a:pPr marR="0" lvl="1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lang="en-US" sz="900" dirty="0">
              <a:solidFill>
                <a:srgbClr val="000000"/>
              </a:solidFill>
              <a:latin typeface="Arial"/>
            </a:endParaRPr>
          </a:p>
          <a:p>
            <a:pPr marL="457200" marR="0" lvl="1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EC1554-C000-F311-6B95-AC2942A31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3484320"/>
              </p:ext>
            </p:extLst>
          </p:nvPr>
        </p:nvGraphicFramePr>
        <p:xfrm>
          <a:off x="1577341" y="4972471"/>
          <a:ext cx="8986079" cy="1434050"/>
        </p:xfrm>
        <a:graphic>
          <a:graphicData uri="http://schemas.openxmlformats.org/drawingml/2006/table">
            <a:tbl>
              <a:tblPr/>
              <a:tblGrid>
                <a:gridCol w="2348783">
                  <a:extLst>
                    <a:ext uri="{9D8B030D-6E8A-4147-A177-3AD203B41FA5}">
                      <a16:colId xmlns:a16="http://schemas.microsoft.com/office/drawing/2014/main" val="1332086851"/>
                    </a:ext>
                  </a:extLst>
                </a:gridCol>
                <a:gridCol w="1161197">
                  <a:extLst>
                    <a:ext uri="{9D8B030D-6E8A-4147-A177-3AD203B41FA5}">
                      <a16:colId xmlns:a16="http://schemas.microsoft.com/office/drawing/2014/main" val="846566043"/>
                    </a:ext>
                  </a:extLst>
                </a:gridCol>
                <a:gridCol w="989657">
                  <a:extLst>
                    <a:ext uri="{9D8B030D-6E8A-4147-A177-3AD203B41FA5}">
                      <a16:colId xmlns:a16="http://schemas.microsoft.com/office/drawing/2014/main" val="533250894"/>
                    </a:ext>
                  </a:extLst>
                </a:gridCol>
                <a:gridCol w="897288">
                  <a:extLst>
                    <a:ext uri="{9D8B030D-6E8A-4147-A177-3AD203B41FA5}">
                      <a16:colId xmlns:a16="http://schemas.microsoft.com/office/drawing/2014/main" val="2133618482"/>
                    </a:ext>
                  </a:extLst>
                </a:gridCol>
                <a:gridCol w="989657">
                  <a:extLst>
                    <a:ext uri="{9D8B030D-6E8A-4147-A177-3AD203B41FA5}">
                      <a16:colId xmlns:a16="http://schemas.microsoft.com/office/drawing/2014/main" val="609552570"/>
                    </a:ext>
                  </a:extLst>
                </a:gridCol>
                <a:gridCol w="989657">
                  <a:extLst>
                    <a:ext uri="{9D8B030D-6E8A-4147-A177-3AD203B41FA5}">
                      <a16:colId xmlns:a16="http://schemas.microsoft.com/office/drawing/2014/main" val="497591631"/>
                    </a:ext>
                  </a:extLst>
                </a:gridCol>
                <a:gridCol w="804920">
                  <a:extLst>
                    <a:ext uri="{9D8B030D-6E8A-4147-A177-3AD203B41FA5}">
                      <a16:colId xmlns:a16="http://schemas.microsoft.com/office/drawing/2014/main" val="772962368"/>
                    </a:ext>
                  </a:extLst>
                </a:gridCol>
                <a:gridCol w="804920">
                  <a:extLst>
                    <a:ext uri="{9D8B030D-6E8A-4147-A177-3AD203B41FA5}">
                      <a16:colId xmlns:a16="http://schemas.microsoft.com/office/drawing/2014/main" val="1466060582"/>
                    </a:ext>
                  </a:extLst>
                </a:gridCol>
              </a:tblGrid>
              <a:tr h="71702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D40511"/>
                          </a:solidFill>
                          <a:effectLst/>
                          <a:latin typeface="DeutschePost-MedCn" panose="020B0500000000000000"/>
                        </a:rPr>
                        <a:t>FINANCIALS PERFORMANCE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Total AR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Current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Overdue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0-30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31-60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61-90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&gt;90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5059545"/>
                  </a:ext>
                </a:extLst>
              </a:tr>
              <a:tr h="717025"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€ 1,988,894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€ 1,891,070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€ 97,824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€ 90,706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232412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B2DA265-3A8F-D9C7-D799-407C30D46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5780484"/>
              </p:ext>
            </p:extLst>
          </p:nvPr>
        </p:nvGraphicFramePr>
        <p:xfrm>
          <a:off x="7733999" y="1147547"/>
          <a:ext cx="2845819" cy="1714342"/>
        </p:xfrm>
        <a:graphic>
          <a:graphicData uri="http://schemas.openxmlformats.org/drawingml/2006/table">
            <a:tbl>
              <a:tblPr/>
              <a:tblGrid>
                <a:gridCol w="2113699">
                  <a:extLst>
                    <a:ext uri="{9D8B030D-6E8A-4147-A177-3AD203B41FA5}">
                      <a16:colId xmlns:a16="http://schemas.microsoft.com/office/drawing/2014/main" val="1846450647"/>
                    </a:ext>
                  </a:extLst>
                </a:gridCol>
                <a:gridCol w="732120">
                  <a:extLst>
                    <a:ext uri="{9D8B030D-6E8A-4147-A177-3AD203B41FA5}">
                      <a16:colId xmlns:a16="http://schemas.microsoft.com/office/drawing/2014/main" val="2387316505"/>
                    </a:ext>
                  </a:extLst>
                </a:gridCol>
              </a:tblGrid>
              <a:tr h="33439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900" b="0" i="0" u="none" strike="noStrike">
                          <a:solidFill>
                            <a:srgbClr val="0000FF"/>
                          </a:solidFill>
                          <a:effectLst/>
                          <a:latin typeface="DeutschePost-MedCn" panose="020B0500000000000000"/>
                        </a:rPr>
                        <a:t>Cash Forecasting / Payments Summary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900" b="0" i="0" u="none" strike="noStrike">
                          <a:solidFill>
                            <a:srgbClr val="0000FF"/>
                          </a:solidFill>
                          <a:effectLst/>
                          <a:latin typeface="DeutschePost-MedCn" panose="020B0500000000000000"/>
                        </a:rPr>
                        <a:t>EUR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2887930"/>
                  </a:ext>
                </a:extLst>
              </a:tr>
              <a:tr h="45974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Payments In House Pending Application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425116"/>
                  </a:ext>
                </a:extLst>
              </a:tr>
              <a:tr h="27115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 dirty="0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Expected payments by EOM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7096826"/>
                  </a:ext>
                </a:extLst>
              </a:tr>
              <a:tr h="2163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Forecasted Overdue EOM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82916"/>
                  </a:ext>
                </a:extLst>
              </a:tr>
              <a:tr h="2163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Forecasted &gt;60 EOM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2658117"/>
                  </a:ext>
                </a:extLst>
              </a:tr>
              <a:tr h="2163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Forecasted &gt;90 EOM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67772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1519583" y="142614"/>
            <a:ext cx="9708397" cy="814388"/>
          </a:xfrm>
        </p:spPr>
        <p:txBody>
          <a:bodyPr/>
          <a:lstStyle/>
          <a:p>
            <a:r>
              <a:rPr lang="en-US" sz="3000"/>
              <a:t>Lenovo/Motorola — Net terms: TBD          Go Live: TBD</a:t>
            </a:r>
          </a:p>
        </p:txBody>
      </p:sp>
      <p:pic>
        <p:nvPicPr>
          <p:cNvPr id="98713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5783" y="317795"/>
            <a:ext cx="1201737" cy="463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Rectangle 6"/>
          <p:cNvSpPr/>
          <p:nvPr/>
        </p:nvSpPr>
        <p:spPr>
          <a:xfrm>
            <a:off x="7359082" y="2364859"/>
            <a:ext cx="2487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latin typeface="Arial" charset="0"/>
              </a:rPr>
              <a:t> </a:t>
            </a:r>
            <a:endParaRPr lang="en-US"/>
          </a:p>
        </p:txBody>
      </p:sp>
      <p:sp>
        <p:nvSpPr>
          <p:cNvPr id="13" name="Rounded Rectangle 12"/>
          <p:cNvSpPr/>
          <p:nvPr/>
        </p:nvSpPr>
        <p:spPr bwMode="auto">
          <a:xfrm>
            <a:off x="98657" y="971550"/>
            <a:ext cx="1791828" cy="625914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>
                <a:latin typeface="Arial" charset="0"/>
              </a:rPr>
              <a:t>AMKAD POC:</a:t>
            </a:r>
          </a:p>
          <a:p>
            <a:pPr marL="0" marR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sz="1400" i="1">
                <a:solidFill>
                  <a:srgbClr val="0070C0"/>
                </a:solidFill>
                <a:latin typeface="Arial" charset="0"/>
              </a:rPr>
              <a:t>— fill in —</a:t>
            </a:r>
          </a:p>
        </p:txBody>
      </p:sp>
      <p:sp>
        <p:nvSpPr>
          <p:cNvPr id="5" name="Rectangle 4"/>
          <p:cNvSpPr/>
          <p:nvPr/>
        </p:nvSpPr>
        <p:spPr>
          <a:xfrm>
            <a:off x="8593405" y="3830576"/>
            <a:ext cx="3352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</a:t>
            </a:r>
            <a:endParaRPr lang="en-US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183E30-EB17-EC97-3ADA-6B96BE41B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538" y="974338"/>
            <a:ext cx="9413750" cy="24906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6FEFF2-A39E-453E-90E5-BD4F1F4DB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538" y="3482308"/>
            <a:ext cx="9413750" cy="241272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Rectangle 15"/>
          <p:cNvSpPr/>
          <p:nvPr/>
        </p:nvSpPr>
        <p:spPr bwMode="auto">
          <a:xfrm>
            <a:off x="7717601" y="1147548"/>
            <a:ext cx="2845820" cy="3824923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741135" y="368629"/>
            <a:ext cx="8756594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/>
                <a:ea typeface="MS PGothic"/>
              </a:rPr>
              <a:t>Lenovo/Motorola  MX –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/>
                <a:ea typeface="MS PGothic"/>
              </a:rPr>
              <a:t>ACCOUNT BUSINESS REVIEW    		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/>
                <a:ea typeface="MS PGothic"/>
              </a:rPr>
              <a:t> Date: </a:t>
            </a:r>
            <a:r>
              <a:rPr lang="en-US" sz="1100" b="1" dirty="0">
                <a:solidFill>
                  <a:srgbClr val="D40511"/>
                </a:solidFill>
                <a:latin typeface="DeutschePost-MedCn"/>
                <a:ea typeface="MS PGothic"/>
              </a:rPr>
              <a:t>June 22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/>
                <a:ea typeface="MS PGothic"/>
              </a:rPr>
              <a:t>, </a:t>
            </a:r>
            <a:r>
              <a:rPr lang="en-US" sz="1100" b="1" dirty="0">
                <a:solidFill>
                  <a:srgbClr val="D40511"/>
                </a:solidFill>
                <a:latin typeface="DeutschePost-MedCn"/>
                <a:ea typeface="MS PGothic"/>
              </a:rPr>
              <a:t>2026</a:t>
            </a:r>
            <a:endParaRPr lang="en-US" sz="1600" b="1" i="0" u="none" strike="noStrike" kern="1200" cap="none" spc="0" normalizeH="0" baseline="0" noProof="0" dirty="0">
              <a:ln>
                <a:noFill/>
              </a:ln>
              <a:solidFill>
                <a:srgbClr val="D40511"/>
              </a:solidFill>
              <a:effectLst/>
              <a:uLnTx/>
              <a:uFillTx/>
              <a:latin typeface="DeutschePost-MedCn"/>
              <a:ea typeface="MS PGothic"/>
            </a:endParaRPr>
          </a:p>
        </p:txBody>
      </p:sp>
      <p:sp>
        <p:nvSpPr>
          <p:cNvPr id="3" name="Rectangle 2"/>
          <p:cNvSpPr/>
          <p:nvPr/>
        </p:nvSpPr>
        <p:spPr bwMode="auto">
          <a:xfrm>
            <a:off x="1577341" y="1137172"/>
            <a:ext cx="3141308" cy="3828875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4745998" y="1147547"/>
            <a:ext cx="2966157" cy="3808120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1577341" y="4966048"/>
            <a:ext cx="8991524" cy="1444738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1570625" y="900649"/>
            <a:ext cx="3145157" cy="250854"/>
          </a:xfrm>
          <a:prstGeom prst="rect">
            <a:avLst/>
          </a:prstGeom>
          <a:solidFill>
            <a:schemeClr val="accent3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 panose="020B0500000000000000" pitchFamily="34" charset="0"/>
                <a:ea typeface="+mn-ea"/>
                <a:cs typeface="+mn-cs"/>
              </a:rPr>
              <a:t>MAIN ISSUES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4739736" y="900649"/>
            <a:ext cx="2961468" cy="250854"/>
          </a:xfrm>
          <a:prstGeom prst="rect">
            <a:avLst/>
          </a:prstGeom>
          <a:solidFill>
            <a:schemeClr val="accent3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 panose="020B0500000000000000" pitchFamily="34" charset="0"/>
                <a:ea typeface="+mn-ea"/>
                <a:cs typeface="+mn-cs"/>
              </a:rPr>
              <a:t>CURRENT ACTIONS / SUPPORT NEEDED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7732630" y="896694"/>
            <a:ext cx="2830790" cy="250854"/>
          </a:xfrm>
          <a:prstGeom prst="rect">
            <a:avLst/>
          </a:prstGeom>
          <a:solidFill>
            <a:schemeClr val="accent3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 panose="020B0500000000000000" pitchFamily="34" charset="0"/>
                <a:ea typeface="+mn-ea"/>
                <a:cs typeface="+mn-cs"/>
              </a:rPr>
              <a:t>PAYMENTS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926" y="1372304"/>
            <a:ext cx="2949759" cy="18004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28600" marR="0" lvl="0" indent="-17145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900" dirty="0">
              <a:solidFill>
                <a:srgbClr val="000000"/>
              </a:solidFill>
              <a:latin typeface="Arial"/>
            </a:endParaRPr>
          </a:p>
          <a:p>
            <a:pPr marL="57150" marR="0" lvl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lang="en-US" sz="1050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en-US" sz="1000" b="1" dirty="0">
                <a:solidFill>
                  <a:srgbClr val="000000"/>
                </a:solidFill>
                <a:latin typeface="DeutschePost-MedCn" panose="020B0500000000000000"/>
              </a:rPr>
              <a:t/>
            </a:r>
            <a:r>
              <a:rPr lang="en-US" sz="1000" dirty="0">
                <a:solidFill>
                  <a:srgbClr val="000000"/>
                </a:solidFill>
                <a:latin typeface="DeutschePost-MedCn" panose="020B0500000000000000"/>
              </a:rPr>
              <a:t/>
            </a: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en-US" sz="1000" b="1" dirty="0">
                <a:solidFill>
                  <a:srgbClr val="000000"/>
                </a:solidFill>
                <a:latin typeface="DeutschePost-MedCn" panose="020B0500000000000000"/>
              </a:rPr>
              <a:t/>
            </a:r>
            <a:r>
              <a:rPr lang="en-US" sz="1000" dirty="0">
                <a:solidFill>
                  <a:srgbClr val="000000"/>
                </a:solidFill>
                <a:latin typeface="DeutschePost-MedCn" panose="020B0500000000000000"/>
              </a:rPr>
              <a:t/>
            </a: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dirty="0">
              <a:solidFill>
                <a:srgbClr val="000000"/>
              </a:solidFill>
            </a:endParaRPr>
          </a:p>
          <a:p>
            <a:pPr marL="228600" marR="0" lvl="0" indent="-17145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57150" marR="0" lvl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lang="en-US" sz="1050" b="1" dirty="0">
              <a:solidFill>
                <a:srgbClr val="000000"/>
              </a:solidFill>
              <a:latin typeface="DeutschePost-MedCn" panose="020B050000000000000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736580" y="1372304"/>
            <a:ext cx="2927293" cy="206210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rgbClr val="000000"/>
                </a:solidFill>
                <a:latin typeface="Arial"/>
              </a:rPr>
              <a:t>Lenovo/Motorola MX- TTL AR: € 945,571 </a:t>
            </a: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rgbClr val="000000"/>
                </a:solidFill>
                <a:latin typeface="Arial"/>
              </a:rPr>
              <a:t>       Past Due: € 447,829</a:t>
            </a: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rgbClr val="000000"/>
                </a:solidFill>
                <a:latin typeface="Arial"/>
              </a:rPr>
              <a:t>       Over 90: € 216,363</a:t>
            </a: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rgbClr val="000000"/>
                </a:solidFill>
                <a:latin typeface="Arial"/>
              </a:rPr>
              <a:t>	</a:t>
            </a: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628650" marR="0" lvl="1" indent="-17145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900" dirty="0">
              <a:solidFill>
                <a:srgbClr val="000000"/>
              </a:solidFill>
              <a:latin typeface="Arial"/>
            </a:endParaRPr>
          </a:p>
          <a:p>
            <a:pPr marR="0" lvl="1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lang="en-US" sz="900" dirty="0">
              <a:solidFill>
                <a:srgbClr val="000000"/>
              </a:solidFill>
              <a:latin typeface="Arial"/>
            </a:endParaRPr>
          </a:p>
          <a:p>
            <a:pPr marR="0" lvl="1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lang="en-US" sz="900" dirty="0">
              <a:solidFill>
                <a:srgbClr val="000000"/>
              </a:solidFill>
              <a:latin typeface="Arial"/>
            </a:endParaRPr>
          </a:p>
          <a:p>
            <a:pPr marL="457200" marR="0" lvl="1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EC1554-C000-F311-6B95-AC2942A31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3484320"/>
              </p:ext>
            </p:extLst>
          </p:nvPr>
        </p:nvGraphicFramePr>
        <p:xfrm>
          <a:off x="1577341" y="4972471"/>
          <a:ext cx="8986079" cy="1434050"/>
        </p:xfrm>
        <a:graphic>
          <a:graphicData uri="http://schemas.openxmlformats.org/drawingml/2006/table">
            <a:tbl>
              <a:tblPr/>
              <a:tblGrid>
                <a:gridCol w="2348783">
                  <a:extLst>
                    <a:ext uri="{9D8B030D-6E8A-4147-A177-3AD203B41FA5}">
                      <a16:colId xmlns:a16="http://schemas.microsoft.com/office/drawing/2014/main" val="1332086851"/>
                    </a:ext>
                  </a:extLst>
                </a:gridCol>
                <a:gridCol w="1161197">
                  <a:extLst>
                    <a:ext uri="{9D8B030D-6E8A-4147-A177-3AD203B41FA5}">
                      <a16:colId xmlns:a16="http://schemas.microsoft.com/office/drawing/2014/main" val="846566043"/>
                    </a:ext>
                  </a:extLst>
                </a:gridCol>
                <a:gridCol w="989657">
                  <a:extLst>
                    <a:ext uri="{9D8B030D-6E8A-4147-A177-3AD203B41FA5}">
                      <a16:colId xmlns:a16="http://schemas.microsoft.com/office/drawing/2014/main" val="533250894"/>
                    </a:ext>
                  </a:extLst>
                </a:gridCol>
                <a:gridCol w="897288">
                  <a:extLst>
                    <a:ext uri="{9D8B030D-6E8A-4147-A177-3AD203B41FA5}">
                      <a16:colId xmlns:a16="http://schemas.microsoft.com/office/drawing/2014/main" val="2133618482"/>
                    </a:ext>
                  </a:extLst>
                </a:gridCol>
                <a:gridCol w="989657">
                  <a:extLst>
                    <a:ext uri="{9D8B030D-6E8A-4147-A177-3AD203B41FA5}">
                      <a16:colId xmlns:a16="http://schemas.microsoft.com/office/drawing/2014/main" val="609552570"/>
                    </a:ext>
                  </a:extLst>
                </a:gridCol>
                <a:gridCol w="989657">
                  <a:extLst>
                    <a:ext uri="{9D8B030D-6E8A-4147-A177-3AD203B41FA5}">
                      <a16:colId xmlns:a16="http://schemas.microsoft.com/office/drawing/2014/main" val="497591631"/>
                    </a:ext>
                  </a:extLst>
                </a:gridCol>
                <a:gridCol w="804920">
                  <a:extLst>
                    <a:ext uri="{9D8B030D-6E8A-4147-A177-3AD203B41FA5}">
                      <a16:colId xmlns:a16="http://schemas.microsoft.com/office/drawing/2014/main" val="772962368"/>
                    </a:ext>
                  </a:extLst>
                </a:gridCol>
                <a:gridCol w="804920">
                  <a:extLst>
                    <a:ext uri="{9D8B030D-6E8A-4147-A177-3AD203B41FA5}">
                      <a16:colId xmlns:a16="http://schemas.microsoft.com/office/drawing/2014/main" val="1466060582"/>
                    </a:ext>
                  </a:extLst>
                </a:gridCol>
              </a:tblGrid>
              <a:tr h="71702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D40511"/>
                          </a:solidFill>
                          <a:effectLst/>
                          <a:latin typeface="DeutschePost-MedCn" panose="020B0500000000000000"/>
                        </a:rPr>
                        <a:t>FINANCIALS PERFORMANCE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Total AR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Current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Overdue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0-30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31-60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61-90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&gt;90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5059545"/>
                  </a:ext>
                </a:extLst>
              </a:tr>
              <a:tr h="717025"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€ 945,571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€ 497,742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€ 447,829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€ 216,363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232412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B2DA265-3A8F-D9C7-D799-407C30D46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5780484"/>
              </p:ext>
            </p:extLst>
          </p:nvPr>
        </p:nvGraphicFramePr>
        <p:xfrm>
          <a:off x="7733999" y="1147547"/>
          <a:ext cx="2845819" cy="1714342"/>
        </p:xfrm>
        <a:graphic>
          <a:graphicData uri="http://schemas.openxmlformats.org/drawingml/2006/table">
            <a:tbl>
              <a:tblPr/>
              <a:tblGrid>
                <a:gridCol w="2113699">
                  <a:extLst>
                    <a:ext uri="{9D8B030D-6E8A-4147-A177-3AD203B41FA5}">
                      <a16:colId xmlns:a16="http://schemas.microsoft.com/office/drawing/2014/main" val="1846450647"/>
                    </a:ext>
                  </a:extLst>
                </a:gridCol>
                <a:gridCol w="732120">
                  <a:extLst>
                    <a:ext uri="{9D8B030D-6E8A-4147-A177-3AD203B41FA5}">
                      <a16:colId xmlns:a16="http://schemas.microsoft.com/office/drawing/2014/main" val="2387316505"/>
                    </a:ext>
                  </a:extLst>
                </a:gridCol>
              </a:tblGrid>
              <a:tr h="33439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900" b="0" i="0" u="none" strike="noStrike">
                          <a:solidFill>
                            <a:srgbClr val="0000FF"/>
                          </a:solidFill>
                          <a:effectLst/>
                          <a:latin typeface="DeutschePost-MedCn" panose="020B0500000000000000"/>
                        </a:rPr>
                        <a:t>Cash Forecasting / Payments Summary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900" b="0" i="0" u="none" strike="noStrike">
                          <a:solidFill>
                            <a:srgbClr val="0000FF"/>
                          </a:solidFill>
                          <a:effectLst/>
                          <a:latin typeface="DeutschePost-MedCn" panose="020B0500000000000000"/>
                        </a:rPr>
                        <a:t>EUR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2887930"/>
                  </a:ext>
                </a:extLst>
              </a:tr>
              <a:tr h="45974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Payments In House Pending Application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425116"/>
                  </a:ext>
                </a:extLst>
              </a:tr>
              <a:tr h="27115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 dirty="0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Expected payments by EOM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7096826"/>
                  </a:ext>
                </a:extLst>
              </a:tr>
              <a:tr h="2163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Forecasted Overdue EOM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82916"/>
                  </a:ext>
                </a:extLst>
              </a:tr>
              <a:tr h="2163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Forecasted &gt;60 EOM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2658117"/>
                  </a:ext>
                </a:extLst>
              </a:tr>
              <a:tr h="2163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Forecasted &gt;90 EOM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67772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1519583" y="142614"/>
            <a:ext cx="9708397" cy="814388"/>
          </a:xfrm>
        </p:spPr>
        <p:txBody>
          <a:bodyPr/>
          <a:lstStyle/>
          <a:p>
            <a:r>
              <a:rPr lang="en-US" sz="3000"/>
              <a:t>Dell Technologies — Net terms: TBD          Go Live: TBD</a:t>
            </a:r>
          </a:p>
        </p:txBody>
      </p:sp>
      <p:pic>
        <p:nvPicPr>
          <p:cNvPr id="98713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5783" y="317795"/>
            <a:ext cx="1201737" cy="463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Rectangle 6"/>
          <p:cNvSpPr/>
          <p:nvPr/>
        </p:nvSpPr>
        <p:spPr>
          <a:xfrm>
            <a:off x="7359082" y="2364859"/>
            <a:ext cx="2487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latin typeface="Arial" charset="0"/>
              </a:rPr>
              <a:t> </a:t>
            </a:r>
            <a:endParaRPr lang="en-US"/>
          </a:p>
        </p:txBody>
      </p:sp>
      <p:sp>
        <p:nvSpPr>
          <p:cNvPr id="13" name="Rounded Rectangle 12"/>
          <p:cNvSpPr/>
          <p:nvPr/>
        </p:nvSpPr>
        <p:spPr bwMode="auto">
          <a:xfrm>
            <a:off x="98657" y="971550"/>
            <a:ext cx="1791828" cy="625914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>
                <a:latin typeface="Arial" charset="0"/>
              </a:rPr>
              <a:t>AMKAD POC:</a:t>
            </a:r>
          </a:p>
          <a:p>
            <a:pPr marL="0" marR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sz="1400" i="1">
                <a:solidFill>
                  <a:srgbClr val="0070C0"/>
                </a:solidFill>
                <a:latin typeface="Arial" charset="0"/>
              </a:rPr>
              <a:t>— fill in —</a:t>
            </a:r>
          </a:p>
        </p:txBody>
      </p:sp>
      <p:sp>
        <p:nvSpPr>
          <p:cNvPr id="5" name="Rectangle 4"/>
          <p:cNvSpPr/>
          <p:nvPr/>
        </p:nvSpPr>
        <p:spPr>
          <a:xfrm>
            <a:off x="8593405" y="3830576"/>
            <a:ext cx="3352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</a:t>
            </a:r>
            <a:endParaRPr lang="en-US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183E30-EB17-EC97-3ADA-6B96BE41B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538" y="974338"/>
            <a:ext cx="9413750" cy="24906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6FEFF2-A39E-453E-90E5-BD4F1F4DB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538" y="3482308"/>
            <a:ext cx="9413750" cy="241272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Rectangle 15"/>
          <p:cNvSpPr/>
          <p:nvPr/>
        </p:nvSpPr>
        <p:spPr bwMode="auto">
          <a:xfrm>
            <a:off x="7717601" y="1147548"/>
            <a:ext cx="2845820" cy="3824923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741135" y="368629"/>
            <a:ext cx="8756594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/>
                <a:ea typeface="MS PGothic"/>
              </a:rPr>
              <a:t>Dell Technologies  MX –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/>
                <a:ea typeface="MS PGothic"/>
              </a:rPr>
              <a:t>ACCOUNT BUSINESS REVIEW    		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/>
                <a:ea typeface="MS PGothic"/>
              </a:rPr>
              <a:t> Date: </a:t>
            </a:r>
            <a:r>
              <a:rPr lang="en-US" sz="1100" b="1" dirty="0">
                <a:solidFill>
                  <a:srgbClr val="D40511"/>
                </a:solidFill>
                <a:latin typeface="DeutschePost-MedCn"/>
                <a:ea typeface="MS PGothic"/>
              </a:rPr>
              <a:t>June 22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/>
                <a:ea typeface="MS PGothic"/>
              </a:rPr>
              <a:t>, </a:t>
            </a:r>
            <a:r>
              <a:rPr lang="en-US" sz="1100" b="1" dirty="0">
                <a:solidFill>
                  <a:srgbClr val="D40511"/>
                </a:solidFill>
                <a:latin typeface="DeutschePost-MedCn"/>
                <a:ea typeface="MS PGothic"/>
              </a:rPr>
              <a:t>2026</a:t>
            </a:r>
            <a:endParaRPr lang="en-US" sz="1600" b="1" i="0" u="none" strike="noStrike" kern="1200" cap="none" spc="0" normalizeH="0" baseline="0" noProof="0" dirty="0">
              <a:ln>
                <a:noFill/>
              </a:ln>
              <a:solidFill>
                <a:srgbClr val="D40511"/>
              </a:solidFill>
              <a:effectLst/>
              <a:uLnTx/>
              <a:uFillTx/>
              <a:latin typeface="DeutschePost-MedCn"/>
              <a:ea typeface="MS PGothic"/>
            </a:endParaRPr>
          </a:p>
        </p:txBody>
      </p:sp>
      <p:sp>
        <p:nvSpPr>
          <p:cNvPr id="3" name="Rectangle 2"/>
          <p:cNvSpPr/>
          <p:nvPr/>
        </p:nvSpPr>
        <p:spPr bwMode="auto">
          <a:xfrm>
            <a:off x="1577341" y="1137172"/>
            <a:ext cx="3141308" cy="3828875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4745998" y="1147547"/>
            <a:ext cx="2966157" cy="3808120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1577341" y="4966048"/>
            <a:ext cx="8991524" cy="1444738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DeutschePost-MedCn" panose="020B0500000000000000" pitchFamily="34" charset="0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1570625" y="900649"/>
            <a:ext cx="3145157" cy="250854"/>
          </a:xfrm>
          <a:prstGeom prst="rect">
            <a:avLst/>
          </a:prstGeom>
          <a:solidFill>
            <a:schemeClr val="accent3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 panose="020B0500000000000000" pitchFamily="34" charset="0"/>
                <a:ea typeface="+mn-ea"/>
                <a:cs typeface="+mn-cs"/>
              </a:rPr>
              <a:t>MAIN ISSUES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4739736" y="900649"/>
            <a:ext cx="2961468" cy="250854"/>
          </a:xfrm>
          <a:prstGeom prst="rect">
            <a:avLst/>
          </a:prstGeom>
          <a:solidFill>
            <a:schemeClr val="accent3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 panose="020B0500000000000000" pitchFamily="34" charset="0"/>
                <a:ea typeface="+mn-ea"/>
                <a:cs typeface="+mn-cs"/>
              </a:rPr>
              <a:t>CURRENT ACTIONS / SUPPORT NEEDED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7732630" y="896694"/>
            <a:ext cx="2830790" cy="250854"/>
          </a:xfrm>
          <a:prstGeom prst="rect">
            <a:avLst/>
          </a:prstGeom>
          <a:solidFill>
            <a:schemeClr val="accent3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144000" tIns="144000" rIns="144000" bIns="144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D40511"/>
                </a:solidFill>
                <a:effectLst/>
                <a:uLnTx/>
                <a:uFillTx/>
                <a:latin typeface="DeutschePost-MedCn" panose="020B0500000000000000" pitchFamily="34" charset="0"/>
                <a:ea typeface="+mn-ea"/>
                <a:cs typeface="+mn-cs"/>
              </a:rPr>
              <a:t>PAYMENTS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926" y="1372304"/>
            <a:ext cx="2949759" cy="18004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28600" marR="0" lvl="0" indent="-17145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900" dirty="0">
              <a:solidFill>
                <a:srgbClr val="000000"/>
              </a:solidFill>
              <a:latin typeface="Arial"/>
            </a:endParaRPr>
          </a:p>
          <a:p>
            <a:pPr marL="57150" marR="0" lvl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lang="en-US" sz="1050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en-US" sz="1000" b="1" dirty="0">
                <a:solidFill>
                  <a:srgbClr val="000000"/>
                </a:solidFill>
                <a:latin typeface="DeutschePost-MedCn" panose="020B0500000000000000"/>
              </a:rPr>
              <a:t/>
            </a:r>
            <a:r>
              <a:rPr lang="en-US" sz="1000" dirty="0">
                <a:solidFill>
                  <a:srgbClr val="000000"/>
                </a:solidFill>
                <a:latin typeface="DeutschePost-MedCn" panose="020B0500000000000000"/>
              </a:rPr>
              <a:t/>
            </a: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en-US" sz="1000" b="1" dirty="0">
                <a:solidFill>
                  <a:srgbClr val="000000"/>
                </a:solidFill>
                <a:latin typeface="DeutschePost-MedCn" panose="020B0500000000000000"/>
              </a:rPr>
              <a:t/>
            </a:r>
            <a:r>
              <a:rPr lang="en-US" sz="1000" dirty="0">
                <a:solidFill>
                  <a:srgbClr val="000000"/>
                </a:solidFill>
                <a:latin typeface="DeutschePost-MedCn" panose="020B0500000000000000"/>
              </a:rPr>
              <a:t/>
            </a: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b="1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228600" lvl="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lang="en-US" sz="1000" dirty="0">
              <a:solidFill>
                <a:srgbClr val="000000"/>
              </a:solidFill>
            </a:endParaRPr>
          </a:p>
          <a:p>
            <a:pPr marL="228600" marR="0" lvl="0" indent="-17145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dirty="0">
              <a:solidFill>
                <a:srgbClr val="000000"/>
              </a:solidFill>
              <a:latin typeface="DeutschePost-MedCn" panose="020B0500000000000000"/>
            </a:endParaRPr>
          </a:p>
          <a:p>
            <a:pPr marL="57150" marR="0" lvl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lang="en-US" sz="1050" b="1" dirty="0">
              <a:solidFill>
                <a:srgbClr val="000000"/>
              </a:solidFill>
              <a:latin typeface="DeutschePost-MedCn" panose="020B050000000000000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736580" y="1372304"/>
            <a:ext cx="2927293" cy="206210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rgbClr val="000000"/>
                </a:solidFill>
                <a:latin typeface="Arial"/>
              </a:rPr>
              <a:t>Dell Technologies MX- TTL AR: € 407,812 </a:t>
            </a: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rgbClr val="000000"/>
                </a:solidFill>
                <a:latin typeface="Arial"/>
              </a:rPr>
              <a:t>       Past Due: € 162,356</a:t>
            </a: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rgbClr val="000000"/>
                </a:solidFill>
                <a:latin typeface="Arial"/>
              </a:rPr>
              <a:t>       Over 90: € 162,363</a:t>
            </a: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 defTabSz="995363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rgbClr val="000000"/>
                </a:solidFill>
                <a:latin typeface="Arial"/>
              </a:rPr>
              <a:t>	</a:t>
            </a:r>
            <a:endParaRPr lang="en-US" sz="900" b="1" dirty="0">
              <a:solidFill>
                <a:srgbClr val="000000"/>
              </a:solidFill>
              <a:latin typeface="Arial"/>
              <a:cs typeface="Arial"/>
            </a:endParaRPr>
          </a:p>
          <a:p>
            <a:pPr defTabSz="995363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628650" marR="0" lvl="1" indent="-17145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900" dirty="0">
              <a:solidFill>
                <a:srgbClr val="000000"/>
              </a:solidFill>
              <a:latin typeface="Arial"/>
            </a:endParaRPr>
          </a:p>
          <a:p>
            <a:pPr marR="0" lvl="1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lang="en-US" sz="900" dirty="0">
              <a:solidFill>
                <a:srgbClr val="000000"/>
              </a:solidFill>
              <a:latin typeface="Arial"/>
            </a:endParaRPr>
          </a:p>
          <a:p>
            <a:pPr marR="0" lvl="1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lang="en-US" sz="900" dirty="0">
              <a:solidFill>
                <a:srgbClr val="000000"/>
              </a:solidFill>
              <a:latin typeface="Arial"/>
            </a:endParaRPr>
          </a:p>
          <a:p>
            <a:pPr marL="457200" marR="0" lvl="1" indent="0" algn="l" defTabSz="9953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EC1554-C000-F311-6B95-AC2942A31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3484320"/>
              </p:ext>
            </p:extLst>
          </p:nvPr>
        </p:nvGraphicFramePr>
        <p:xfrm>
          <a:off x="1577341" y="4972471"/>
          <a:ext cx="8986079" cy="1434050"/>
        </p:xfrm>
        <a:graphic>
          <a:graphicData uri="http://schemas.openxmlformats.org/drawingml/2006/table">
            <a:tbl>
              <a:tblPr/>
              <a:tblGrid>
                <a:gridCol w="2348783">
                  <a:extLst>
                    <a:ext uri="{9D8B030D-6E8A-4147-A177-3AD203B41FA5}">
                      <a16:colId xmlns:a16="http://schemas.microsoft.com/office/drawing/2014/main" val="1332086851"/>
                    </a:ext>
                  </a:extLst>
                </a:gridCol>
                <a:gridCol w="1161197">
                  <a:extLst>
                    <a:ext uri="{9D8B030D-6E8A-4147-A177-3AD203B41FA5}">
                      <a16:colId xmlns:a16="http://schemas.microsoft.com/office/drawing/2014/main" val="846566043"/>
                    </a:ext>
                  </a:extLst>
                </a:gridCol>
                <a:gridCol w="989657">
                  <a:extLst>
                    <a:ext uri="{9D8B030D-6E8A-4147-A177-3AD203B41FA5}">
                      <a16:colId xmlns:a16="http://schemas.microsoft.com/office/drawing/2014/main" val="533250894"/>
                    </a:ext>
                  </a:extLst>
                </a:gridCol>
                <a:gridCol w="897288">
                  <a:extLst>
                    <a:ext uri="{9D8B030D-6E8A-4147-A177-3AD203B41FA5}">
                      <a16:colId xmlns:a16="http://schemas.microsoft.com/office/drawing/2014/main" val="2133618482"/>
                    </a:ext>
                  </a:extLst>
                </a:gridCol>
                <a:gridCol w="989657">
                  <a:extLst>
                    <a:ext uri="{9D8B030D-6E8A-4147-A177-3AD203B41FA5}">
                      <a16:colId xmlns:a16="http://schemas.microsoft.com/office/drawing/2014/main" val="609552570"/>
                    </a:ext>
                  </a:extLst>
                </a:gridCol>
                <a:gridCol w="989657">
                  <a:extLst>
                    <a:ext uri="{9D8B030D-6E8A-4147-A177-3AD203B41FA5}">
                      <a16:colId xmlns:a16="http://schemas.microsoft.com/office/drawing/2014/main" val="497591631"/>
                    </a:ext>
                  </a:extLst>
                </a:gridCol>
                <a:gridCol w="804920">
                  <a:extLst>
                    <a:ext uri="{9D8B030D-6E8A-4147-A177-3AD203B41FA5}">
                      <a16:colId xmlns:a16="http://schemas.microsoft.com/office/drawing/2014/main" val="772962368"/>
                    </a:ext>
                  </a:extLst>
                </a:gridCol>
                <a:gridCol w="804920">
                  <a:extLst>
                    <a:ext uri="{9D8B030D-6E8A-4147-A177-3AD203B41FA5}">
                      <a16:colId xmlns:a16="http://schemas.microsoft.com/office/drawing/2014/main" val="1466060582"/>
                    </a:ext>
                  </a:extLst>
                </a:gridCol>
              </a:tblGrid>
              <a:tr h="71702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D40511"/>
                          </a:solidFill>
                          <a:effectLst/>
                          <a:latin typeface="DeutschePost-MedCn" panose="020B0500000000000000"/>
                        </a:rPr>
                        <a:t>FINANCIALS PERFORMANCE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Total AR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Current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Overdue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0-30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31-60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61-90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&gt;90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5059545"/>
                  </a:ext>
                </a:extLst>
              </a:tr>
              <a:tr h="717025"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5D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€ 407,812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€ 245,456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€ 162,356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€ 162,363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232412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B2DA265-3A8F-D9C7-D799-407C30D46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5780484"/>
              </p:ext>
            </p:extLst>
          </p:nvPr>
        </p:nvGraphicFramePr>
        <p:xfrm>
          <a:off x="7733999" y="1147547"/>
          <a:ext cx="2845819" cy="1714342"/>
        </p:xfrm>
        <a:graphic>
          <a:graphicData uri="http://schemas.openxmlformats.org/drawingml/2006/table">
            <a:tbl>
              <a:tblPr/>
              <a:tblGrid>
                <a:gridCol w="2113699">
                  <a:extLst>
                    <a:ext uri="{9D8B030D-6E8A-4147-A177-3AD203B41FA5}">
                      <a16:colId xmlns:a16="http://schemas.microsoft.com/office/drawing/2014/main" val="1846450647"/>
                    </a:ext>
                  </a:extLst>
                </a:gridCol>
                <a:gridCol w="732120">
                  <a:extLst>
                    <a:ext uri="{9D8B030D-6E8A-4147-A177-3AD203B41FA5}">
                      <a16:colId xmlns:a16="http://schemas.microsoft.com/office/drawing/2014/main" val="2387316505"/>
                    </a:ext>
                  </a:extLst>
                </a:gridCol>
              </a:tblGrid>
              <a:tr h="33439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900" b="0" i="0" u="none" strike="noStrike">
                          <a:solidFill>
                            <a:srgbClr val="0000FF"/>
                          </a:solidFill>
                          <a:effectLst/>
                          <a:latin typeface="DeutschePost-MedCn" panose="020B0500000000000000"/>
                        </a:rPr>
                        <a:t>Cash Forecasting / Payments Summary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900" b="0" i="0" u="none" strike="noStrike">
                          <a:solidFill>
                            <a:srgbClr val="0000FF"/>
                          </a:solidFill>
                          <a:effectLst/>
                          <a:latin typeface="DeutschePost-MedCn" panose="020B0500000000000000"/>
                        </a:rPr>
                        <a:t>EUR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2887930"/>
                  </a:ext>
                </a:extLst>
              </a:tr>
              <a:tr h="45974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Payments In House Pending Application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425116"/>
                  </a:ext>
                </a:extLst>
              </a:tr>
              <a:tr h="27115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 dirty="0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Expected payments by EOM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7096826"/>
                  </a:ext>
                </a:extLst>
              </a:tr>
              <a:tr h="2163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Forecasted Overdue EOM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82916"/>
                  </a:ext>
                </a:extLst>
              </a:tr>
              <a:tr h="2163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Forecasted &gt;60 EOM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2658117"/>
                  </a:ext>
                </a:extLst>
              </a:tr>
              <a:tr h="2163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DeutschePost-MedCn" panose="020B0500000000000000"/>
                        </a:rPr>
                        <a:t>Forecasted &gt;90 EOM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— fill in —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67772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P-SSC PM">
  <a:themeElements>
    <a:clrScheme name="DPDHL_colour_scheme">
      <a:dk1>
        <a:srgbClr val="000000"/>
      </a:dk1>
      <a:lt1>
        <a:srgbClr val="FFFFFF"/>
      </a:lt1>
      <a:dk2>
        <a:srgbClr val="B2B2B2"/>
      </a:dk2>
      <a:lt2>
        <a:srgbClr val="DADADA"/>
      </a:lt2>
      <a:accent1>
        <a:srgbClr val="969696"/>
      </a:accent1>
      <a:accent2>
        <a:srgbClr val="696969"/>
      </a:accent2>
      <a:accent3>
        <a:srgbClr val="FFCC00"/>
      </a:accent3>
      <a:accent4>
        <a:srgbClr val="D40511"/>
      </a:accent4>
      <a:accent5>
        <a:srgbClr val="EAEAEA"/>
      </a:accent5>
      <a:accent6>
        <a:srgbClr val="F8F8F8"/>
      </a:accent6>
      <a:hlink>
        <a:srgbClr val="FFCC00"/>
      </a:hlink>
      <a:folHlink>
        <a:srgbClr val="D40511"/>
      </a:folHlink>
    </a:clrScheme>
    <a:fontScheme name="dreck 2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 Klassisch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144000" tIns="144000" rIns="144000" bIns="144000" numCol="1" anchor="ctr" anchorCtr="0" compatLnSpc="1">
        <a:prstTxWarp prst="textNoShape">
          <a:avLst/>
        </a:prstTxWarp>
      </a:bodyPr>
      <a:lstStyle>
        <a:defPPr marL="0" marR="0" indent="0" algn="l" defTabSz="995363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144000" tIns="144000" rIns="144000" bIns="144000" numCol="1" anchor="ctr" anchorCtr="0" compatLnSpc="1">
        <a:prstTxWarp prst="textNoShape">
          <a:avLst/>
        </a:prstTxWarp>
      </a:bodyPr>
      <a:lstStyle>
        <a:defPPr marL="0" marR="0" indent="0" algn="l" defTabSz="995363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PDHL_O07_Master 1">
        <a:dk1>
          <a:srgbClr val="000000"/>
        </a:dk1>
        <a:lt1>
          <a:srgbClr val="FFFFFF"/>
        </a:lt1>
        <a:dk2>
          <a:srgbClr val="B2B2B2"/>
        </a:dk2>
        <a:lt2>
          <a:srgbClr val="DADADA"/>
        </a:lt2>
        <a:accent1>
          <a:srgbClr val="969696"/>
        </a:accent1>
        <a:accent2>
          <a:srgbClr val="696969"/>
        </a:accent2>
        <a:accent3>
          <a:srgbClr val="FFFFFF"/>
        </a:accent3>
        <a:accent4>
          <a:srgbClr val="000000"/>
        </a:accent4>
        <a:accent5>
          <a:srgbClr val="C9C9C9"/>
        </a:accent5>
        <a:accent6>
          <a:srgbClr val="5E5E5E"/>
        </a:accent6>
        <a:hlink>
          <a:srgbClr val="FFCC00"/>
        </a:hlink>
        <a:folHlink>
          <a:srgbClr val="D40511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ostyellow 100%">
      <a:srgbClr val="FFCC00"/>
    </a:custClr>
    <a:custClr name="70% Postyellow">
      <a:srgbClr val="FFDB4C"/>
    </a:custClr>
    <a:custClr name="45% Postyellow">
      <a:srgbClr val="FFE88C"/>
    </a:custClr>
    <a:custClr name="20% Postyellow">
      <a:srgbClr val="FFF5CC"/>
    </a:custClr>
    <a:custClr name="Chart grey yellow 1">
      <a:srgbClr val="5C5D59"/>
    </a:custClr>
    <a:custClr name="Chart grey yellow 2">
      <a:srgbClr val="7F7F7B"/>
    </a:custClr>
    <a:custClr name="Chart grey yellow 3">
      <a:srgbClr val="9B9C96"/>
    </a:custClr>
    <a:custClr name="Chart grey yellow 4">
      <a:srgbClr val="BBBBB3"/>
    </a:custClr>
    <a:custClr name="Chart grey yellow 5">
      <a:srgbClr val="DDDDD7"/>
    </a:custClr>
    <a:custClr name="Chart grey yellow 6">
      <a:srgbClr val="EDEDE7"/>
    </a:custClr>
    <a:custClr name="DHL Red">
      <a:srgbClr val="D40511"/>
    </a:custClr>
    <a:custClr name="None">
      <a:srgbClr val="FFFFFF"/>
    </a:custClr>
    <a:custClr name="None">
      <a:srgbClr val="FFFFFF"/>
    </a:custClr>
    <a:custClr name="None">
      <a:srgbClr val="FFFFFF"/>
    </a:custClr>
    <a:custClr name="Grey tone red 1">
      <a:srgbClr val="666362"/>
    </a:custClr>
    <a:custClr name="Grey tone red 2">
      <a:srgbClr val="827C7A"/>
    </a:custClr>
    <a:custClr name="Grey tone red 3">
      <a:srgbClr val="9F9997"/>
    </a:custClr>
    <a:custClr name="Grey tone red 4">
      <a:srgbClr val="BAB2B0"/>
    </a:custClr>
    <a:custClr name="Grey tone red 5">
      <a:srgbClr val="D6D0CE"/>
    </a:custClr>
    <a:custClr name="Grey tone red 6">
      <a:srgbClr val="EBE4E1"/>
    </a:custClr>
    <a:custClr name="Black">
      <a:srgbClr val="000000"/>
    </a:custClr>
    <a:custClr name="60% Black">
      <a:srgbClr val="666666"/>
    </a:custClr>
    <a:custClr name="40% Black">
      <a:srgbClr val="999999"/>
    </a:custClr>
    <a:custClr name="25% Black">
      <a:srgbClr val="BFBFBF"/>
    </a:custClr>
    <a:custClr name="8% Black">
      <a:srgbClr val="E4E4E4"/>
    </a:custClr>
    <a:custClr name="None">
      <a:srgbClr val="FFFFFF"/>
    </a:custClr>
    <a:custClr name="None">
      <a:srgbClr val="FFFFFF"/>
    </a:custClr>
    <a:custClr name="None">
      <a:srgbClr val="FFFFFF"/>
    </a:custClr>
    <a:custClr name="None">
      <a:srgbClr val="FFFFFF"/>
    </a:custClr>
    <a:custClr name="None">
      <a:srgbClr val="FFFFFF"/>
    </a:custClr>
    <a:custClr name="None">
      <a:srgbClr val="FFFFFF"/>
    </a:custClr>
    <a:custClr name="None">
      <a:srgbClr val="FFFFFF"/>
    </a:custClr>
    <a:custClr name="None">
      <a:srgbClr val="FFFFFF"/>
    </a:custClr>
    <a:custClr name="None">
      <a:srgbClr val="FFFFFF"/>
    </a:custClr>
    <a:custClr name="Grey tone cyan 1">
      <a:srgbClr val="545D62"/>
    </a:custClr>
    <a:custClr name="Grey tone cyan 2">
      <a:srgbClr val="747F86"/>
    </a:custClr>
    <a:custClr name="Grey tone cyan 3">
      <a:srgbClr val="97A1A7"/>
    </a:custClr>
    <a:custClr name="Grey tone cyan 4">
      <a:srgbClr val="A6B0B6"/>
    </a:custClr>
    <a:custClr name="Grey tone cyan 5">
      <a:srgbClr val="B5BFC5"/>
    </a:custClr>
    <a:custClr name="Grey tone cyan 6">
      <a:srgbClr val="C8CED2"/>
    </a:custClr>
  </a:custClrLst>
</a:theme>
</file>

<file path=ppt/theme/theme2.xml><?xml version="1.0" encoding="utf-8"?>
<a:theme xmlns:a="http://schemas.openxmlformats.org/drawingml/2006/main" name="EU_Tiering_2014">
  <a:themeElements>
    <a:clrScheme name="DPDHL_colour_scheme">
      <a:dk1>
        <a:srgbClr val="000000"/>
      </a:dk1>
      <a:lt1>
        <a:srgbClr val="FFFFFF"/>
      </a:lt1>
      <a:dk2>
        <a:srgbClr val="B2B2B2"/>
      </a:dk2>
      <a:lt2>
        <a:srgbClr val="DADADA"/>
      </a:lt2>
      <a:accent1>
        <a:srgbClr val="969696"/>
      </a:accent1>
      <a:accent2>
        <a:srgbClr val="696969"/>
      </a:accent2>
      <a:accent3>
        <a:srgbClr val="FFCC00"/>
      </a:accent3>
      <a:accent4>
        <a:srgbClr val="D40511"/>
      </a:accent4>
      <a:accent5>
        <a:srgbClr val="EAEAEA"/>
      </a:accent5>
      <a:accent6>
        <a:srgbClr val="F8F8F8"/>
      </a:accent6>
      <a:hlink>
        <a:srgbClr val="FFCC00"/>
      </a:hlink>
      <a:folHlink>
        <a:srgbClr val="D40511"/>
      </a:folHlink>
    </a:clrScheme>
    <a:fontScheme name="dreck 2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 Klassisch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144000" tIns="144000" rIns="144000" bIns="144000" numCol="1" anchor="ctr" anchorCtr="0" compatLnSpc="1">
        <a:prstTxWarp prst="textNoShape">
          <a:avLst/>
        </a:prstTxWarp>
      </a:bodyPr>
      <a:lstStyle>
        <a:defPPr marL="0" marR="0" indent="0" algn="l" defTabSz="995363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144000" tIns="144000" rIns="144000" bIns="144000" numCol="1" anchor="ctr" anchorCtr="0" compatLnSpc="1">
        <a:prstTxWarp prst="textNoShape">
          <a:avLst/>
        </a:prstTxWarp>
      </a:bodyPr>
      <a:lstStyle>
        <a:defPPr marL="0" marR="0" indent="0" algn="l" defTabSz="995363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PDHL_colour_scheme">
        <a:dk1>
          <a:srgbClr val="000000"/>
        </a:dk1>
        <a:lt1>
          <a:srgbClr val="FFFFFF"/>
        </a:lt1>
        <a:dk2>
          <a:srgbClr val="B2B2B2"/>
        </a:dk2>
        <a:lt2>
          <a:srgbClr val="DADADA"/>
        </a:lt2>
        <a:accent1>
          <a:srgbClr val="969696"/>
        </a:accent1>
        <a:accent2>
          <a:srgbClr val="696969"/>
        </a:accent2>
        <a:accent3>
          <a:srgbClr val="FFCC00"/>
        </a:accent3>
        <a:accent4>
          <a:srgbClr val="D40511"/>
        </a:accent4>
        <a:accent5>
          <a:srgbClr val="EAEAEA"/>
        </a:accent5>
        <a:accent6>
          <a:srgbClr val="F8F8F8"/>
        </a:accent6>
        <a:hlink>
          <a:srgbClr val="FFCC00"/>
        </a:hlink>
        <a:folHlink>
          <a:srgbClr val="D40511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ostyellow 100%">
      <a:srgbClr val="FFCC00"/>
    </a:custClr>
    <a:custClr name="70% Postyellow">
      <a:srgbClr val="FFDB4C"/>
    </a:custClr>
    <a:custClr name="45% Postyellow">
      <a:srgbClr val="FFE88C"/>
    </a:custClr>
    <a:custClr name="20% Postyellow">
      <a:srgbClr val="FFF5CC"/>
    </a:custClr>
    <a:custClr name="Chart grey yellow 1">
      <a:srgbClr val="5C5D59"/>
    </a:custClr>
    <a:custClr name="Chart grey yellow 2">
      <a:srgbClr val="7F7F7B"/>
    </a:custClr>
    <a:custClr name="Chart grey yellow 3">
      <a:srgbClr val="9B9C96"/>
    </a:custClr>
    <a:custClr name="Chart grey yellow 4">
      <a:srgbClr val="BBBBB3"/>
    </a:custClr>
    <a:custClr name="Chart grey yellow 5">
      <a:srgbClr val="DDDDD7"/>
    </a:custClr>
    <a:custClr name="Chart grey yellow 6">
      <a:srgbClr val="EDEDE7"/>
    </a:custClr>
    <a:custClr name="DHL Red">
      <a:srgbClr val="D40511"/>
    </a:custClr>
    <a:custClr name="None">
      <a:srgbClr val="FFFFFF"/>
    </a:custClr>
    <a:custClr name="None">
      <a:srgbClr val="FFFFFF"/>
    </a:custClr>
    <a:custClr name="None">
      <a:srgbClr val="FFFFFF"/>
    </a:custClr>
    <a:custClr name="Grey tone red 1">
      <a:srgbClr val="666362"/>
    </a:custClr>
    <a:custClr name="Grey tone red 2">
      <a:srgbClr val="827C7A"/>
    </a:custClr>
    <a:custClr name="Grey tone red 3">
      <a:srgbClr val="9F9997"/>
    </a:custClr>
    <a:custClr name="Grey tone red 4">
      <a:srgbClr val="BAB2B0"/>
    </a:custClr>
    <a:custClr name="Grey tone red 5">
      <a:srgbClr val="D6D0CE"/>
    </a:custClr>
    <a:custClr name="Grey tone red 6">
      <a:srgbClr val="EBE4E1"/>
    </a:custClr>
    <a:custClr name="Black">
      <a:srgbClr val="000000"/>
    </a:custClr>
    <a:custClr name="60% Black">
      <a:srgbClr val="666666"/>
    </a:custClr>
    <a:custClr name="40% Black">
      <a:srgbClr val="999999"/>
    </a:custClr>
    <a:custClr name="25% Black">
      <a:srgbClr val="BFBFBF"/>
    </a:custClr>
    <a:custClr name="8% Black">
      <a:srgbClr val="E4E4E4"/>
    </a:custClr>
    <a:custClr name="None">
      <a:srgbClr val="FFFFFF"/>
    </a:custClr>
    <a:custClr name="None">
      <a:srgbClr val="FFFFFF"/>
    </a:custClr>
    <a:custClr name="None">
      <a:srgbClr val="FFFFFF"/>
    </a:custClr>
    <a:custClr name="None">
      <a:srgbClr val="FFFFFF"/>
    </a:custClr>
    <a:custClr name="None">
      <a:srgbClr val="FFFFFF"/>
    </a:custClr>
    <a:custClr name="None">
      <a:srgbClr val="FFFFFF"/>
    </a:custClr>
    <a:custClr name="None">
      <a:srgbClr val="FFFFFF"/>
    </a:custClr>
    <a:custClr name="None">
      <a:srgbClr val="FFFFFF"/>
    </a:custClr>
    <a:custClr name="None">
      <a:srgbClr val="FFFFFF"/>
    </a:custClr>
    <a:custClr name="Grey tone cyan 1">
      <a:srgbClr val="545D62"/>
    </a:custClr>
    <a:custClr name="Grey tone cyan 2">
      <a:srgbClr val="747F86"/>
    </a:custClr>
    <a:custClr name="Grey tone cyan 3">
      <a:srgbClr val="97A1A7"/>
    </a:custClr>
    <a:custClr name="Grey tone cyan 4">
      <a:srgbClr val="A6B0B6"/>
    </a:custClr>
    <a:custClr name="Grey tone cyan 5">
      <a:srgbClr val="B5BFC5"/>
    </a:custClr>
    <a:custClr name="Grey tone cyan 6">
      <a:srgbClr val="C8CED2"/>
    </a:custClr>
  </a:custClr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e3d0e5c-edda-4fd3-9353-90264f1df74e" xsi:nil="true"/>
    <lcf76f155ced4ddcb4097134ff3c332f xmlns="d982e684-21e3-4961-a62b-f068ee2b1c2a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3FF51722A033444B8DE23C3579480DA" ma:contentTypeVersion="11" ma:contentTypeDescription="Create a new document." ma:contentTypeScope="" ma:versionID="42ba70bb59e66bd2dc58db125b58fb1a">
  <xsd:schema xmlns:xsd="http://www.w3.org/2001/XMLSchema" xmlns:xs="http://www.w3.org/2001/XMLSchema" xmlns:p="http://schemas.microsoft.com/office/2006/metadata/properties" xmlns:ns2="d982e684-21e3-4961-a62b-f068ee2b1c2a" xmlns:ns3="ce3d0e5c-edda-4fd3-9353-90264f1df74e" targetNamespace="http://schemas.microsoft.com/office/2006/metadata/properties" ma:root="true" ma:fieldsID="b9375509a6bbcef165d3623ab0a59a8a" ns2:_="" ns3:_="">
    <xsd:import namespace="d982e684-21e3-4961-a62b-f068ee2b1c2a"/>
    <xsd:import namespace="ce3d0e5c-edda-4fd3-9353-90264f1df7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82e684-21e3-4961-a62b-f068ee2b1c2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bb9e2a73-f419-4c44-99f5-cd310bbfdd7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3d0e5c-edda-4fd3-9353-90264f1df74e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9e1ba86-0102-4691-92df-7b049331e0a1}" ma:internalName="TaxCatchAll" ma:showField="CatchAllData" ma:web="ce3d0e5c-edda-4fd3-9353-90264f1df74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8A9B498-F378-4299-802F-ECB2EC83829C}">
  <ds:schemaRefs>
    <ds:schemaRef ds:uri="ce3d0e5c-edda-4fd3-9353-90264f1df74e"/>
    <ds:schemaRef ds:uri="d982e684-21e3-4961-a62b-f068ee2b1c2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530C2DC-61AA-40DA-B185-3D0D1847E0BE}">
  <ds:schemaRefs>
    <ds:schemaRef ds:uri="ce3d0e5c-edda-4fd3-9353-90264f1df74e"/>
    <ds:schemaRef ds:uri="d982e684-21e3-4961-a62b-f068ee2b1c2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D2DB4AB-765A-4A20-A12C-5D17FA84FFE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36915f3-2f02-4945-8997-f2963298db46}" enabled="1" method="Standard" siteId="{cd99fef8-1cd3-4a2a-9bdf-15531181d65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DHL_PPT_4x3</Template>
  <TotalTime>1268</TotalTime>
  <Words>1676</Words>
  <Application>Microsoft Office PowerPoint</Application>
  <PresentationFormat>Widescreen</PresentationFormat>
  <Paragraphs>649</Paragraphs>
  <Slides>25</Slides>
  <Notes>0</Notes>
  <HiddenSlides>1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25</vt:i4>
      </vt:variant>
    </vt:vector>
  </HeadingPairs>
  <TitlesOfParts>
    <vt:vector size="27" baseType="lpstr">
      <vt:lpstr>AP-SSC PM</vt:lpstr>
      <vt:lpstr>EU_Tiering_2014</vt:lpstr>
      <vt:lpstr> key accounts desk Country Performance Review</vt:lpstr>
      <vt:lpstr>PowerPoint Presentation</vt:lpstr>
      <vt:lpstr>Country Performance</vt:lpstr>
      <vt:lpstr>PowerPoint Presentation</vt:lpstr>
      <vt:lpstr>Customer Performance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</vt:lpstr>
      <vt:lpstr>Thank you</vt:lpstr>
    </vt:vector>
  </TitlesOfParts>
  <Company>DHL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Jasmine Louise C. Rabang (DHL MY)</dc:creator>
  <cp:lastModifiedBy>Damaris Flores (DHL US)</cp:lastModifiedBy>
  <cp:revision>2</cp:revision>
  <cp:lastPrinted>2016-04-15T03:34:34Z</cp:lastPrinted>
  <dcterms:created xsi:type="dcterms:W3CDTF">2015-09-11T07:58:00Z</dcterms:created>
  <dcterms:modified xsi:type="dcterms:W3CDTF">2026-07-06T20:47:11Z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36915f3-2f02-4945-8997-f2963298db46_Enabled">
    <vt:lpwstr>true</vt:lpwstr>
  </property>
  <property fmtid="{D5CDD505-2E9C-101B-9397-08002B2CF9AE}" pid="3" name="MSIP_Label_736915f3-2f02-4945-8997-f2963298db46_SetDate">
    <vt:lpwstr>2023-08-16T19:00:17Z</vt:lpwstr>
  </property>
  <property fmtid="{D5CDD505-2E9C-101B-9397-08002B2CF9AE}" pid="4" name="MSIP_Label_736915f3-2f02-4945-8997-f2963298db46_Method">
    <vt:lpwstr>Standard</vt:lpwstr>
  </property>
  <property fmtid="{D5CDD505-2E9C-101B-9397-08002B2CF9AE}" pid="5" name="MSIP_Label_736915f3-2f02-4945-8997-f2963298db46_Name">
    <vt:lpwstr>Internal</vt:lpwstr>
  </property>
  <property fmtid="{D5CDD505-2E9C-101B-9397-08002B2CF9AE}" pid="6" name="MSIP_Label_736915f3-2f02-4945-8997-f2963298db46_SiteId">
    <vt:lpwstr>cd99fef8-1cd3-4a2a-9bdf-15531181d65e</vt:lpwstr>
  </property>
  <property fmtid="{D5CDD505-2E9C-101B-9397-08002B2CF9AE}" pid="7" name="MSIP_Label_736915f3-2f02-4945-8997-f2963298db46_ActionId">
    <vt:lpwstr>ab824e90-068e-4bff-8fc2-73e8166d8708</vt:lpwstr>
  </property>
  <property fmtid="{D5CDD505-2E9C-101B-9397-08002B2CF9AE}" pid="8" name="MSIP_Label_736915f3-2f02-4945-8997-f2963298db46_ContentBits">
    <vt:lpwstr>1</vt:lpwstr>
  </property>
  <property fmtid="{D5CDD505-2E9C-101B-9397-08002B2CF9AE}" pid="9" name="ContentTypeId">
    <vt:lpwstr>0x01010013FF51722A033444B8DE23C3579480DA</vt:lpwstr>
  </property>
  <property fmtid="{D5CDD505-2E9C-101B-9397-08002B2CF9AE}" pid="10" name="Order">
    <vt:r8>11212400</vt:r8>
  </property>
  <property fmtid="{D5CDD505-2E9C-101B-9397-08002B2CF9AE}" pid="11" name="MediaServiceImageTags">
    <vt:lpwstr/>
  </property>
</Properties>
</file>