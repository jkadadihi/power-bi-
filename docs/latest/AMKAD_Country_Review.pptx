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2026-05</c:v>
                </c:pt>
                <c:pt idx="4">
                  <c:v>2026-06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62550950</c:v>
                </c:pt>
                <c:pt idx="1">
                  <c:v>53416768</c:v>
                </c:pt>
                <c:pt idx="2">
                  <c:v>45724467</c:v>
                </c:pt>
                <c:pt idx="3">
                  <c:v>59298351</c:v>
                </c:pt>
                <c:pt idx="4">
                  <c:v>53691374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7000"/>
            <a:ext cx="12191695" cy="635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CC00"/>
                </a:solidFill>
                <a:latin typeface="Calibri"/>
              </a:rPr>
              <a:t>KEY ACCOUNTS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Country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Mexico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8C8C8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D21"/>
                </a:solidFill>
                <a:latin typeface="Calibri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1847088"/>
            <a:ext cx="8686800" cy="329184"/>
          </a:xfrm>
          <a:prstGeom prst="rect">
            <a:avLst/>
          </a:prstGeom>
          <a:solidFill>
            <a:srgbClr val="F2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73736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OVERALL COUNTRY PERFORMANCE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926080"/>
            <a:ext cx="548640" cy="54864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3035808"/>
            <a:ext cx="8686800" cy="329184"/>
          </a:xfrm>
          <a:prstGeom prst="rect">
            <a:avLst/>
          </a:prstGeom>
          <a:solidFill>
            <a:srgbClr val="F2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92608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CUSTOMER PERFORMANCE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4224528"/>
            <a:ext cx="8686800" cy="329184"/>
          </a:xfrm>
          <a:prstGeom prst="rect">
            <a:avLst/>
          </a:prstGeom>
          <a:solidFill>
            <a:srgbClr val="F2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411480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SPECIAL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7000"/>
            <a:ext cx="12191695" cy="635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Country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D21"/>
                </a:solidFill>
                <a:latin typeface="Calibri"/>
              </a:rPr>
              <a:t>Overall Country Performance — Mexico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2560320"/>
          <a:ext cx="108813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7000"/>
            <a:ext cx="12191695" cy="635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Customer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A1D21"/>
                </a:solidFill>
                <a:latin typeface="Calibri"/>
              </a:rPr>
              <a:t>Nokia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657600" cy="5486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Net terms / Go-Live date — fill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AMKAD POC: — fill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NOKIA – ACCOUNT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TTL AR: €1,988,894   |   Past Due: €97,824   |   Over 90: €90,706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MAIN ISSUES — fill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3716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CURRENT ACTIONS / SUPPORT NEEDED — fill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CASH FORECASTING / PAYMENTS — fill 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977639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Total AR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Overdue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0-60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60-90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&gt;90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D21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€1,988,894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€1,891,070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€97,824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€449,157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€90,706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A1D21"/>
                </a:solidFill>
                <a:latin typeface="Calibri"/>
              </a:rPr>
              <a:t>Lenovo/Motorola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657600" cy="5486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Net terms / Go-Live date — fill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AMKAD POC: — fill 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LENOVO/MOTOROLA – ACCOUNT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TTL AR: €945,571   |   Past Due: €447,829   |   Over 90: €216,363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MAIN ISSUES — fill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3716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CURRENT ACTIONS / SUPPORT NEEDED — fill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CASH FORECASTING / PAYMENTS — fill 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977639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Total AR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Overdue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0-60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60-90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&gt;90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D21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€945,571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€497,742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€447,829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€44,089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€187,377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€216,363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A1D21"/>
                </a:solidFill>
                <a:latin typeface="Calibri"/>
              </a:rPr>
              <a:t>Dell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657600" cy="5486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Net terms / Go-Live date — fill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AMKAD POC: — fill 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D21"/>
                </a:solidFill>
                <a:latin typeface="Calibri"/>
              </a:rPr>
              <a:t>DELL TECHNOLOGIES – ACCOUNT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TTL AR: €407,812   |   Past Due: €162,356   |   Over 90: €162,363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MAIN ISSUES — fill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3716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CURRENT ACTIONS / SUPPORT NEEDED — fill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BF7EA"/>
          </a:solidFill>
          <a:ln w="1270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/>
          <a:lstStyle/>
          <a:p>
            <a:pPr algn="ctr"/>
            <a:r>
              <a:rPr sz="900" i="1">
                <a:solidFill>
                  <a:srgbClr val="8A837B"/>
                </a:solidFill>
                <a:latin typeface="Calibri"/>
              </a:rPr>
              <a:t>CASH FORECASTING / PAYMENTS — fill 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977639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Total AR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Overdue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0-60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60-90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&gt;90</a:t>
                      </a:r>
                    </a:p>
                  </a:txBody>
                  <a:tcPr>
                    <a:solidFill>
                      <a:srgbClr val="D405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D21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€407,812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€245,456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€162,356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€72,857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D21"/>
                          </a:solidFill>
                          <a:latin typeface="Calibri"/>
                        </a:rPr>
                        <a:t>€162,363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