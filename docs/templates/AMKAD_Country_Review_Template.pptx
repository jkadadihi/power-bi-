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3.xml" ContentType="application/vnd.openxmlformats-officedocument.theme+xml"/>
  <Override PartName="/ppt/theme/theme4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225" r:id="rId4"/>
    <p:sldMasterId id="2147484906" r:id="rId5"/>
  </p:sldMasterIdLst>
  <p:notesMasterIdLst>
    <p:notesMasterId r:id="rId31"/>
  </p:notesMasterIdLst>
  <p:handoutMasterIdLst>
    <p:handoutMasterId r:id="rId32"/>
  </p:handoutMasterIdLst>
  <p:sldIdLst>
    <p:sldId id="765" r:id="rId6"/>
    <p:sldId id="924" r:id="rId7"/>
    <p:sldId id="787" r:id="rId8"/>
    <p:sldId id="930" r:id="rId9"/>
    <p:sldId id="935" r:id="rId10"/>
    <p:sldId id="993" r:id="rId11"/>
    <p:sldId id="263" r:id="rId12"/>
    <p:sldId id="1008" r:id="rId13"/>
    <p:sldId id="1137" r:id="rId14"/>
    <p:sldId id="959" r:id="rId15"/>
    <p:sldId id="1138" r:id="rId16"/>
    <p:sldId id="1048" r:id="rId17"/>
    <p:sldId id="1163" r:id="rId18"/>
    <p:sldId id="1012" r:id="rId19"/>
    <p:sldId id="1029" r:id="rId20"/>
    <p:sldId id="1010" r:id="rId21"/>
    <p:sldId id="1027" r:id="rId22"/>
    <p:sldId id="1009" r:id="rId23"/>
    <p:sldId id="280" r:id="rId24"/>
    <p:sldId id="961" r:id="rId25"/>
    <p:sldId id="1159" r:id="rId26"/>
    <p:sldId id="1043" r:id="rId27"/>
    <p:sldId id="262" r:id="rId28"/>
    <p:sldId id="938" r:id="rId29"/>
    <p:sldId id="909" r:id="rId30"/>
  </p:sldIdLst>
  <p:sldSz cx="12192000" cy="6858000"/>
  <p:notesSz cx="6807200" cy="9906000"/>
  <p:custDataLst>
    <p:tags r:id="rId3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Kelly" initials="KW" lastIdx="1" clrIdx="0"/>
  <p:cmAuthor id="1" name="Damaris Flores (DHL US)" initials="DF(U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66FF"/>
    <a:srgbClr val="00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AF9E353-963E-4E73-B057-8FAE3A8AD6C1}" v="4" dt="2026-06-22T22:37:43.885"/>
    <p1510:client id="{274DF9EF-0718-4527-8833-9EFF881F769F}" v="292" dt="2026-06-23T14:55:45.196"/>
    <p1510:client id="{8E77936C-0D04-4F06-9B3F-BFC0D6E86C53}" v="23" dt="2026-06-23T03:07:14.106"/>
    <p1510:client id="{A9CAAA3E-7BB0-49FA-A9FF-A0AAB0404B29}" v="3" dt="2026-06-22T18:51:40.800"/>
    <p1510:client id="{C13D7860-C25A-4C6B-85D0-F11FEA41F231}" v="438" dt="2026-06-22T18:53:31.711"/>
    <p1510:client id="{E71E1F8E-2B53-4263-A7D3-06885A0ABF0F}" v="57" dt="2026-06-23T15:04:21.19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6" d="100"/>
          <a:sy n="76" d="100"/>
        </p:scale>
        <p:origin x="882" y="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microsoft.com/office/2015/10/relationships/revisionInfo" Target="revisionInfo.xml"/><Relationship Id="rId21" Type="http://schemas.openxmlformats.org/officeDocument/2006/relationships/slide" Target="slides/slide16.xml"/><Relationship Id="rId34" Type="http://schemas.openxmlformats.org/officeDocument/2006/relationships/commentAuthors" Target="commentAuthor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tags" Target="tags/tag1.xml"/><Relationship Id="rId38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slide" Target="slides/slide24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handoutMaster" Target="handoutMasters/handoutMaster1.xml"/><Relationship Id="rId37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viewProps" Target="viewProp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presProps" Target="presProps.xml"/><Relationship Id="rId8" Type="http://schemas.openxmlformats.org/officeDocument/2006/relationships/slide" Target="slides/slide3.xml"/><Relationship Id="rId3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787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5838" y="0"/>
            <a:ext cx="2949787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41F313-9B20-46E2-BFEC-26BFC6F39545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08981"/>
            <a:ext cx="2949787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5838" y="9408981"/>
            <a:ext cx="2949787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9A6B69-8433-42CE-825B-83D8A8B3BA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5945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787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5838" y="0"/>
            <a:ext cx="2949787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5133E8-2031-4A61-A7B0-013587DFACCD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1600" y="742950"/>
            <a:ext cx="6604000" cy="3714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0720" y="4705350"/>
            <a:ext cx="5445760" cy="44577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08981"/>
            <a:ext cx="2949787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5838" y="9408981"/>
            <a:ext cx="2949787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DE8BAF-408A-475F-94EA-A5F6E6BD1E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31119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7" Type="http://schemas.openxmlformats.org/officeDocument/2006/relationships/image" Target="../media/image7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1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.emf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4.emf"/></Relationships>
</file>

<file path=ppt/slideLayouts/_rels/slideLayout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oleObject" Target="../embeddings/oleObject4.bin"/><Relationship Id="rId7" Type="http://schemas.openxmlformats.org/officeDocument/2006/relationships/image" Target="../media/image16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6" Type="http://schemas.openxmlformats.org/officeDocument/2006/relationships/image" Target="../media/image15.png"/><Relationship Id="rId5" Type="http://schemas.openxmlformats.org/officeDocument/2006/relationships/image" Target="../media/image12.png"/><Relationship Id="rId4" Type="http://schemas.openxmlformats.org/officeDocument/2006/relationships/image" Target="../media/image14.emf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7.xml"/><Relationship Id="rId4" Type="http://schemas.openxmlformats.org/officeDocument/2006/relationships/image" Target="../media/image20.emf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8.xml"/><Relationship Id="rId6" Type="http://schemas.openxmlformats.org/officeDocument/2006/relationships/image" Target="../media/image24.wmf"/><Relationship Id="rId5" Type="http://schemas.openxmlformats.org/officeDocument/2006/relationships/image" Target="../media/image23.png"/><Relationship Id="rId4" Type="http://schemas.openxmlformats.org/officeDocument/2006/relationships/image" Target="../media/image20.emf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9.xml"/><Relationship Id="rId5" Type="http://schemas.openxmlformats.org/officeDocument/2006/relationships/image" Target="../media/image25.png"/><Relationship Id="rId4" Type="http://schemas.openxmlformats.org/officeDocument/2006/relationships/image" Target="../media/image20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6" descr="C:\Users\mauyeung\Desktop\2016 Townhall (Ken Lee)\Image Library\Cover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636" y="4405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5" name="Title 36"/>
          <p:cNvSpPr>
            <a:spLocks noGrp="1"/>
          </p:cNvSpPr>
          <p:nvPr>
            <p:ph type="title" hasCustomPrompt="1"/>
          </p:nvPr>
        </p:nvSpPr>
        <p:spPr bwMode="invGray">
          <a:xfrm>
            <a:off x="554636" y="2568375"/>
            <a:ext cx="11088000" cy="1548000"/>
          </a:xfrm>
          <a:prstGeom prst="rect">
            <a:avLst/>
          </a:prstGeom>
        </p:spPr>
        <p:txBody>
          <a:bodyPr wrap="square" lIns="0" tIns="0" rIns="0" bIns="0" anchor="b" anchorCtr="0"/>
          <a:lstStyle>
            <a:lvl1pPr>
              <a:lnSpc>
                <a:spcPct val="90000"/>
              </a:lnSpc>
              <a:defRPr sz="4200" cap="all" baseline="0">
                <a:solidFill>
                  <a:srgbClr val="D40511"/>
                </a:solidFill>
                <a:latin typeface="DeutschePost-MedCn" panose="020B0500000000000000" pitchFamily="34" charset="0"/>
              </a:defRPr>
            </a:lvl1pPr>
          </a:lstStyle>
          <a:p>
            <a:r>
              <a:rPr lang="en-US"/>
              <a:t>SAMPLE TITLE ONE OR</a:t>
            </a:r>
            <a:br>
              <a:rPr lang="en-US"/>
            </a:br>
            <a:r>
              <a:rPr lang="en-US"/>
              <a:t>TWO LINES, Arial, 42 </a:t>
            </a:r>
            <a:r>
              <a:rPr lang="en-US" err="1"/>
              <a:t>pt</a:t>
            </a:r>
            <a:endParaRPr lang="en-US"/>
          </a:p>
        </p:txBody>
      </p:sp>
      <p:sp>
        <p:nvSpPr>
          <p:cNvPr id="57" name="meta-project"/>
          <p:cNvSpPr>
            <a:spLocks noGrp="1"/>
          </p:cNvSpPr>
          <p:nvPr>
            <p:ph type="body" sz="quarter" idx="3" hasCustomPrompt="1"/>
          </p:nvPr>
        </p:nvSpPr>
        <p:spPr>
          <a:xfrm>
            <a:off x="558799" y="4119526"/>
            <a:ext cx="11083836" cy="637849"/>
          </a:xfr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144000" rIns="0" bIns="0" numCol="1" rtlCol="0" anchor="t" anchorCtr="0" compatLnSpc="1">
            <a:prstTxWarp prst="textNoShape">
              <a:avLst/>
            </a:prstTxWarp>
            <a:spAutoFit/>
          </a:bodyPr>
          <a:lstStyle>
            <a:lvl1pPr marL="0" algn="l" defTabSz="914400" rtl="0" eaLnBrk="1" latinLnBrk="0" hangingPunct="1">
              <a:lnSpc>
                <a:spcPct val="100000"/>
              </a:lnSpc>
              <a:spcAft>
                <a:spcPts val="0"/>
              </a:spcAft>
              <a:defRPr lang="en-US" sz="1600" b="0" kern="1200" dirty="0" smtClean="0">
                <a:solidFill>
                  <a:srgbClr val="000000"/>
                </a:solidFill>
                <a:latin typeface="DeutschePost-MedCn" panose="020B0500000000000000" pitchFamily="34" charset="0"/>
                <a:ea typeface="+mn-ea"/>
                <a:cs typeface="+mn-cs"/>
              </a:defRPr>
            </a:lvl1pPr>
            <a:lvl2pPr>
              <a:spcAft>
                <a:spcPts val="1600"/>
              </a:spcAft>
              <a:defRPr sz="2000" b="0" baseline="0"/>
            </a:lvl2pPr>
          </a:lstStyle>
          <a:p>
            <a:r>
              <a:rPr lang="en-US"/>
              <a:t>Name of the event or project or presenter, Arial, 12 </a:t>
            </a:r>
            <a:r>
              <a:rPr lang="en-US" err="1"/>
              <a:t>pt</a:t>
            </a:r>
            <a:br>
              <a:rPr lang="en-US"/>
            </a:br>
            <a:r>
              <a:rPr lang="en-US"/>
              <a:t>Location, ## Month ####</a:t>
            </a:r>
          </a:p>
        </p:txBody>
      </p:sp>
      <p:sp>
        <p:nvSpPr>
          <p:cNvPr id="59" name="Rechteck 9"/>
          <p:cNvSpPr>
            <a:spLocks noChangeArrowheads="1"/>
          </p:cNvSpPr>
          <p:nvPr userDrawn="1"/>
        </p:nvSpPr>
        <p:spPr bwMode="auto">
          <a:xfrm>
            <a:off x="1003300" y="6176963"/>
            <a:ext cx="8424333" cy="252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 anchor="b"/>
          <a:lstStyle/>
          <a:p>
            <a:pPr defTabSz="995363" eaLnBrk="0" fontAlgn="base" hangingPunct="0">
              <a:spcBef>
                <a:spcPct val="0"/>
              </a:spcBef>
              <a:spcAft>
                <a:spcPct val="0"/>
              </a:spcAft>
            </a:pPr>
            <a:endParaRPr lang="de-DE" sz="1000">
              <a:solidFill>
                <a:srgbClr val="000000"/>
              </a:solidFill>
              <a:cs typeface="Arial" charset="0"/>
            </a:endParaRPr>
          </a:p>
        </p:txBody>
      </p:sp>
      <p:sp>
        <p:nvSpPr>
          <p:cNvPr id="60" name="Rectangle 59"/>
          <p:cNvSpPr/>
          <p:nvPr userDrawn="1"/>
        </p:nvSpPr>
        <p:spPr bwMode="auto">
          <a:xfrm>
            <a:off x="508000" y="5857876"/>
            <a:ext cx="11531600" cy="702245"/>
          </a:xfrm>
          <a:prstGeom prst="rect">
            <a:avLst/>
          </a:prstGeom>
          <a:gradFill flip="none" rotWithShape="1">
            <a:gsLst>
              <a:gs pos="0">
                <a:srgbClr val="FFCC00"/>
              </a:gs>
              <a:gs pos="100000">
                <a:schemeClr val="accent3"/>
              </a:gs>
              <a:gs pos="7000">
                <a:schemeClr val="bg1"/>
              </a:gs>
              <a:gs pos="52000">
                <a:schemeClr val="accent3">
                  <a:alpha val="90000"/>
                </a:schemeClr>
              </a:gs>
              <a:gs pos="74000">
                <a:schemeClr val="accent3"/>
              </a:gs>
            </a:gsLst>
            <a:lin ang="0" scaled="1"/>
            <a:tileRect/>
          </a:gradFill>
        </p:spPr>
        <p:txBody>
          <a:bodyPr vert="horz" lIns="0" tIns="0" rIns="0" bIns="0" rtlCol="0" anchor="b" anchorCtr="0">
            <a:noAutofit/>
          </a:bodyPr>
          <a:lstStyle/>
          <a:p>
            <a:pPr marR="0" lvl="0" indent="0" fontAlgn="auto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 typeface="Arial" pitchFamily="34" charset="0"/>
              <a:buNone/>
              <a:tabLst/>
            </a:pPr>
            <a:endParaRPr kumimoji="0" lang="en-US" sz="100" b="0" i="0" u="none" strike="noStrike" cap="none" spc="0" normalizeH="0" baseline="0" noProof="0">
              <a:ln>
                <a:noFill/>
              </a:ln>
              <a:solidFill>
                <a:schemeClr val="accent3"/>
              </a:solidFill>
              <a:effectLst/>
              <a:uLnTx/>
              <a:uFillTx/>
            </a:endParaRPr>
          </a:p>
        </p:txBody>
      </p:sp>
      <p:pic>
        <p:nvPicPr>
          <p:cNvPr id="61" name="Picture 2" descr="C:\Users\mauyeung\Desktop\Focus2020.png"/>
          <p:cNvPicPr>
            <a:picLocks noChangeAspect="1" noChangeArrowheads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533847" y="6006220"/>
            <a:ext cx="2374900" cy="6105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2" name="Text Placeholder 27"/>
          <p:cNvSpPr>
            <a:spLocks noGrp="1" noChangeAspect="1"/>
          </p:cNvSpPr>
          <p:nvPr>
            <p:ph type="body" sz="quarter" idx="6" hasCustomPrompt="1"/>
          </p:nvPr>
        </p:nvSpPr>
        <p:spPr bwMode="gray">
          <a:xfrm>
            <a:off x="8953501" y="6096000"/>
            <a:ext cx="2705100" cy="295970"/>
          </a:xfrm>
          <a:prstGeom prst="rect">
            <a:avLst/>
          </a:prstGeom>
          <a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none" lIns="0" tIns="0" rIns="0" bIns="0" anchor="t" anchorCtr="0"/>
          <a:lstStyle>
            <a:lvl1pPr>
              <a:defRPr sz="10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en-US"/>
              <a:t>.</a:t>
            </a:r>
          </a:p>
        </p:txBody>
      </p:sp>
      <p:grpSp>
        <p:nvGrpSpPr>
          <p:cNvPr id="63" name="Group 62"/>
          <p:cNvGrpSpPr/>
          <p:nvPr userDrawn="1"/>
        </p:nvGrpSpPr>
        <p:grpSpPr>
          <a:xfrm>
            <a:off x="192087" y="5619750"/>
            <a:ext cx="3545908" cy="1181100"/>
            <a:chOff x="333460" y="5435360"/>
            <a:chExt cx="3576089" cy="1353898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pic>
          <p:nvPicPr>
            <p:cNvPr id="64" name="Picture 5" descr="C:\Users\mauyeung\Desktop\GQ.png"/>
            <p:cNvPicPr>
              <a:picLocks noChangeAspect="1" noChangeArrowheads="1"/>
            </p:cNvPicPr>
            <p:nvPr/>
          </p:nvPicPr>
          <p:blipFill rotWithShape="1"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>
              <a:off x="333460" y="5435360"/>
              <a:ext cx="2321835" cy="1353898"/>
            </a:xfrm>
            <a:prstGeom prst="rect">
              <a:avLst/>
            </a:prstGeom>
            <a:noFill/>
            <a:effectLst>
              <a:outerShdw blurRad="177800" sx="102000" sy="102000" algn="ctr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5" name="Picture 410"/>
            <p:cNvPicPr>
              <a:picLocks noChangeAspect="1" noChangeArrowheads="1"/>
            </p:cNvPicPr>
            <p:nvPr/>
          </p:nvPicPr>
          <p:blipFill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30411" y="5786231"/>
              <a:ext cx="1379138" cy="8178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41479882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v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Bild 11" descr="Verlauf_laengs_large_RGB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1630363"/>
            <a:ext cx="12192000" cy="5227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5" name="Title 36"/>
          <p:cNvSpPr>
            <a:spLocks noGrp="1"/>
          </p:cNvSpPr>
          <p:nvPr>
            <p:ph type="title" hasCustomPrompt="1"/>
          </p:nvPr>
        </p:nvSpPr>
        <p:spPr bwMode="invGray">
          <a:xfrm>
            <a:off x="552000" y="1512776"/>
            <a:ext cx="11088000" cy="1548000"/>
          </a:xfrm>
          <a:prstGeom prst="rect">
            <a:avLst/>
          </a:prstGeom>
        </p:spPr>
        <p:txBody>
          <a:bodyPr wrap="square" lIns="0" tIns="0" rIns="0" bIns="0" anchor="b" anchorCtr="0"/>
          <a:lstStyle>
            <a:lvl1pPr>
              <a:lnSpc>
                <a:spcPct val="90000"/>
              </a:lnSpc>
              <a:defRPr sz="4200" cap="all" baseline="0">
                <a:solidFill>
                  <a:srgbClr val="D40511"/>
                </a:solidFill>
                <a:latin typeface="DeutschePost-MedCn" panose="020B0500000000000000" pitchFamily="34" charset="0"/>
              </a:defRPr>
            </a:lvl1pPr>
          </a:lstStyle>
          <a:p>
            <a:r>
              <a:rPr lang="en-US"/>
              <a:t>SAMPLE TITLE ONE OR</a:t>
            </a:r>
            <a:br>
              <a:rPr lang="en-US"/>
            </a:br>
            <a:r>
              <a:rPr lang="en-US"/>
              <a:t>TWO LINES, Arial, 42 </a:t>
            </a:r>
            <a:r>
              <a:rPr lang="en-US" err="1"/>
              <a:t>pt</a:t>
            </a:r>
            <a:endParaRPr lang="en-US"/>
          </a:p>
        </p:txBody>
      </p:sp>
      <p:sp>
        <p:nvSpPr>
          <p:cNvPr id="57" name="meta-project"/>
          <p:cNvSpPr>
            <a:spLocks noGrp="1"/>
          </p:cNvSpPr>
          <p:nvPr>
            <p:ph type="body" sz="quarter" idx="3" hasCustomPrompt="1"/>
          </p:nvPr>
        </p:nvSpPr>
        <p:spPr>
          <a:xfrm>
            <a:off x="552001" y="3060777"/>
            <a:ext cx="11083836" cy="760959"/>
          </a:xfr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144000" rIns="0" bIns="0" numCol="1" rtlCol="0" anchor="t" anchorCtr="0" compatLnSpc="1">
            <a:prstTxWarp prst="textNoShape">
              <a:avLst/>
            </a:prstTxWarp>
            <a:spAutoFit/>
          </a:bodyPr>
          <a:lstStyle>
            <a:lvl1pPr marL="0" algn="l" defTabSz="914400" rtl="0" eaLnBrk="1" latinLnBrk="0" hangingPunct="1">
              <a:lnSpc>
                <a:spcPct val="100000"/>
              </a:lnSpc>
              <a:spcAft>
                <a:spcPts val="0"/>
              </a:spcAft>
              <a:defRPr lang="en-US" sz="2000" b="0" kern="1200" dirty="0" smtClean="0">
                <a:solidFill>
                  <a:srgbClr val="000000"/>
                </a:solidFill>
                <a:latin typeface="DeutschePost-MedCn" panose="020B0500000000000000" pitchFamily="34" charset="0"/>
                <a:ea typeface="+mn-ea"/>
                <a:cs typeface="+mn-cs"/>
              </a:defRPr>
            </a:lvl1pPr>
            <a:lvl2pPr>
              <a:spcAft>
                <a:spcPts val="1600"/>
              </a:spcAft>
              <a:defRPr sz="2000" b="0" baseline="0"/>
            </a:lvl2pPr>
          </a:lstStyle>
          <a:p>
            <a:r>
              <a:rPr lang="en-US"/>
              <a:t>Name of the event or project or presenter, Arial, 12 </a:t>
            </a:r>
            <a:r>
              <a:rPr lang="en-US" err="1"/>
              <a:t>pt</a:t>
            </a:r>
            <a:br>
              <a:rPr lang="en-US"/>
            </a:br>
            <a:r>
              <a:rPr lang="en-US"/>
              <a:t>Location, ## Month ####</a:t>
            </a:r>
          </a:p>
        </p:txBody>
      </p:sp>
      <p:sp>
        <p:nvSpPr>
          <p:cNvPr id="59" name="Rechteck 9"/>
          <p:cNvSpPr>
            <a:spLocks noChangeArrowheads="1"/>
          </p:cNvSpPr>
          <p:nvPr userDrawn="1"/>
        </p:nvSpPr>
        <p:spPr bwMode="auto">
          <a:xfrm>
            <a:off x="1003300" y="6176963"/>
            <a:ext cx="8424333" cy="252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 anchor="b"/>
          <a:lstStyle/>
          <a:p>
            <a:pPr defTabSz="995363" eaLnBrk="0" fontAlgn="base" hangingPunct="0">
              <a:spcBef>
                <a:spcPct val="0"/>
              </a:spcBef>
              <a:spcAft>
                <a:spcPct val="0"/>
              </a:spcAft>
            </a:pPr>
            <a:endParaRPr lang="de-DE" sz="1000">
              <a:solidFill>
                <a:srgbClr val="000000"/>
              </a:solidFill>
              <a:cs typeface="Arial" charset="0"/>
            </a:endParaRPr>
          </a:p>
        </p:txBody>
      </p:sp>
      <p:sp>
        <p:nvSpPr>
          <p:cNvPr id="62" name="Text Placeholder 27"/>
          <p:cNvSpPr>
            <a:spLocks noGrp="1" noChangeAspect="1"/>
          </p:cNvSpPr>
          <p:nvPr>
            <p:ph type="body" sz="quarter" idx="6" hasCustomPrompt="1"/>
          </p:nvPr>
        </p:nvSpPr>
        <p:spPr bwMode="gray">
          <a:xfrm>
            <a:off x="8953501" y="6096000"/>
            <a:ext cx="2705100" cy="295970"/>
          </a:xfrm>
          <a:prstGeom prst="rect">
            <a:avLst/>
          </a:prstGeom>
          <a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none" lIns="0" tIns="0" rIns="0" bIns="0" anchor="t" anchorCtr="0"/>
          <a:lstStyle>
            <a:lvl1pPr>
              <a:defRPr sz="10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en-US"/>
              <a:t>.</a:t>
            </a:r>
          </a:p>
        </p:txBody>
      </p:sp>
      <p:pic>
        <p:nvPicPr>
          <p:cNvPr id="984066" name="Picture 2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92358" y="144302"/>
            <a:ext cx="1335088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162844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ver">
    <p:bg>
      <p:bgPr>
        <a:gradFill flip="none" rotWithShape="1">
          <a:gsLst>
            <a:gs pos="0">
              <a:srgbClr val="FFCC00"/>
            </a:gs>
            <a:gs pos="100000">
              <a:schemeClr val="bg1"/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 userDrawn="1"/>
        </p:nvGrpSpPr>
        <p:grpSpPr>
          <a:xfrm>
            <a:off x="-953" y="0"/>
            <a:ext cx="12192953" cy="6858000"/>
            <a:chOff x="-715" y="0"/>
            <a:chExt cx="9754315" cy="6048376"/>
          </a:xfrm>
        </p:grpSpPr>
        <p:pic>
          <p:nvPicPr>
            <p:cNvPr id="11" name="Picture 2" descr="https://www.dpdhl-corporate.net/images/mdb_thumbs/000/001/029/485/1024x768.jpg"/>
            <p:cNvPicPr>
              <a:picLocks noChangeAspect="1" noChangeArrowheads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715" y="0"/>
              <a:ext cx="9754315" cy="604837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" name="Rectangle 1"/>
            <p:cNvSpPr/>
            <p:nvPr userDrawn="1"/>
          </p:nvSpPr>
          <p:spPr bwMode="auto">
            <a:xfrm>
              <a:off x="-715" y="0"/>
              <a:ext cx="9753600" cy="6048376"/>
            </a:xfrm>
            <a:prstGeom prst="rect">
              <a:avLst/>
            </a:prstGeom>
            <a:gradFill flip="none" rotWithShape="1">
              <a:gsLst>
                <a:gs pos="82000">
                  <a:schemeClr val="bg1">
                    <a:alpha val="55000"/>
                  </a:schemeClr>
                </a:gs>
                <a:gs pos="100000">
                  <a:schemeClr val="bg1"/>
                </a:gs>
              </a:gsLst>
              <a:lin ang="16200000" scaled="1"/>
              <a:tileRect/>
            </a:gradFill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144000" tIns="144000" rIns="144000" bIns="1440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9536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</p:grpSp>
      <p:sp>
        <p:nvSpPr>
          <p:cNvPr id="55" name="Title 36"/>
          <p:cNvSpPr>
            <a:spLocks noGrp="1"/>
          </p:cNvSpPr>
          <p:nvPr>
            <p:ph type="title" hasCustomPrompt="1"/>
          </p:nvPr>
        </p:nvSpPr>
        <p:spPr bwMode="invGray">
          <a:xfrm>
            <a:off x="554636" y="2568375"/>
            <a:ext cx="11088000" cy="1548000"/>
          </a:xfrm>
          <a:prstGeom prst="rect">
            <a:avLst/>
          </a:prstGeom>
        </p:spPr>
        <p:txBody>
          <a:bodyPr wrap="square" lIns="0" tIns="0" rIns="0" bIns="0" anchor="b" anchorCtr="0"/>
          <a:lstStyle>
            <a:lvl1pPr>
              <a:lnSpc>
                <a:spcPct val="90000"/>
              </a:lnSpc>
              <a:defRPr sz="4200" cap="all" baseline="0">
                <a:solidFill>
                  <a:srgbClr val="D40511"/>
                </a:solidFill>
                <a:latin typeface="DeutschePost-MedCn" panose="020B0500000000000000" pitchFamily="34" charset="0"/>
              </a:defRPr>
            </a:lvl1pPr>
          </a:lstStyle>
          <a:p>
            <a:r>
              <a:rPr lang="en-US"/>
              <a:t>SAMPLE TITLE ONE OR</a:t>
            </a:r>
            <a:br>
              <a:rPr lang="en-US"/>
            </a:br>
            <a:r>
              <a:rPr lang="en-US"/>
              <a:t>TWO LINES, Arial, 42 </a:t>
            </a:r>
            <a:r>
              <a:rPr lang="en-US" err="1"/>
              <a:t>pt</a:t>
            </a:r>
            <a:endParaRPr lang="en-US"/>
          </a:p>
        </p:txBody>
      </p:sp>
      <p:sp>
        <p:nvSpPr>
          <p:cNvPr id="57" name="meta-project"/>
          <p:cNvSpPr>
            <a:spLocks noGrp="1"/>
          </p:cNvSpPr>
          <p:nvPr>
            <p:ph type="body" sz="quarter" idx="3" hasCustomPrompt="1"/>
          </p:nvPr>
        </p:nvSpPr>
        <p:spPr>
          <a:xfrm>
            <a:off x="558799" y="4119526"/>
            <a:ext cx="11083836" cy="637849"/>
          </a:xfr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144000" rIns="0" bIns="0" numCol="1" rtlCol="0" anchor="t" anchorCtr="0" compatLnSpc="1">
            <a:prstTxWarp prst="textNoShape">
              <a:avLst/>
            </a:prstTxWarp>
            <a:spAutoFit/>
          </a:bodyPr>
          <a:lstStyle>
            <a:lvl1pPr marL="0" algn="l" defTabSz="914400" rtl="0" eaLnBrk="1" latinLnBrk="0" hangingPunct="1">
              <a:lnSpc>
                <a:spcPct val="100000"/>
              </a:lnSpc>
              <a:spcAft>
                <a:spcPts val="0"/>
              </a:spcAft>
              <a:defRPr lang="en-US" sz="1600" b="0" kern="1200" dirty="0" smtClean="0">
                <a:solidFill>
                  <a:srgbClr val="000000"/>
                </a:solidFill>
                <a:latin typeface="DeutschePost-MedCn" panose="020B0500000000000000" pitchFamily="34" charset="0"/>
                <a:ea typeface="+mn-ea"/>
                <a:cs typeface="+mn-cs"/>
              </a:defRPr>
            </a:lvl1pPr>
            <a:lvl2pPr>
              <a:spcAft>
                <a:spcPts val="1600"/>
              </a:spcAft>
              <a:defRPr sz="2000" b="0" baseline="0"/>
            </a:lvl2pPr>
          </a:lstStyle>
          <a:p>
            <a:r>
              <a:rPr lang="en-US"/>
              <a:t>Name of the event or project or presenter, Arial, 12 </a:t>
            </a:r>
            <a:r>
              <a:rPr lang="en-US" err="1"/>
              <a:t>pt</a:t>
            </a:r>
            <a:br>
              <a:rPr lang="en-US"/>
            </a:br>
            <a:r>
              <a:rPr lang="en-US"/>
              <a:t>Location, ## Month ####</a:t>
            </a:r>
          </a:p>
        </p:txBody>
      </p:sp>
      <p:sp>
        <p:nvSpPr>
          <p:cNvPr id="59" name="Rechteck 9"/>
          <p:cNvSpPr>
            <a:spLocks noChangeArrowheads="1"/>
          </p:cNvSpPr>
          <p:nvPr userDrawn="1"/>
        </p:nvSpPr>
        <p:spPr bwMode="auto">
          <a:xfrm>
            <a:off x="1003300" y="6176963"/>
            <a:ext cx="8424333" cy="252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 anchor="b"/>
          <a:lstStyle/>
          <a:p>
            <a:pPr defTabSz="995363" eaLnBrk="0" fontAlgn="base" hangingPunct="0">
              <a:spcBef>
                <a:spcPct val="0"/>
              </a:spcBef>
              <a:spcAft>
                <a:spcPct val="0"/>
              </a:spcAft>
            </a:pPr>
            <a:endParaRPr lang="de-DE" sz="1000">
              <a:solidFill>
                <a:srgbClr val="000000"/>
              </a:solidFill>
              <a:cs typeface="Arial" charset="0"/>
            </a:endParaRPr>
          </a:p>
        </p:txBody>
      </p:sp>
      <p:sp>
        <p:nvSpPr>
          <p:cNvPr id="60" name="Rectangle 59"/>
          <p:cNvSpPr/>
          <p:nvPr userDrawn="1"/>
        </p:nvSpPr>
        <p:spPr bwMode="auto">
          <a:xfrm>
            <a:off x="508000" y="5857876"/>
            <a:ext cx="11531600" cy="702245"/>
          </a:xfrm>
          <a:prstGeom prst="rect">
            <a:avLst/>
          </a:prstGeom>
          <a:gradFill flip="none" rotWithShape="1">
            <a:gsLst>
              <a:gs pos="0">
                <a:srgbClr val="FFFFFF">
                  <a:alpha val="5000"/>
                </a:srgbClr>
              </a:gs>
              <a:gs pos="100000">
                <a:schemeClr val="accent3"/>
              </a:gs>
            </a:gsLst>
            <a:lin ang="5400000" scaled="1"/>
            <a:tileRect/>
          </a:gradFill>
        </p:spPr>
        <p:txBody>
          <a:bodyPr vert="horz" lIns="0" tIns="0" rIns="0" bIns="0" rtlCol="0" anchor="b" anchorCtr="0">
            <a:noAutofit/>
          </a:bodyPr>
          <a:lstStyle/>
          <a:p>
            <a:pPr marR="0" lvl="0" indent="0" fontAlgn="auto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 typeface="Arial" pitchFamily="34" charset="0"/>
              <a:buNone/>
              <a:tabLst/>
            </a:pPr>
            <a:endParaRPr kumimoji="0" lang="en-US" sz="100" b="0" i="0" u="none" strike="noStrike" cap="none" spc="0" normalizeH="0" baseline="0" noProof="0">
              <a:ln>
                <a:noFill/>
              </a:ln>
              <a:solidFill>
                <a:schemeClr val="accent3"/>
              </a:solidFill>
              <a:effectLst/>
              <a:uLnTx/>
              <a:uFillTx/>
            </a:endParaRPr>
          </a:p>
        </p:txBody>
      </p:sp>
      <p:pic>
        <p:nvPicPr>
          <p:cNvPr id="61" name="Picture 2" descr="C:\Users\mauyeung\Desktop\Focus2020.png"/>
          <p:cNvPicPr>
            <a:picLocks noChangeAspect="1" noChangeArrowheads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533847" y="6006220"/>
            <a:ext cx="2374900" cy="6105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2" name="Text Placeholder 27"/>
          <p:cNvSpPr>
            <a:spLocks noGrp="1" noChangeAspect="1"/>
          </p:cNvSpPr>
          <p:nvPr>
            <p:ph type="body" sz="quarter" idx="6" hasCustomPrompt="1"/>
          </p:nvPr>
        </p:nvSpPr>
        <p:spPr bwMode="gray">
          <a:xfrm>
            <a:off x="8953501" y="6096000"/>
            <a:ext cx="2705100" cy="295970"/>
          </a:xfrm>
          <a:prstGeom prst="rect">
            <a:avLst/>
          </a:prstGeom>
          <a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none" lIns="0" tIns="0" rIns="0" bIns="0" anchor="t" anchorCtr="0"/>
          <a:lstStyle>
            <a:lvl1pPr>
              <a:defRPr sz="10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en-US"/>
              <a:t>.</a:t>
            </a:r>
          </a:p>
        </p:txBody>
      </p:sp>
      <p:grpSp>
        <p:nvGrpSpPr>
          <p:cNvPr id="63" name="Group 62"/>
          <p:cNvGrpSpPr/>
          <p:nvPr userDrawn="1"/>
        </p:nvGrpSpPr>
        <p:grpSpPr>
          <a:xfrm>
            <a:off x="192087" y="5619750"/>
            <a:ext cx="3545908" cy="1181100"/>
            <a:chOff x="333460" y="5435360"/>
            <a:chExt cx="3576089" cy="1353898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pic>
          <p:nvPicPr>
            <p:cNvPr id="64" name="Picture 5" descr="C:\Users\mauyeung\Desktop\GQ.png"/>
            <p:cNvPicPr>
              <a:picLocks noChangeAspect="1" noChangeArrowheads="1"/>
            </p:cNvPicPr>
            <p:nvPr/>
          </p:nvPicPr>
          <p:blipFill rotWithShape="1"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>
              <a:off x="333460" y="5435360"/>
              <a:ext cx="2321835" cy="1353898"/>
            </a:xfrm>
            <a:prstGeom prst="rect">
              <a:avLst/>
            </a:prstGeom>
            <a:noFill/>
            <a:effectLst>
              <a:outerShdw blurRad="177800" sx="102000" sy="102000" algn="ctr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5" name="Picture 410"/>
            <p:cNvPicPr>
              <a:picLocks noChangeAspect="1" noChangeArrowheads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30411" y="5786231"/>
              <a:ext cx="1379138" cy="8178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63475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7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2118" y="1589"/>
          <a:ext cx="2116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4" name="Object 7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18" y="1589"/>
                        <a:ext cx="2116" cy="1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Bild 21" descr="Verlauf_laengs_large_RGB.png"/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39185" y="5580063"/>
            <a:ext cx="11713633" cy="1098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234" descr="DP_DHL_Black_RGB"/>
          <p:cNvPicPr>
            <a:picLocks noChangeAspect="1" noChangeArrowheads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834034" y="6313489"/>
            <a:ext cx="1775884" cy="20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hteck 9"/>
          <p:cNvSpPr>
            <a:spLocks noChangeArrowheads="1"/>
          </p:cNvSpPr>
          <p:nvPr/>
        </p:nvSpPr>
        <p:spPr bwMode="auto">
          <a:xfrm>
            <a:off x="1104900" y="6253163"/>
            <a:ext cx="8424333" cy="252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 anchor="b"/>
          <a:lstStyle/>
          <a:p>
            <a:pPr defTabSz="995363" eaLnBrk="0" fontAlgn="base" hangingPunct="0">
              <a:spcBef>
                <a:spcPct val="0"/>
              </a:spcBef>
              <a:spcAft>
                <a:spcPct val="0"/>
              </a:spcAft>
            </a:pPr>
            <a:endParaRPr lang="de-DE" sz="1000">
              <a:solidFill>
                <a:srgbClr val="000000"/>
              </a:solidFill>
              <a:cs typeface="Arial" charset="0"/>
            </a:endParaRPr>
          </a:p>
        </p:txBody>
      </p:sp>
      <p:pic>
        <p:nvPicPr>
          <p:cNvPr id="8" name="Bild 11" descr="Verlauf_laengs_large_RGB.png"/>
          <p:cNvPicPr>
            <a:picLocks noChangeAspect="1"/>
          </p:cNvPicPr>
          <p:nvPr userDrawn="1"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1630363"/>
            <a:ext cx="12192000" cy="5227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24000" y="1728000"/>
            <a:ext cx="10944000" cy="1548000"/>
          </a:xfrm>
        </p:spPr>
        <p:txBody>
          <a:bodyPr anchor="b"/>
          <a:lstStyle>
            <a:lvl1pPr algn="ctr">
              <a:lnSpc>
                <a:spcPts val="6000"/>
              </a:lnSpc>
              <a:defRPr sz="5500">
                <a:solidFill>
                  <a:srgbClr val="D4051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624000" y="3456000"/>
            <a:ext cx="10944000" cy="1080000"/>
          </a:xfrm>
        </p:spPr>
        <p:txBody>
          <a:bodyPr/>
          <a:lstStyle>
            <a:lvl1pPr marL="0" indent="0" algn="ctr">
              <a:spcAft>
                <a:spcPts val="0"/>
              </a:spcAft>
              <a:buNone/>
              <a:defRPr sz="2000" b="0">
                <a:solidFill>
                  <a:srgbClr val="D4051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noProof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5560489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Gradient with Footer &amp;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63569096"/>
              </p:ext>
            </p:extLst>
          </p:nvPr>
        </p:nvGraphicFramePr>
        <p:xfrm>
          <a:off x="2118" y="1589"/>
          <a:ext cx="2116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4" name="Object 3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18" y="1589"/>
                        <a:ext cx="2116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hteck 8"/>
          <p:cNvSpPr>
            <a:spLocks noChangeArrowheads="1"/>
          </p:cNvSpPr>
          <p:nvPr userDrawn="1"/>
        </p:nvSpPr>
        <p:spPr bwMode="auto">
          <a:xfrm>
            <a:off x="547325" y="6416948"/>
            <a:ext cx="484716" cy="252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 anchor="b"/>
          <a:lstStyle/>
          <a:p>
            <a:pPr defTabSz="995363" eaLnBrk="0" fontAlgn="base" hangingPunct="0">
              <a:spcBef>
                <a:spcPct val="0"/>
              </a:spcBef>
              <a:spcAft>
                <a:spcPct val="0"/>
              </a:spcAft>
            </a:pPr>
            <a:fld id="{58CBD727-95B6-48BD-B5BE-1FC33BFB6509}" type="slidenum">
              <a:rPr lang="de-DE" sz="900">
                <a:solidFill>
                  <a:srgbClr val="000000"/>
                </a:solidFill>
                <a:cs typeface="Arial" charset="0"/>
              </a:rPr>
              <a:pPr defTabSz="995363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de-DE" sz="900">
              <a:solidFill>
                <a:srgbClr val="000000"/>
              </a:solidFill>
              <a:cs typeface="Arial" charset="0"/>
            </a:endParaRPr>
          </a:p>
        </p:txBody>
      </p:sp>
      <p:sp>
        <p:nvSpPr>
          <p:cNvPr id="6" name="Rechteck 9"/>
          <p:cNvSpPr>
            <a:spLocks noChangeArrowheads="1"/>
          </p:cNvSpPr>
          <p:nvPr userDrawn="1"/>
        </p:nvSpPr>
        <p:spPr bwMode="auto">
          <a:xfrm>
            <a:off x="1032040" y="6416948"/>
            <a:ext cx="8424333" cy="252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 anchor="b"/>
          <a:lstStyle/>
          <a:p>
            <a:pPr defTabSz="995363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e-DE" sz="900">
                <a:solidFill>
                  <a:srgbClr val="000000"/>
                </a:solidFill>
                <a:cs typeface="Arial" charset="0"/>
              </a:rPr>
              <a:t>Asia-Pacific Shared Services | 21 July  2017</a:t>
            </a:r>
          </a:p>
        </p:txBody>
      </p:sp>
      <p:pic>
        <p:nvPicPr>
          <p:cNvPr id="11" name="Bild 21" descr="Verlauf_laengs_large_RGB.png"/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39185" y="169864"/>
            <a:ext cx="11713633" cy="1100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Bild 9" descr="DHL_rgb_BG.png"/>
          <p:cNvPicPr>
            <a:picLocks noChangeAspect="1"/>
          </p:cNvPicPr>
          <p:nvPr userDrawn="1"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267951" y="325439"/>
            <a:ext cx="1301749" cy="141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Titelplatzhalter 1"/>
          <p:cNvSpPr txBox="1">
            <a:spLocks/>
          </p:cNvSpPr>
          <p:nvPr userDrawn="1"/>
        </p:nvSpPr>
        <p:spPr>
          <a:xfrm>
            <a:off x="387351" y="269875"/>
            <a:ext cx="10943167" cy="90011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rtl="0" eaLnBrk="0" fontAlgn="base" hangingPunct="0">
              <a:lnSpc>
                <a:spcPts val="3200"/>
              </a:lnSpc>
              <a:spcBef>
                <a:spcPct val="0"/>
              </a:spcBef>
              <a:spcAft>
                <a:spcPct val="0"/>
              </a:spcAft>
              <a:defRPr sz="2400" kern="1200" cap="all" baseline="0">
                <a:solidFill>
                  <a:srgbClr val="D4051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algn="l" rtl="0" eaLnBrk="0" fontAlgn="base" hangingPunct="0">
              <a:lnSpc>
                <a:spcPts val="3200"/>
              </a:lnSpc>
              <a:spcBef>
                <a:spcPct val="0"/>
              </a:spcBef>
              <a:spcAft>
                <a:spcPct val="0"/>
              </a:spcAft>
              <a:defRPr sz="2800">
                <a:solidFill>
                  <a:srgbClr val="D40511"/>
                </a:solidFill>
                <a:latin typeface="Arial" pitchFamily="34" charset="0"/>
              </a:defRPr>
            </a:lvl2pPr>
            <a:lvl3pPr algn="l" rtl="0" eaLnBrk="0" fontAlgn="base" hangingPunct="0">
              <a:lnSpc>
                <a:spcPts val="3200"/>
              </a:lnSpc>
              <a:spcBef>
                <a:spcPct val="0"/>
              </a:spcBef>
              <a:spcAft>
                <a:spcPct val="0"/>
              </a:spcAft>
              <a:defRPr sz="2800">
                <a:solidFill>
                  <a:srgbClr val="D40511"/>
                </a:solidFill>
                <a:latin typeface="Arial" pitchFamily="34" charset="0"/>
              </a:defRPr>
            </a:lvl3pPr>
            <a:lvl4pPr algn="l" rtl="0" eaLnBrk="0" fontAlgn="base" hangingPunct="0">
              <a:lnSpc>
                <a:spcPts val="3200"/>
              </a:lnSpc>
              <a:spcBef>
                <a:spcPct val="0"/>
              </a:spcBef>
              <a:spcAft>
                <a:spcPct val="0"/>
              </a:spcAft>
              <a:defRPr sz="2800">
                <a:solidFill>
                  <a:srgbClr val="D40511"/>
                </a:solidFill>
                <a:latin typeface="Arial" pitchFamily="34" charset="0"/>
              </a:defRPr>
            </a:lvl4pPr>
            <a:lvl5pPr algn="l" rtl="0" eaLnBrk="0" fontAlgn="base" hangingPunct="0">
              <a:lnSpc>
                <a:spcPts val="3200"/>
              </a:lnSpc>
              <a:spcBef>
                <a:spcPct val="0"/>
              </a:spcBef>
              <a:spcAft>
                <a:spcPct val="0"/>
              </a:spcAft>
              <a:defRPr sz="2800">
                <a:solidFill>
                  <a:srgbClr val="D40511"/>
                </a:solidFill>
                <a:latin typeface="Arial" pitchFamily="34" charset="0"/>
              </a:defRPr>
            </a:lvl5pPr>
            <a:lvl6pPr marL="457200" algn="l" rtl="0" fontAlgn="base">
              <a:lnSpc>
                <a:spcPts val="3200"/>
              </a:lnSpc>
              <a:spcBef>
                <a:spcPct val="0"/>
              </a:spcBef>
              <a:spcAft>
                <a:spcPct val="0"/>
              </a:spcAft>
              <a:defRPr sz="2800">
                <a:solidFill>
                  <a:srgbClr val="D40511"/>
                </a:solidFill>
                <a:latin typeface="Arial" pitchFamily="34" charset="0"/>
              </a:defRPr>
            </a:lvl6pPr>
            <a:lvl7pPr marL="914400" algn="l" rtl="0" fontAlgn="base">
              <a:lnSpc>
                <a:spcPts val="3200"/>
              </a:lnSpc>
              <a:spcBef>
                <a:spcPct val="0"/>
              </a:spcBef>
              <a:spcAft>
                <a:spcPct val="0"/>
              </a:spcAft>
              <a:defRPr sz="2800">
                <a:solidFill>
                  <a:srgbClr val="D40511"/>
                </a:solidFill>
                <a:latin typeface="Arial" pitchFamily="34" charset="0"/>
              </a:defRPr>
            </a:lvl7pPr>
            <a:lvl8pPr marL="1371600" algn="l" rtl="0" fontAlgn="base">
              <a:lnSpc>
                <a:spcPts val="3200"/>
              </a:lnSpc>
              <a:spcBef>
                <a:spcPct val="0"/>
              </a:spcBef>
              <a:spcAft>
                <a:spcPct val="0"/>
              </a:spcAft>
              <a:defRPr sz="2800">
                <a:solidFill>
                  <a:srgbClr val="D40511"/>
                </a:solidFill>
                <a:latin typeface="Arial" pitchFamily="34" charset="0"/>
              </a:defRPr>
            </a:lvl8pPr>
            <a:lvl9pPr marL="1828800" algn="l" rtl="0" fontAlgn="base">
              <a:lnSpc>
                <a:spcPts val="3200"/>
              </a:lnSpc>
              <a:spcBef>
                <a:spcPct val="0"/>
              </a:spcBef>
              <a:spcAft>
                <a:spcPct val="0"/>
              </a:spcAft>
              <a:defRPr sz="2800">
                <a:solidFill>
                  <a:srgbClr val="D40511"/>
                </a:solidFill>
                <a:latin typeface="Arial" pitchFamily="34" charset="0"/>
              </a:defRPr>
            </a:lvl9pPr>
          </a:lstStyle>
          <a:p>
            <a:r>
              <a:rPr lang="en-US" sz="2400"/>
              <a:t>Click here to insert headline in upper case letters</a:t>
            </a:r>
          </a:p>
        </p:txBody>
      </p:sp>
    </p:spTree>
    <p:extLst>
      <p:ext uri="{BB962C8B-B14F-4D97-AF65-F5344CB8AC3E}">
        <p14:creationId xmlns:p14="http://schemas.microsoft.com/office/powerpoint/2010/main" val="2875801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Gradient w/out Footer &amp;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5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2118" y="1589"/>
          <a:ext cx="2116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2" name="Objekt 15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18" y="1589"/>
                        <a:ext cx="2116" cy="1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Bild 21" descr="Verlauf_laengs_large_RGB.png"/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39185" y="169864"/>
            <a:ext cx="11713633" cy="1100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Bild 9" descr="DHL_rgb_BG.png"/>
          <p:cNvPicPr>
            <a:picLocks noChangeAspect="1"/>
          </p:cNvPicPr>
          <p:nvPr userDrawn="1"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267951" y="325439"/>
            <a:ext cx="1301749" cy="141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itelplatzhalter 1"/>
          <p:cNvSpPr>
            <a:spLocks noGrp="1"/>
          </p:cNvSpPr>
          <p:nvPr>
            <p:ph type="title" hasCustomPrompt="1"/>
          </p:nvPr>
        </p:nvSpPr>
        <p:spPr>
          <a:xfrm>
            <a:off x="387351" y="269875"/>
            <a:ext cx="10943167" cy="90011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baseline="0"/>
            </a:lvl1pPr>
          </a:lstStyle>
          <a:p>
            <a:r>
              <a:rPr lang="en-US" noProof="0"/>
              <a:t>Click here to insert headline in upper case letters</a:t>
            </a:r>
          </a:p>
        </p:txBody>
      </p:sp>
    </p:spTree>
    <p:extLst>
      <p:ext uri="{BB962C8B-B14F-4D97-AF65-F5344CB8AC3E}">
        <p14:creationId xmlns:p14="http://schemas.microsoft.com/office/powerpoint/2010/main" val="25843434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ttom Gradi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5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2118" y="1589"/>
          <a:ext cx="2116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2" name="Objekt 15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18" y="1589"/>
                        <a:ext cx="2116" cy="1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Bild 21" descr="Verlauf_laengs_large_RGB.png"/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rot="10800000">
            <a:off x="0" y="6010271"/>
            <a:ext cx="12192000" cy="8477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3" descr="C:\MyData\Docs\01_Presentations in Progress\27183_Template2010\20140402_Formatted_Templates\DHL_rgb_BG.png"/>
          <p:cNvPicPr>
            <a:picLocks noChangeAspect="1" noChangeArrowheads="1"/>
          </p:cNvPicPr>
          <p:nvPr userDrawn="1"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10033929" y="6373811"/>
            <a:ext cx="1680000" cy="181823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Rechteck 8"/>
          <p:cNvSpPr>
            <a:spLocks noChangeArrowheads="1"/>
          </p:cNvSpPr>
          <p:nvPr userDrawn="1"/>
        </p:nvSpPr>
        <p:spPr bwMode="auto">
          <a:xfrm>
            <a:off x="312694" y="6373811"/>
            <a:ext cx="484716" cy="2036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 anchor="b"/>
          <a:lstStyle/>
          <a:p>
            <a:pPr defTabSz="995363" eaLnBrk="0" fontAlgn="base" hangingPunct="0">
              <a:spcBef>
                <a:spcPct val="0"/>
              </a:spcBef>
              <a:spcAft>
                <a:spcPct val="0"/>
              </a:spcAft>
            </a:pPr>
            <a:fld id="{58CBD727-95B6-48BD-B5BE-1FC33BFB6509}" type="slidenum">
              <a:rPr lang="de-DE" sz="900">
                <a:solidFill>
                  <a:srgbClr val="000000"/>
                </a:solidFill>
                <a:cs typeface="Arial" charset="0"/>
              </a:rPr>
              <a:pPr defTabSz="995363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de-DE" sz="900">
              <a:solidFill>
                <a:srgbClr val="000000"/>
              </a:solidFill>
              <a:cs typeface="Arial" charset="0"/>
            </a:endParaRPr>
          </a:p>
        </p:txBody>
      </p:sp>
      <p:sp>
        <p:nvSpPr>
          <p:cNvPr id="10" name="Rechteck 9"/>
          <p:cNvSpPr>
            <a:spLocks noChangeArrowheads="1"/>
          </p:cNvSpPr>
          <p:nvPr userDrawn="1"/>
        </p:nvSpPr>
        <p:spPr bwMode="auto">
          <a:xfrm>
            <a:off x="790765" y="6338515"/>
            <a:ext cx="5305236" cy="252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 anchor="b"/>
          <a:lstStyle/>
          <a:p>
            <a:pPr algn="l" defTabSz="995363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e-DE" sz="900">
                <a:solidFill>
                  <a:srgbClr val="000000"/>
                </a:solidFill>
                <a:cs typeface="Arial" charset="0"/>
              </a:rPr>
              <a:t>AMKAD Monthly Performance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1"/>
          </p:nvPr>
        </p:nvSpPr>
        <p:spPr>
          <a:xfrm>
            <a:off x="1519584" y="142614"/>
            <a:ext cx="9444828" cy="814388"/>
          </a:xfrm>
        </p:spPr>
        <p:txBody>
          <a:bodyPr anchor="ctr"/>
          <a:lstStyle>
            <a:lvl1pPr marL="342900" indent="-157163">
              <a:spcAft>
                <a:spcPts val="0"/>
              </a:spcAft>
              <a:defRPr sz="3200" b="0" cap="all" baseline="0">
                <a:solidFill>
                  <a:schemeClr val="tx1">
                    <a:lumMod val="75000"/>
                    <a:lumOff val="25000"/>
                  </a:schemeClr>
                </a:solidFill>
                <a:latin typeface="DeutschePost-MedCn" panose="020B0500000000000000" pitchFamily="34" charset="0"/>
              </a:defRPr>
            </a:lvl1pPr>
            <a:lvl2pPr>
              <a:spcAft>
                <a:spcPts val="0"/>
              </a:spcAft>
              <a:defRPr sz="2000" b="0" cap="all" baseline="0">
                <a:solidFill>
                  <a:schemeClr val="tx1">
                    <a:lumMod val="75000"/>
                    <a:lumOff val="25000"/>
                  </a:schemeClr>
                </a:solidFill>
                <a:latin typeface="DeutschePost-MedCn" panose="020B0500000000000000" pitchFamily="34" charset="0"/>
              </a:defRPr>
            </a:lvl2pPr>
            <a:lvl3pPr marL="0" indent="0">
              <a:buNone/>
              <a:defRPr sz="3200" b="0">
                <a:latin typeface="DeutschePost-MedCn" panose="020B0500000000000000" pitchFamily="34" charset="0"/>
              </a:defRPr>
            </a:lvl3pPr>
            <a:lvl4pPr>
              <a:defRPr sz="3200" b="0">
                <a:latin typeface="DeutschePost-MedCn" panose="020B0500000000000000" pitchFamily="34" charset="0"/>
              </a:defRPr>
            </a:lvl4pPr>
            <a:lvl5pPr>
              <a:defRPr sz="3200" b="0">
                <a:latin typeface="DeutschePost-MedCn" panose="020B0500000000000000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cxnSp>
        <p:nvCxnSpPr>
          <p:cNvPr id="12" name="Straight Connector 11"/>
          <p:cNvCxnSpPr/>
          <p:nvPr userDrawn="1"/>
        </p:nvCxnSpPr>
        <p:spPr bwMode="auto">
          <a:xfrm>
            <a:off x="1784627" y="957002"/>
            <a:ext cx="9929303" cy="0"/>
          </a:xfrm>
          <a:prstGeom prst="line">
            <a:avLst/>
          </a:prstGeom>
          <a:solidFill>
            <a:schemeClr val="bg1"/>
          </a:solidFill>
          <a:ln w="15875" cap="flat" cmpd="sng" algn="ctr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35000">
                  <a:schemeClr val="tx1">
                    <a:lumMod val="75000"/>
                    <a:lumOff val="25000"/>
                  </a:schemeClr>
                </a:gs>
              </a:gsLst>
              <a:lin ang="5400000" scaled="1"/>
            </a:gra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983486" name="Picture 446"/>
          <p:cNvPicPr preferRelativeResize="0">
            <a:picLocks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253" y="316922"/>
            <a:ext cx="1335024" cy="5471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83489" name="Picture 449"/>
          <p:cNvPicPr>
            <a:picLocks noChangeAspect="1" noChangeArrowheads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88265" y="299635"/>
            <a:ext cx="731838" cy="444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327520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able of content: 1 column, 3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297740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Content: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2117" y="1589"/>
          <a:ext cx="2116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270" imgH="270" progId="">
                  <p:embed/>
                </p:oleObj>
              </mc:Choice>
              <mc:Fallback>
                <p:oleObj name="think-cell Folie" r:id="rId3" imgW="270" imgH="270" progId="">
                  <p:embed/>
                  <p:pic>
                    <p:nvPicPr>
                      <p:cNvPr id="4" name="Object 3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17" y="1589"/>
                        <a:ext cx="2116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Rechteck 8"/>
          <p:cNvSpPr/>
          <p:nvPr userDrawn="1"/>
        </p:nvSpPr>
        <p:spPr bwMode="gray">
          <a:xfrm>
            <a:off x="11160000" y="6225003"/>
            <a:ext cx="483816" cy="2520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b" anchorCtr="0" compatLnSpc="1">
            <a:prstTxWarp prst="textNoShape">
              <a:avLst/>
            </a:prstTxWarp>
          </a:bodyPr>
          <a:lstStyle/>
          <a:p>
            <a:pPr marL="0" marR="0" indent="0" algn="r" defTabSz="9953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fld id="{2E45E626-985F-4F96-B1C4-178AC390C14C}" type="slidenum">
              <a:rPr kumimoji="0" lang="en-US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pPr marL="0" marR="0" indent="0" algn="r" defTabSz="99536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13" name="Titel 12"/>
          <p:cNvSpPr>
            <a:spLocks noGrp="1"/>
          </p:cNvSpPr>
          <p:nvPr>
            <p:ph type="title"/>
          </p:nvPr>
        </p:nvSpPr>
        <p:spPr>
          <a:xfrm>
            <a:off x="552000" y="201600"/>
            <a:ext cx="11088000" cy="7128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4" name="Textplatzhalter 18"/>
          <p:cNvSpPr>
            <a:spLocks noGrp="1"/>
          </p:cNvSpPr>
          <p:nvPr>
            <p:ph type="body" sz="quarter" idx="32"/>
          </p:nvPr>
        </p:nvSpPr>
        <p:spPr>
          <a:xfrm>
            <a:off x="552451" y="1249200"/>
            <a:ext cx="11087100" cy="47556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6" name="Straight Connector 10"/>
          <p:cNvCxnSpPr/>
          <p:nvPr userDrawn="1"/>
        </p:nvCxnSpPr>
        <p:spPr bwMode="gray">
          <a:xfrm>
            <a:off x="552000" y="1015200"/>
            <a:ext cx="11088000" cy="0"/>
          </a:xfrm>
          <a:prstGeom prst="line">
            <a:avLst/>
          </a:prstGeom>
          <a:ln w="12700" cmpd="sng">
            <a:solidFill>
              <a:srgbClr val="D4051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20800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Gerade Verbindung 8"/>
          <p:cNvCxnSpPr/>
          <p:nvPr userDrawn="1"/>
        </p:nvCxnSpPr>
        <p:spPr>
          <a:xfrm>
            <a:off x="620185" y="609600"/>
            <a:ext cx="10943167" cy="0"/>
          </a:xfrm>
          <a:prstGeom prst="line">
            <a:avLst/>
          </a:prstGeom>
          <a:ln w="12700" cmpd="sng">
            <a:solidFill>
              <a:srgbClr val="D4051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4418" y="1547813"/>
            <a:ext cx="10943167" cy="4572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title"/>
          </p:nvPr>
        </p:nvSpPr>
        <p:spPr bwMode="gray">
          <a:xfrm>
            <a:off x="717551" y="228600"/>
            <a:ext cx="9404349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lvl="0"/>
            <a:r>
              <a:rPr lang="en-US" err="1"/>
              <a:t>Titelmasterformat</a:t>
            </a:r>
            <a:r>
              <a:rPr lang="en-US"/>
              <a:t> </a:t>
            </a:r>
            <a:r>
              <a:rPr lang="en-US" err="1"/>
              <a:t>durch</a:t>
            </a:r>
            <a:r>
              <a:rPr lang="en-US"/>
              <a:t> </a:t>
            </a:r>
            <a:r>
              <a:rPr lang="en-US" err="1"/>
              <a:t>Klicken</a:t>
            </a:r>
            <a:r>
              <a:rPr lang="en-US"/>
              <a:t> </a:t>
            </a:r>
            <a:r>
              <a:rPr lang="en-US" err="1"/>
              <a:t>bearbeiten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88490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able of content: 1 column, 3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208785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905362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ta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11"/>
          <p:cNvSpPr/>
          <p:nvPr/>
        </p:nvSpPr>
        <p:spPr bwMode="hidden">
          <a:xfrm>
            <a:off x="239184" y="5952326"/>
            <a:ext cx="11712000" cy="720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100000">
                <a:schemeClr val="accent3"/>
              </a:gs>
              <a:gs pos="36000">
                <a:schemeClr val="accent3">
                  <a:alpha val="77000"/>
                </a:schemeClr>
              </a:gs>
              <a:gs pos="52000">
                <a:schemeClr val="accent3">
                  <a:alpha val="90000"/>
                </a:schemeClr>
              </a:gs>
              <a:gs pos="74000">
                <a:schemeClr val="accent3"/>
              </a:gs>
            </a:gsLst>
            <a:lin ang="5400000" scaled="0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144000" tIns="144000" rIns="144000" bIns="144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953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/>
          </p:nvPr>
        </p:nvSpPr>
        <p:spPr bwMode="gray">
          <a:xfrm>
            <a:off x="551999" y="1249200"/>
            <a:ext cx="11088000" cy="4755600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ct val="110000"/>
              </a:lnSpc>
              <a:spcBef>
                <a:spcPts val="14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400" b="1"/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400" b="0"/>
            </a:lvl2pPr>
            <a:lvl3pPr marL="180000" marR="0" indent="-18000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Arial" pitchFamily="34" charset="0"/>
              <a:buChar char="•"/>
              <a:tabLst/>
              <a:defRPr/>
            </a:lvl3pPr>
            <a:lvl4pPr marL="360000" marR="0" indent="-18000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Symbol" pitchFamily="18" charset="2"/>
              <a:buChar char="-"/>
              <a:tabLst/>
              <a:defRPr/>
            </a:lvl4pPr>
            <a:lvl5pPr marL="533400" marR="0" indent="-174625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Symbol" charset="2"/>
              <a:buChar char="-"/>
              <a:tabLst/>
              <a:defRPr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9" name="Rechteck 8"/>
          <p:cNvSpPr/>
          <p:nvPr/>
        </p:nvSpPr>
        <p:spPr bwMode="gray">
          <a:xfrm>
            <a:off x="11160000" y="6225003"/>
            <a:ext cx="483816" cy="2520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b" anchorCtr="0" compatLnSpc="1">
            <a:prstTxWarp prst="textNoShape">
              <a:avLst/>
            </a:prstTxWarp>
          </a:bodyPr>
          <a:lstStyle/>
          <a:p>
            <a:pPr marL="0" marR="0" indent="0" algn="r" defTabSz="9953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fld id="{2E45E626-985F-4F96-B1C4-178AC390C14C}" type="slidenum">
              <a:rPr kumimoji="0" lang="en-US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pPr marL="0" marR="0" indent="0" algn="r" defTabSz="99536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30" name="Footer Placeholder 2"/>
          <p:cNvSpPr>
            <a:spLocks noGrp="1"/>
          </p:cNvSpPr>
          <p:nvPr>
            <p:ph type="ftr" sz="quarter" idx="31"/>
          </p:nvPr>
        </p:nvSpPr>
        <p:spPr bwMode="gray">
          <a:xfrm>
            <a:off x="2856000" y="6225003"/>
            <a:ext cx="8304000" cy="2520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 | Location | xx Month 20xx</a:t>
            </a:r>
          </a:p>
        </p:txBody>
      </p:sp>
      <p:sp>
        <p:nvSpPr>
          <p:cNvPr id="13" name="Titel 12"/>
          <p:cNvSpPr>
            <a:spLocks noGrp="1"/>
          </p:cNvSpPr>
          <p:nvPr>
            <p:ph type="title"/>
          </p:nvPr>
        </p:nvSpPr>
        <p:spPr>
          <a:xfrm>
            <a:off x="552000" y="201600"/>
            <a:ext cx="11088000" cy="7128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noProof="0"/>
          </a:p>
        </p:txBody>
      </p:sp>
      <p:cxnSp>
        <p:nvCxnSpPr>
          <p:cNvPr id="14" name="Straight Connector 10"/>
          <p:cNvCxnSpPr/>
          <p:nvPr/>
        </p:nvCxnSpPr>
        <p:spPr bwMode="gray">
          <a:xfrm>
            <a:off x="552000" y="1015200"/>
            <a:ext cx="11088000" cy="0"/>
          </a:xfrm>
          <a:prstGeom prst="line">
            <a:avLst/>
          </a:prstGeom>
          <a:ln w="12700" cmpd="sng">
            <a:solidFill>
              <a:srgbClr val="D4051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3" descr="C:\MyData\Docs\01_Presentations in Progress\27183_Template2010\20140402_Formatted_Templates\DHL_rgb_BG.png"/>
          <p:cNvPicPr>
            <a:picLocks noChangeAspect="1" noChangeArrowheads="1"/>
          </p:cNvPicPr>
          <p:nvPr/>
        </p:nvPicPr>
        <p:blipFill>
          <a:blip r:embed="rId2" cstate="print"/>
          <a:stretch>
            <a:fillRect/>
          </a:stretch>
        </p:blipFill>
        <p:spPr bwMode="auto">
          <a:xfrm>
            <a:off x="552000" y="6278378"/>
            <a:ext cx="1680000" cy="18182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Picture 11" descr="Focus Logo.png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4566" y="6166485"/>
            <a:ext cx="1797140" cy="365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2923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: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/>
          </p:cNvGraphicFramePr>
          <p:nvPr userDrawn="1">
            <p:custDataLst>
              <p:tags r:id="rId1"/>
            </p:custDataLst>
          </p:nvPr>
        </p:nvGraphicFramePr>
        <p:xfrm>
          <a:off x="2117" y="1589"/>
          <a:ext cx="2116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">
                  <p:embed/>
                </p:oleObj>
              </mc:Choice>
              <mc:Fallback>
                <p:oleObj name="think-cell Slide" r:id="rId3" imgW="270" imgH="270" progId="">
                  <p:embed/>
                  <p:pic>
                    <p:nvPicPr>
                      <p:cNvPr id="2" name="Object 1" hidden="1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17" y="1589"/>
                        <a:ext cx="2116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platzhalter 15"/>
          <p:cNvSpPr>
            <a:spLocks noGrp="1"/>
          </p:cNvSpPr>
          <p:nvPr>
            <p:ph type="body" sz="quarter" idx="32"/>
          </p:nvPr>
        </p:nvSpPr>
        <p:spPr>
          <a:xfrm>
            <a:off x="552451" y="1249199"/>
            <a:ext cx="5400000" cy="47556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18" name="Textplatzhalter 17"/>
          <p:cNvSpPr>
            <a:spLocks noGrp="1"/>
          </p:cNvSpPr>
          <p:nvPr>
            <p:ph type="body" sz="quarter" idx="33"/>
          </p:nvPr>
        </p:nvSpPr>
        <p:spPr>
          <a:xfrm>
            <a:off x="6240000" y="1249199"/>
            <a:ext cx="5400000" cy="47556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11" name="Rechteck 11"/>
          <p:cNvSpPr/>
          <p:nvPr userDrawn="1"/>
        </p:nvSpPr>
        <p:spPr bwMode="hidden">
          <a:xfrm>
            <a:off x="239184" y="6225003"/>
            <a:ext cx="11712000" cy="447323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100000">
                <a:schemeClr val="accent3"/>
              </a:gs>
              <a:gs pos="36000">
                <a:schemeClr val="accent3">
                  <a:alpha val="77000"/>
                </a:schemeClr>
              </a:gs>
              <a:gs pos="52000">
                <a:schemeClr val="accent3">
                  <a:alpha val="90000"/>
                </a:schemeClr>
              </a:gs>
              <a:gs pos="74000">
                <a:schemeClr val="accent3"/>
              </a:gs>
            </a:gsLst>
            <a:lin ang="5400000" scaled="0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144000" tIns="144000" rIns="144000" bIns="144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953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3" name="Rechteck 8"/>
          <p:cNvSpPr/>
          <p:nvPr userDrawn="1"/>
        </p:nvSpPr>
        <p:spPr bwMode="gray">
          <a:xfrm>
            <a:off x="11160000" y="6308128"/>
            <a:ext cx="483816" cy="2520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b" anchorCtr="0" compatLnSpc="1">
            <a:prstTxWarp prst="textNoShape">
              <a:avLst/>
            </a:prstTxWarp>
          </a:bodyPr>
          <a:lstStyle/>
          <a:p>
            <a:pPr marL="0" marR="0" indent="0" algn="r" defTabSz="9953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fld id="{2E45E626-985F-4F96-B1C4-178AC390C14C}" type="slidenum">
              <a:rPr kumimoji="0" lang="en-US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pPr marL="0" marR="0" indent="0" algn="r" defTabSz="99536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21" name="Straight Connector 10"/>
          <p:cNvCxnSpPr/>
          <p:nvPr userDrawn="1"/>
        </p:nvCxnSpPr>
        <p:spPr bwMode="gray">
          <a:xfrm>
            <a:off x="472833" y="837075"/>
            <a:ext cx="11277600" cy="0"/>
          </a:xfrm>
          <a:prstGeom prst="line">
            <a:avLst/>
          </a:prstGeom>
          <a:ln w="12700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 descr="DHL_Ex_extern"/>
          <p:cNvPicPr>
            <a:picLocks noChangeAspect="1" noChangeArrowheads="1"/>
          </p:cNvPicPr>
          <p:nvPr userDrawn="1"/>
        </p:nvPicPr>
        <p:blipFill>
          <a:blip r:embed="rId5" cstate="print"/>
          <a:srcRect/>
          <a:stretch>
            <a:fillRect/>
          </a:stretch>
        </p:blipFill>
        <p:spPr bwMode="gray">
          <a:xfrm>
            <a:off x="9136507" y="6348659"/>
            <a:ext cx="1564253" cy="274320"/>
          </a:xfrm>
          <a:prstGeom prst="rect">
            <a:avLst/>
          </a:prstGeom>
          <a:noFill/>
          <a:ln w="0">
            <a:noFill/>
            <a:miter lim="800000"/>
            <a:headEnd/>
            <a:tailEnd/>
          </a:ln>
          <a:effectLst/>
        </p:spPr>
      </p:pic>
      <p:sp>
        <p:nvSpPr>
          <p:cNvPr id="15" name="Title 14"/>
          <p:cNvSpPr>
            <a:spLocks noGrp="1"/>
          </p:cNvSpPr>
          <p:nvPr>
            <p:ph type="title"/>
          </p:nvPr>
        </p:nvSpPr>
        <p:spPr>
          <a:xfrm>
            <a:off x="552000" y="201600"/>
            <a:ext cx="11088000" cy="7128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12" name="Picture 100"/>
          <p:cNvPicPr>
            <a:picLocks noChangeAspect="1" noChangeArrowheads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827" y="6324509"/>
            <a:ext cx="1581008" cy="324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456388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Agenda: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eck 11"/>
          <p:cNvSpPr/>
          <p:nvPr/>
        </p:nvSpPr>
        <p:spPr bwMode="hidden">
          <a:xfrm>
            <a:off x="239184" y="5952326"/>
            <a:ext cx="11712000" cy="720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100000">
                <a:schemeClr val="accent3"/>
              </a:gs>
              <a:gs pos="36000">
                <a:schemeClr val="accent3">
                  <a:alpha val="77000"/>
                </a:schemeClr>
              </a:gs>
              <a:gs pos="52000">
                <a:schemeClr val="accent3">
                  <a:alpha val="90000"/>
                </a:schemeClr>
              </a:gs>
              <a:gs pos="74000">
                <a:schemeClr val="accent3"/>
              </a:gs>
            </a:gsLst>
            <a:lin ang="5400000" scaled="0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144000" tIns="144000" rIns="144000" bIns="144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953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3" name="Rechteck 8"/>
          <p:cNvSpPr/>
          <p:nvPr/>
        </p:nvSpPr>
        <p:spPr bwMode="gray">
          <a:xfrm>
            <a:off x="11160000" y="6225003"/>
            <a:ext cx="483816" cy="2520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b" anchorCtr="0" compatLnSpc="1">
            <a:prstTxWarp prst="textNoShape">
              <a:avLst/>
            </a:prstTxWarp>
          </a:bodyPr>
          <a:lstStyle/>
          <a:p>
            <a:pPr marL="0" marR="0" indent="0" algn="r" defTabSz="9953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fld id="{2E45E626-985F-4F96-B1C4-178AC390C14C}" type="slidenum">
              <a:rPr kumimoji="0" lang="en-US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pPr marL="0" marR="0" indent="0" algn="r" defTabSz="99536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34" name="Footer Placeholder 2"/>
          <p:cNvSpPr>
            <a:spLocks noGrp="1"/>
          </p:cNvSpPr>
          <p:nvPr>
            <p:ph type="ftr" sz="quarter" idx="31"/>
          </p:nvPr>
        </p:nvSpPr>
        <p:spPr bwMode="gray">
          <a:xfrm>
            <a:off x="2856000" y="6225003"/>
            <a:ext cx="8304000" cy="2520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 | Location | xx Month 20xx</a:t>
            </a:r>
          </a:p>
        </p:txBody>
      </p:sp>
      <p:sp>
        <p:nvSpPr>
          <p:cNvPr id="29" name="Text Placeholder 9"/>
          <p:cNvSpPr>
            <a:spLocks noGrp="1"/>
          </p:cNvSpPr>
          <p:nvPr>
            <p:ph type="body" sz="quarter" idx="32" hasCustomPrompt="1"/>
          </p:nvPr>
        </p:nvSpPr>
        <p:spPr bwMode="gray">
          <a:xfrm>
            <a:off x="552000" y="1249200"/>
            <a:ext cx="5400000" cy="4755600"/>
          </a:xfrm>
          <a:prstGeom prst="rect">
            <a:avLst/>
          </a:prstGeom>
        </p:spPr>
        <p:txBody>
          <a:bodyPr lIns="0" tIns="0" rIns="0" bIns="0"/>
          <a:lstStyle>
            <a:lvl1pPr marL="270000" marR="0" indent="-270000" algn="l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Tx/>
              <a:buSzTx/>
              <a:buFont typeface="Arial" pitchFamily="34" charset="0"/>
              <a:buAutoNum type="arabicPlain"/>
              <a:tabLst/>
              <a:defRPr sz="1400" b="1" baseline="0"/>
            </a:lvl1pPr>
            <a:lvl2pPr marL="27000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 typeface="Arial" pitchFamily="34" charset="0"/>
              <a:buNone/>
              <a:tabLst/>
              <a:defRPr sz="1400" b="0"/>
            </a:lvl2pPr>
            <a:lvl3pPr marL="180000" marR="0" indent="-18000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 typeface="Arial" pitchFamily="34" charset="0"/>
              <a:buChar char="•"/>
              <a:tabLst/>
              <a:defRPr/>
            </a:lvl3pPr>
            <a:lvl4pPr marL="360000" marR="0" indent="-18000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 typeface="Symbol" pitchFamily="18" charset="2"/>
              <a:buChar char="-"/>
              <a:tabLst/>
              <a:defRPr/>
            </a:lvl4pPr>
            <a:lvl5pPr marL="533400" marR="0" indent="-174625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 typeface="Symbol" charset="2"/>
              <a:buChar char="-"/>
              <a:tabLst/>
              <a:defRPr/>
            </a:lvl5pPr>
          </a:lstStyle>
          <a:p>
            <a:r>
              <a:rPr lang="en-US"/>
              <a:t>Sample section</a:t>
            </a:r>
          </a:p>
          <a:p>
            <a:pPr lvl="1"/>
            <a:r>
              <a:rPr lang="fr-FR" err="1"/>
              <a:t>Lorem</a:t>
            </a:r>
            <a:r>
              <a:rPr lang="fr-FR"/>
              <a:t> </a:t>
            </a:r>
            <a:r>
              <a:rPr lang="fr-FR" err="1"/>
              <a:t>ipsum</a:t>
            </a:r>
            <a:r>
              <a:rPr lang="fr-FR"/>
              <a:t> </a:t>
            </a:r>
            <a:r>
              <a:rPr lang="fr-FR" err="1"/>
              <a:t>dolore</a:t>
            </a:r>
            <a:r>
              <a:rPr lang="fr-FR"/>
              <a:t> est consista</a:t>
            </a:r>
            <a:endParaRPr lang="en-US"/>
          </a:p>
          <a:p>
            <a:r>
              <a:rPr lang="en-US"/>
              <a:t>Sample section</a:t>
            </a:r>
          </a:p>
          <a:p>
            <a:pPr lvl="1"/>
            <a:r>
              <a:rPr lang="fr-FR" err="1"/>
              <a:t>Lorem</a:t>
            </a:r>
            <a:r>
              <a:rPr lang="fr-FR"/>
              <a:t> </a:t>
            </a:r>
            <a:r>
              <a:rPr lang="fr-FR" err="1"/>
              <a:t>ipsum</a:t>
            </a:r>
            <a:r>
              <a:rPr lang="fr-FR"/>
              <a:t> </a:t>
            </a:r>
            <a:r>
              <a:rPr lang="fr-FR" err="1"/>
              <a:t>dolore</a:t>
            </a:r>
            <a:r>
              <a:rPr lang="fr-FR"/>
              <a:t> est consista</a:t>
            </a:r>
            <a:endParaRPr lang="en-US"/>
          </a:p>
          <a:p>
            <a:r>
              <a:rPr lang="en-US"/>
              <a:t>Sample section</a:t>
            </a:r>
          </a:p>
          <a:p>
            <a:pPr lvl="1"/>
            <a:r>
              <a:rPr lang="fr-FR" err="1"/>
              <a:t>Lorem</a:t>
            </a:r>
            <a:r>
              <a:rPr lang="fr-FR"/>
              <a:t> </a:t>
            </a:r>
            <a:r>
              <a:rPr lang="fr-FR" err="1"/>
              <a:t>ipsum</a:t>
            </a:r>
            <a:r>
              <a:rPr lang="fr-FR"/>
              <a:t> </a:t>
            </a:r>
            <a:r>
              <a:rPr lang="fr-FR" err="1"/>
              <a:t>dolore</a:t>
            </a:r>
            <a:r>
              <a:rPr lang="fr-FR"/>
              <a:t> est consista</a:t>
            </a:r>
            <a:endParaRPr lang="en-US"/>
          </a:p>
          <a:p>
            <a:r>
              <a:rPr lang="en-US"/>
              <a:t>Sample section</a:t>
            </a:r>
          </a:p>
          <a:p>
            <a:pPr lvl="1"/>
            <a:r>
              <a:rPr lang="fr-FR" err="1"/>
              <a:t>Lorem</a:t>
            </a:r>
            <a:r>
              <a:rPr lang="fr-FR"/>
              <a:t> </a:t>
            </a:r>
            <a:r>
              <a:rPr lang="fr-FR" err="1"/>
              <a:t>ipsum</a:t>
            </a:r>
            <a:r>
              <a:rPr lang="fr-FR"/>
              <a:t> </a:t>
            </a:r>
            <a:r>
              <a:rPr lang="fr-FR" err="1"/>
              <a:t>dolore</a:t>
            </a:r>
            <a:r>
              <a:rPr lang="fr-FR"/>
              <a:t> est consista</a:t>
            </a:r>
            <a:endParaRPr lang="en-US"/>
          </a:p>
          <a:p>
            <a:r>
              <a:rPr lang="en-US"/>
              <a:t>Sample section</a:t>
            </a:r>
          </a:p>
          <a:p>
            <a:pPr lvl="1"/>
            <a:r>
              <a:rPr lang="fr-FR" err="1"/>
              <a:t>Lorem</a:t>
            </a:r>
            <a:r>
              <a:rPr lang="fr-FR"/>
              <a:t> </a:t>
            </a:r>
            <a:r>
              <a:rPr lang="fr-FR" err="1"/>
              <a:t>ipsum</a:t>
            </a:r>
            <a:r>
              <a:rPr lang="fr-FR"/>
              <a:t> </a:t>
            </a:r>
            <a:r>
              <a:rPr lang="fr-FR" err="1"/>
              <a:t>dolore</a:t>
            </a:r>
            <a:r>
              <a:rPr lang="fr-FR"/>
              <a:t> est consista</a:t>
            </a:r>
            <a:endParaRPr lang="en-US"/>
          </a:p>
          <a:p>
            <a:r>
              <a:rPr lang="en-US"/>
              <a:t>Sample section</a:t>
            </a:r>
          </a:p>
          <a:p>
            <a:pPr lvl="1"/>
            <a:r>
              <a:rPr lang="fr-FR" err="1"/>
              <a:t>Lorem</a:t>
            </a:r>
            <a:r>
              <a:rPr lang="fr-FR"/>
              <a:t> </a:t>
            </a:r>
            <a:r>
              <a:rPr lang="fr-FR" err="1"/>
              <a:t>ipsum</a:t>
            </a:r>
            <a:r>
              <a:rPr lang="fr-FR"/>
              <a:t> </a:t>
            </a:r>
            <a:r>
              <a:rPr lang="fr-FR" err="1"/>
              <a:t>dolore</a:t>
            </a:r>
            <a:r>
              <a:rPr lang="fr-FR"/>
              <a:t> est consista</a:t>
            </a:r>
            <a:endParaRPr lang="en-US"/>
          </a:p>
        </p:txBody>
      </p:sp>
      <p:sp>
        <p:nvSpPr>
          <p:cNvPr id="32" name="Text Placeholder 9"/>
          <p:cNvSpPr>
            <a:spLocks noGrp="1"/>
          </p:cNvSpPr>
          <p:nvPr>
            <p:ph type="body" sz="quarter" idx="33" hasCustomPrompt="1"/>
          </p:nvPr>
        </p:nvSpPr>
        <p:spPr bwMode="gray">
          <a:xfrm>
            <a:off x="6240000" y="1249200"/>
            <a:ext cx="5400000" cy="4755600"/>
          </a:xfrm>
          <a:prstGeom prst="rect">
            <a:avLst/>
          </a:prstGeom>
        </p:spPr>
        <p:txBody>
          <a:bodyPr lIns="0" tIns="0" rIns="0" bIns="0"/>
          <a:lstStyle>
            <a:lvl1pPr marL="266700" marR="0" indent="-266700" algn="l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Tx/>
              <a:buSzTx/>
              <a:buFont typeface="Wingdings" pitchFamily="2" charset="2"/>
              <a:buAutoNum type="arabicPlain" startAt="7"/>
              <a:tabLst/>
              <a:defRPr sz="1400" b="1" baseline="0"/>
            </a:lvl1pPr>
            <a:lvl2pPr marL="27000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 typeface="Arial" pitchFamily="34" charset="0"/>
              <a:buNone/>
              <a:tabLst/>
              <a:defRPr sz="1400" b="0"/>
            </a:lvl2pPr>
            <a:lvl3pPr marL="180000" marR="0" indent="-18000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 typeface="Arial" pitchFamily="34" charset="0"/>
              <a:buChar char="•"/>
              <a:tabLst/>
              <a:defRPr/>
            </a:lvl3pPr>
            <a:lvl4pPr marL="360000" marR="0" indent="-18000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 typeface="Symbol" pitchFamily="18" charset="2"/>
              <a:buChar char="-"/>
              <a:tabLst/>
              <a:defRPr/>
            </a:lvl4pPr>
            <a:lvl5pPr marL="533400" marR="0" indent="-174625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 typeface="Symbol" charset="2"/>
              <a:buChar char="-"/>
              <a:tabLst/>
              <a:defRPr/>
            </a:lvl5pPr>
          </a:lstStyle>
          <a:p>
            <a:r>
              <a:rPr lang="en-US"/>
              <a:t>Sample section</a:t>
            </a:r>
          </a:p>
          <a:p>
            <a:pPr lvl="1"/>
            <a:r>
              <a:rPr lang="fr-FR" err="1"/>
              <a:t>Lorem</a:t>
            </a:r>
            <a:r>
              <a:rPr lang="fr-FR"/>
              <a:t> </a:t>
            </a:r>
            <a:r>
              <a:rPr lang="fr-FR" err="1"/>
              <a:t>ipsum</a:t>
            </a:r>
            <a:r>
              <a:rPr lang="fr-FR"/>
              <a:t> </a:t>
            </a:r>
            <a:r>
              <a:rPr lang="fr-FR" err="1"/>
              <a:t>dolore</a:t>
            </a:r>
            <a:r>
              <a:rPr lang="fr-FR"/>
              <a:t> est consista</a:t>
            </a:r>
            <a:endParaRPr lang="en-US"/>
          </a:p>
          <a:p>
            <a:r>
              <a:rPr lang="en-US"/>
              <a:t>Sample section</a:t>
            </a:r>
          </a:p>
          <a:p>
            <a:pPr lvl="1"/>
            <a:r>
              <a:rPr lang="fr-FR" err="1"/>
              <a:t>Lorem</a:t>
            </a:r>
            <a:r>
              <a:rPr lang="fr-FR"/>
              <a:t> </a:t>
            </a:r>
            <a:r>
              <a:rPr lang="fr-FR" err="1"/>
              <a:t>ipsum</a:t>
            </a:r>
            <a:r>
              <a:rPr lang="fr-FR"/>
              <a:t> </a:t>
            </a:r>
            <a:r>
              <a:rPr lang="fr-FR" err="1"/>
              <a:t>dolore</a:t>
            </a:r>
            <a:r>
              <a:rPr lang="fr-FR"/>
              <a:t> est consista</a:t>
            </a:r>
            <a:endParaRPr lang="en-US"/>
          </a:p>
          <a:p>
            <a:r>
              <a:rPr lang="en-US"/>
              <a:t>Sample section</a:t>
            </a:r>
          </a:p>
          <a:p>
            <a:pPr lvl="1"/>
            <a:r>
              <a:rPr lang="fr-FR" err="1"/>
              <a:t>Lorem</a:t>
            </a:r>
            <a:r>
              <a:rPr lang="fr-FR"/>
              <a:t> </a:t>
            </a:r>
            <a:r>
              <a:rPr lang="fr-FR" err="1"/>
              <a:t>ipsum</a:t>
            </a:r>
            <a:r>
              <a:rPr lang="fr-FR"/>
              <a:t> </a:t>
            </a:r>
            <a:r>
              <a:rPr lang="fr-FR" err="1"/>
              <a:t>dolore</a:t>
            </a:r>
            <a:r>
              <a:rPr lang="fr-FR"/>
              <a:t> est consista</a:t>
            </a:r>
            <a:endParaRPr lang="en-US"/>
          </a:p>
          <a:p>
            <a:r>
              <a:rPr lang="en-US"/>
              <a:t>Sample section</a:t>
            </a:r>
          </a:p>
          <a:p>
            <a:pPr lvl="1"/>
            <a:r>
              <a:rPr lang="fr-FR" err="1"/>
              <a:t>Lorem</a:t>
            </a:r>
            <a:r>
              <a:rPr lang="fr-FR"/>
              <a:t> </a:t>
            </a:r>
            <a:r>
              <a:rPr lang="fr-FR" err="1"/>
              <a:t>ipsum</a:t>
            </a:r>
            <a:r>
              <a:rPr lang="fr-FR"/>
              <a:t> </a:t>
            </a:r>
            <a:r>
              <a:rPr lang="fr-FR" err="1"/>
              <a:t>dolore</a:t>
            </a:r>
            <a:r>
              <a:rPr lang="fr-FR"/>
              <a:t> est consista</a:t>
            </a:r>
            <a:endParaRPr lang="en-US"/>
          </a:p>
          <a:p>
            <a:r>
              <a:rPr lang="en-US"/>
              <a:t>Sample section</a:t>
            </a:r>
          </a:p>
          <a:p>
            <a:pPr lvl="1"/>
            <a:r>
              <a:rPr lang="fr-FR" err="1"/>
              <a:t>Lorem</a:t>
            </a:r>
            <a:r>
              <a:rPr lang="fr-FR"/>
              <a:t> </a:t>
            </a:r>
            <a:r>
              <a:rPr lang="fr-FR" err="1"/>
              <a:t>ipsum</a:t>
            </a:r>
            <a:r>
              <a:rPr lang="fr-FR"/>
              <a:t> </a:t>
            </a:r>
            <a:r>
              <a:rPr lang="fr-FR" err="1"/>
              <a:t>dolore</a:t>
            </a:r>
            <a:r>
              <a:rPr lang="fr-FR"/>
              <a:t> est consista</a:t>
            </a:r>
            <a:endParaRPr lang="en-US"/>
          </a:p>
          <a:p>
            <a:r>
              <a:rPr lang="en-US"/>
              <a:t>Sample section</a:t>
            </a:r>
          </a:p>
          <a:p>
            <a:pPr lvl="1"/>
            <a:r>
              <a:rPr lang="fr-FR" err="1"/>
              <a:t>Lorem</a:t>
            </a:r>
            <a:r>
              <a:rPr lang="fr-FR"/>
              <a:t> </a:t>
            </a:r>
            <a:r>
              <a:rPr lang="fr-FR" err="1"/>
              <a:t>ipsum</a:t>
            </a:r>
            <a:r>
              <a:rPr lang="fr-FR"/>
              <a:t> </a:t>
            </a:r>
            <a:r>
              <a:rPr lang="fr-FR" err="1"/>
              <a:t>dolore</a:t>
            </a:r>
            <a:r>
              <a:rPr lang="fr-FR"/>
              <a:t> est consista</a:t>
            </a:r>
            <a:endParaRPr lang="en-US"/>
          </a:p>
        </p:txBody>
      </p:sp>
      <p:sp>
        <p:nvSpPr>
          <p:cNvPr id="13" name="Titel 12"/>
          <p:cNvSpPr>
            <a:spLocks noGrp="1"/>
          </p:cNvSpPr>
          <p:nvPr>
            <p:ph type="title"/>
          </p:nvPr>
        </p:nvSpPr>
        <p:spPr>
          <a:xfrm>
            <a:off x="552000" y="201600"/>
            <a:ext cx="11088000" cy="7128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cxnSp>
        <p:nvCxnSpPr>
          <p:cNvPr id="14" name="Straight Connector 10"/>
          <p:cNvCxnSpPr/>
          <p:nvPr/>
        </p:nvCxnSpPr>
        <p:spPr bwMode="gray">
          <a:xfrm>
            <a:off x="552000" y="1015200"/>
            <a:ext cx="11088000" cy="0"/>
          </a:xfrm>
          <a:prstGeom prst="line">
            <a:avLst/>
          </a:prstGeom>
          <a:ln w="12700" cmpd="sng">
            <a:solidFill>
              <a:srgbClr val="D4051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Picture 3" descr="C:\MyData\Docs\01_Presentations in Progress\27183_Template2010\20140402_Formatted_Templates\DHL_rgb_BG.png"/>
          <p:cNvPicPr>
            <a:picLocks noChangeAspect="1" noChangeArrowheads="1"/>
          </p:cNvPicPr>
          <p:nvPr/>
        </p:nvPicPr>
        <p:blipFill>
          <a:blip r:embed="rId2" cstate="print"/>
          <a:stretch>
            <a:fillRect/>
          </a:stretch>
        </p:blipFill>
        <p:spPr bwMode="auto">
          <a:xfrm>
            <a:off x="552000" y="6278378"/>
            <a:ext cx="1680000" cy="18182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Picture 9" descr="Focus Logo.png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4566" y="6166485"/>
            <a:ext cx="1797140" cy="365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588155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: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2119" y="1591"/>
          <a:ext cx="2116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4" name="Object 3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19" y="1591"/>
                        <a:ext cx="2116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hteck 11"/>
          <p:cNvSpPr/>
          <p:nvPr userDrawn="1"/>
        </p:nvSpPr>
        <p:spPr bwMode="hidden">
          <a:xfrm>
            <a:off x="239184" y="5952326"/>
            <a:ext cx="11712000" cy="720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100000">
                <a:schemeClr val="accent3"/>
              </a:gs>
              <a:gs pos="36000">
                <a:schemeClr val="accent3">
                  <a:alpha val="77000"/>
                </a:schemeClr>
              </a:gs>
              <a:gs pos="52000">
                <a:schemeClr val="accent3">
                  <a:alpha val="90000"/>
                </a:schemeClr>
              </a:gs>
              <a:gs pos="74000">
                <a:schemeClr val="accent3"/>
              </a:gs>
            </a:gsLst>
            <a:lin ang="5400000" scaled="0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143985" tIns="143985" rIns="143985" bIns="143985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9526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9" name="Rechteck 8"/>
          <p:cNvSpPr/>
          <p:nvPr userDrawn="1"/>
        </p:nvSpPr>
        <p:spPr bwMode="gray">
          <a:xfrm>
            <a:off x="11160004" y="6225003"/>
            <a:ext cx="483817" cy="2520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b" anchorCtr="0" compatLnSpc="1">
            <a:prstTxWarp prst="textNoShape">
              <a:avLst/>
            </a:prstTxWarp>
          </a:bodyPr>
          <a:lstStyle/>
          <a:p>
            <a:pPr marL="0" marR="0" indent="0" algn="r" defTabSz="99526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fld id="{2E45E626-985F-4F96-B1C4-178AC390C14C}" type="slidenum">
              <a:rPr kumimoji="0" lang="en-US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pPr marL="0" marR="0" indent="0" algn="r" defTabSz="99526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30" name="Footer Placeholder 2"/>
          <p:cNvSpPr>
            <a:spLocks noGrp="1"/>
          </p:cNvSpPr>
          <p:nvPr>
            <p:ph type="ftr" sz="quarter" idx="31"/>
          </p:nvPr>
        </p:nvSpPr>
        <p:spPr bwMode="gray">
          <a:xfrm>
            <a:off x="2856000" y="6225003"/>
            <a:ext cx="8304000" cy="2520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/>
              <a:t>Source:ShortsTravel;YTDAugust;Datesarebasedondateofbooking,notactualcheck-in</a:t>
            </a:r>
          </a:p>
        </p:txBody>
      </p:sp>
      <p:sp>
        <p:nvSpPr>
          <p:cNvPr id="13" name="Titel 12"/>
          <p:cNvSpPr>
            <a:spLocks noGrp="1"/>
          </p:cNvSpPr>
          <p:nvPr>
            <p:ph type="title"/>
          </p:nvPr>
        </p:nvSpPr>
        <p:spPr>
          <a:xfrm>
            <a:off x="533803" y="256192"/>
            <a:ext cx="11088000" cy="35482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4" name="Textplatzhalter 18"/>
          <p:cNvSpPr>
            <a:spLocks noGrp="1"/>
          </p:cNvSpPr>
          <p:nvPr>
            <p:ph type="body" sz="quarter" idx="32"/>
          </p:nvPr>
        </p:nvSpPr>
        <p:spPr>
          <a:xfrm>
            <a:off x="552454" y="1249200"/>
            <a:ext cx="11087100" cy="47556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6" name="Straight Connector 10"/>
          <p:cNvCxnSpPr/>
          <p:nvPr userDrawn="1"/>
        </p:nvCxnSpPr>
        <p:spPr bwMode="gray">
          <a:xfrm>
            <a:off x="552000" y="1015200"/>
            <a:ext cx="11088000" cy="0"/>
          </a:xfrm>
          <a:prstGeom prst="line">
            <a:avLst/>
          </a:prstGeom>
          <a:ln w="12700" cmpd="sng">
            <a:solidFill>
              <a:srgbClr val="D4051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3" descr="C:\MyData\Docs\01_Presentations in Progress\27183_Template2010\20140402_Formatted_Templates\DHL_rgb_BG.png"/>
          <p:cNvPicPr>
            <a:picLocks noChangeAspect="1" noChangeArrowheads="1"/>
          </p:cNvPicPr>
          <p:nvPr userDrawn="1"/>
        </p:nvPicPr>
        <p:blipFill>
          <a:blip r:embed="rId5"/>
          <a:stretch>
            <a:fillRect/>
          </a:stretch>
        </p:blipFill>
        <p:spPr bwMode="auto">
          <a:xfrm>
            <a:off x="552000" y="6278380"/>
            <a:ext cx="1680000" cy="18182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500437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oleObject" Target="../embeddings/oleObject1.bin"/><Relationship Id="rId5" Type="http://schemas.openxmlformats.org/officeDocument/2006/relationships/slideLayout" Target="../slideLayouts/slideLayout5.xml"/><Relationship Id="rId10" Type="http://schemas.openxmlformats.org/officeDocument/2006/relationships/tags" Target="../tags/tag2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11" Type="http://schemas.openxmlformats.org/officeDocument/2006/relationships/image" Target="../media/image19.png"/><Relationship Id="rId5" Type="http://schemas.openxmlformats.org/officeDocument/2006/relationships/slideLayout" Target="../slideLayouts/slideLayout13.xml"/><Relationship Id="rId10" Type="http://schemas.openxmlformats.org/officeDocument/2006/relationships/image" Target="../media/image18.png"/><Relationship Id="rId4" Type="http://schemas.openxmlformats.org/officeDocument/2006/relationships/slideLayout" Target="../slideLayouts/slideLayout12.xml"/><Relationship Id="rId9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0"/>
            </p:custDataLst>
            <p:extLst>
              <p:ext uri="{D42A27DB-BD31-4B8C-83A1-F6EECF244321}">
                <p14:modId xmlns:p14="http://schemas.microsoft.com/office/powerpoint/2010/main" val="553716313"/>
              </p:ext>
            </p:extLst>
          </p:nvPr>
        </p:nvGraphicFramePr>
        <p:xfrm>
          <a:off x="2118" y="1589"/>
          <a:ext cx="2116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270" imgH="270" progId="TCLayout.ActiveDocument.1">
                  <p:embed/>
                </p:oleObj>
              </mc:Choice>
              <mc:Fallback>
                <p:oleObj name="think-cell Slide" r:id="rId11" imgW="270" imgH="27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118" y="1589"/>
                        <a:ext cx="2116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387351" y="269875"/>
            <a:ext cx="10943167" cy="90011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noProof="0"/>
              <a:t>Click here to insert headline in upper case letters</a:t>
            </a:r>
          </a:p>
        </p:txBody>
      </p:sp>
      <p:sp>
        <p:nvSpPr>
          <p:cNvPr id="1027" name="Textplatzhalter 2"/>
          <p:cNvSpPr>
            <a:spLocks noGrp="1"/>
          </p:cNvSpPr>
          <p:nvPr>
            <p:ph type="body" idx="1"/>
          </p:nvPr>
        </p:nvSpPr>
        <p:spPr bwMode="auto">
          <a:xfrm>
            <a:off x="624418" y="1547813"/>
            <a:ext cx="10943167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Insert here copy text bold (first level)</a:t>
            </a:r>
          </a:p>
          <a:p>
            <a:pPr lvl="1"/>
            <a:r>
              <a:rPr lang="en-US"/>
              <a:t>Insert here copy text (second level)</a:t>
            </a:r>
          </a:p>
          <a:p>
            <a:pPr lvl="2"/>
            <a:r>
              <a:rPr lang="en-US"/>
              <a:t>Insert here bullet text (third level)</a:t>
            </a:r>
          </a:p>
          <a:p>
            <a:pPr lvl="3"/>
            <a:r>
              <a:rPr lang="en-US"/>
              <a:t>Insert here bullet text (fourth level)</a:t>
            </a:r>
          </a:p>
          <a:p>
            <a:pPr lvl="4"/>
            <a:r>
              <a:rPr lang="en-US"/>
              <a:t>Insert here bullet text (fifth level)</a:t>
            </a:r>
          </a:p>
        </p:txBody>
      </p:sp>
      <p:sp>
        <p:nvSpPr>
          <p:cNvPr id="4" name="MSIPCMContentMarking" descr="{&quot;HashCode&quot;:905108722,&quot;Placement&quot;:&quot;Header&quot;,&quot;Top&quot;:0.0,&quot;Left&quot;:0.0,&quot;SlideWidth&quot;:960,&quot;SlideHeight&quot;:540}"/>
          <p:cNvSpPr txBox="1"/>
          <p:nvPr userDrawn="1"/>
        </p:nvSpPr>
        <p:spPr>
          <a:xfrm>
            <a:off x="0" y="0"/>
            <a:ext cx="1387009" cy="23431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000">
                <a:solidFill>
                  <a:srgbClr val="747474"/>
                </a:solidFill>
                <a:latin typeface="Delivery" panose="020F0503020204020204" pitchFamily="34" charset="0"/>
              </a:rPr>
              <a:t>FOR INTERNAL USE</a:t>
            </a:r>
          </a:p>
        </p:txBody>
      </p:sp>
    </p:spTree>
    <p:extLst>
      <p:ext uri="{BB962C8B-B14F-4D97-AF65-F5344CB8AC3E}">
        <p14:creationId xmlns:p14="http://schemas.microsoft.com/office/powerpoint/2010/main" val="29972230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65" r:id="rId1"/>
    <p:sldLayoutId id="2147484893" r:id="rId2"/>
    <p:sldLayoutId id="2147484894" r:id="rId3"/>
    <p:sldLayoutId id="2147484231" r:id="rId4"/>
    <p:sldLayoutId id="2147484228" r:id="rId5"/>
    <p:sldLayoutId id="2147484486" r:id="rId6"/>
    <p:sldLayoutId id="2147484867" r:id="rId7"/>
    <p:sldLayoutId id="2147484905" r:id="rId8"/>
  </p:sldLayoutIdLst>
  <p:hf hdr="0" dt="0"/>
  <p:txStyles>
    <p:titleStyle>
      <a:lvl1pPr algn="l" rtl="0" eaLnBrk="0" fontAlgn="base" hangingPunct="0">
        <a:lnSpc>
          <a:spcPts val="3200"/>
        </a:lnSpc>
        <a:spcBef>
          <a:spcPct val="0"/>
        </a:spcBef>
        <a:spcAft>
          <a:spcPct val="0"/>
        </a:spcAft>
        <a:defRPr sz="2400" kern="1200" cap="all">
          <a:solidFill>
            <a:srgbClr val="D40511"/>
          </a:solidFill>
          <a:latin typeface="Tahoma" pitchFamily="34" charset="0"/>
          <a:ea typeface="Tahoma" pitchFamily="34" charset="0"/>
          <a:cs typeface="Tahoma" pitchFamily="34" charset="0"/>
        </a:defRPr>
      </a:lvl1pPr>
      <a:lvl2pPr algn="l" rtl="0" eaLnBrk="0" fontAlgn="base" hangingPunct="0">
        <a:lnSpc>
          <a:spcPts val="3200"/>
        </a:lnSpc>
        <a:spcBef>
          <a:spcPct val="0"/>
        </a:spcBef>
        <a:spcAft>
          <a:spcPct val="0"/>
        </a:spcAft>
        <a:defRPr sz="2800">
          <a:solidFill>
            <a:srgbClr val="D40511"/>
          </a:solidFill>
          <a:latin typeface="Arial" pitchFamily="34" charset="0"/>
        </a:defRPr>
      </a:lvl2pPr>
      <a:lvl3pPr algn="l" rtl="0" eaLnBrk="0" fontAlgn="base" hangingPunct="0">
        <a:lnSpc>
          <a:spcPts val="3200"/>
        </a:lnSpc>
        <a:spcBef>
          <a:spcPct val="0"/>
        </a:spcBef>
        <a:spcAft>
          <a:spcPct val="0"/>
        </a:spcAft>
        <a:defRPr sz="2800">
          <a:solidFill>
            <a:srgbClr val="D40511"/>
          </a:solidFill>
          <a:latin typeface="Arial" pitchFamily="34" charset="0"/>
        </a:defRPr>
      </a:lvl3pPr>
      <a:lvl4pPr algn="l" rtl="0" eaLnBrk="0" fontAlgn="base" hangingPunct="0">
        <a:lnSpc>
          <a:spcPts val="3200"/>
        </a:lnSpc>
        <a:spcBef>
          <a:spcPct val="0"/>
        </a:spcBef>
        <a:spcAft>
          <a:spcPct val="0"/>
        </a:spcAft>
        <a:defRPr sz="2800">
          <a:solidFill>
            <a:srgbClr val="D40511"/>
          </a:solidFill>
          <a:latin typeface="Arial" pitchFamily="34" charset="0"/>
        </a:defRPr>
      </a:lvl4pPr>
      <a:lvl5pPr algn="l" rtl="0" eaLnBrk="0" fontAlgn="base" hangingPunct="0">
        <a:lnSpc>
          <a:spcPts val="3200"/>
        </a:lnSpc>
        <a:spcBef>
          <a:spcPct val="0"/>
        </a:spcBef>
        <a:spcAft>
          <a:spcPct val="0"/>
        </a:spcAft>
        <a:defRPr sz="2800">
          <a:solidFill>
            <a:srgbClr val="D40511"/>
          </a:solidFill>
          <a:latin typeface="Arial" pitchFamily="34" charset="0"/>
        </a:defRPr>
      </a:lvl5pPr>
      <a:lvl6pPr marL="457200" algn="l" rtl="0" fontAlgn="base">
        <a:lnSpc>
          <a:spcPts val="3200"/>
        </a:lnSpc>
        <a:spcBef>
          <a:spcPct val="0"/>
        </a:spcBef>
        <a:spcAft>
          <a:spcPct val="0"/>
        </a:spcAft>
        <a:defRPr sz="2800">
          <a:solidFill>
            <a:srgbClr val="D40511"/>
          </a:solidFill>
          <a:latin typeface="Arial" pitchFamily="34" charset="0"/>
        </a:defRPr>
      </a:lvl6pPr>
      <a:lvl7pPr marL="914400" algn="l" rtl="0" fontAlgn="base">
        <a:lnSpc>
          <a:spcPts val="3200"/>
        </a:lnSpc>
        <a:spcBef>
          <a:spcPct val="0"/>
        </a:spcBef>
        <a:spcAft>
          <a:spcPct val="0"/>
        </a:spcAft>
        <a:defRPr sz="2800">
          <a:solidFill>
            <a:srgbClr val="D40511"/>
          </a:solidFill>
          <a:latin typeface="Arial" pitchFamily="34" charset="0"/>
        </a:defRPr>
      </a:lvl7pPr>
      <a:lvl8pPr marL="1371600" algn="l" rtl="0" fontAlgn="base">
        <a:lnSpc>
          <a:spcPts val="3200"/>
        </a:lnSpc>
        <a:spcBef>
          <a:spcPct val="0"/>
        </a:spcBef>
        <a:spcAft>
          <a:spcPct val="0"/>
        </a:spcAft>
        <a:defRPr sz="2800">
          <a:solidFill>
            <a:srgbClr val="D40511"/>
          </a:solidFill>
          <a:latin typeface="Arial" pitchFamily="34" charset="0"/>
        </a:defRPr>
      </a:lvl8pPr>
      <a:lvl9pPr marL="1828800" algn="l" rtl="0" fontAlgn="base">
        <a:lnSpc>
          <a:spcPts val="3200"/>
        </a:lnSpc>
        <a:spcBef>
          <a:spcPct val="0"/>
        </a:spcBef>
        <a:spcAft>
          <a:spcPct val="0"/>
        </a:spcAft>
        <a:defRPr sz="2800">
          <a:solidFill>
            <a:srgbClr val="D40511"/>
          </a:solidFill>
          <a:latin typeface="Arial" pitchFamily="34" charset="0"/>
        </a:defRPr>
      </a:lvl9pPr>
    </p:titleStyle>
    <p:bodyStyle>
      <a:lvl1pPr marL="342900" indent="-342900" algn="l" rtl="0" eaLnBrk="0" fontAlgn="base" hangingPunct="0">
        <a:spcBef>
          <a:spcPct val="0"/>
        </a:spcBef>
        <a:spcAft>
          <a:spcPts val="500"/>
        </a:spcAft>
        <a:buFont typeface="Arial" charset="0"/>
        <a:defRPr sz="1400" b="1" kern="1200">
          <a:solidFill>
            <a:schemeClr val="tx1"/>
          </a:solidFill>
          <a:latin typeface="Tahoma" pitchFamily="34" charset="0"/>
          <a:ea typeface="Tahoma" pitchFamily="34" charset="0"/>
          <a:cs typeface="Tahoma" pitchFamily="34" charset="0"/>
        </a:defRPr>
      </a:lvl1pPr>
      <a:lvl2pPr marL="742950" indent="-285750" algn="l" rtl="0" eaLnBrk="0" fontAlgn="base" hangingPunct="0">
        <a:spcBef>
          <a:spcPct val="0"/>
        </a:spcBef>
        <a:spcAft>
          <a:spcPts val="500"/>
        </a:spcAft>
        <a:buFont typeface="Arial" charset="0"/>
        <a:defRPr sz="1400" kern="1200">
          <a:solidFill>
            <a:schemeClr val="tx1"/>
          </a:solidFill>
          <a:latin typeface="Tahoma" pitchFamily="34" charset="0"/>
          <a:ea typeface="Tahoma" pitchFamily="34" charset="0"/>
          <a:cs typeface="Tahoma" pitchFamily="34" charset="0"/>
        </a:defRPr>
      </a:lvl2pPr>
      <a:lvl3pPr marL="179388" indent="-179388" algn="l" rtl="0" eaLnBrk="0" fontAlgn="base" hangingPunct="0">
        <a:spcBef>
          <a:spcPct val="0"/>
        </a:spcBef>
        <a:spcAft>
          <a:spcPts val="500"/>
        </a:spcAft>
        <a:buFont typeface="Arial" charset="0"/>
        <a:buChar char="•"/>
        <a:defRPr sz="1400" kern="1200">
          <a:solidFill>
            <a:schemeClr val="tx1"/>
          </a:solidFill>
          <a:latin typeface="Tahoma" pitchFamily="34" charset="0"/>
          <a:ea typeface="Tahoma" pitchFamily="34" charset="0"/>
          <a:cs typeface="Tahoma" pitchFamily="34" charset="0"/>
        </a:defRPr>
      </a:lvl3pPr>
      <a:lvl4pPr marL="358775" indent="-179388" algn="l" rtl="0" eaLnBrk="0" fontAlgn="base" hangingPunct="0">
        <a:spcBef>
          <a:spcPct val="0"/>
        </a:spcBef>
        <a:spcAft>
          <a:spcPts val="500"/>
        </a:spcAft>
        <a:buFont typeface="Symbol" pitchFamily="18" charset="2"/>
        <a:buChar char="-"/>
        <a:defRPr sz="1400" kern="1200">
          <a:solidFill>
            <a:schemeClr val="tx1"/>
          </a:solidFill>
          <a:latin typeface="Tahoma" pitchFamily="34" charset="0"/>
          <a:ea typeface="Tahoma" pitchFamily="34" charset="0"/>
          <a:cs typeface="Tahoma" pitchFamily="34" charset="0"/>
        </a:defRPr>
      </a:lvl4pPr>
      <a:lvl5pPr marL="539750" indent="-179388" algn="l" rtl="0" eaLnBrk="0" fontAlgn="base" hangingPunct="0">
        <a:spcBef>
          <a:spcPct val="0"/>
        </a:spcBef>
        <a:spcAft>
          <a:spcPts val="500"/>
        </a:spcAft>
        <a:buFont typeface="Arial" charset="0"/>
        <a:buChar char="•"/>
        <a:defRPr sz="1400" kern="1200">
          <a:solidFill>
            <a:schemeClr val="tx1"/>
          </a:solidFill>
          <a:latin typeface="Tahoma" pitchFamily="34" charset="0"/>
          <a:ea typeface="Tahoma" pitchFamily="34" charset="0"/>
          <a:cs typeface="Tahoma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Bild 21" descr="Verlauf_laengs_large_RGB.png"/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0" y="6432882"/>
            <a:ext cx="12192000" cy="42511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</p:pic>
      <p:pic>
        <p:nvPicPr>
          <p:cNvPr id="11" name="Bild 9" descr="DHL_rgb_BG.png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18355" y="6574976"/>
            <a:ext cx="1302165" cy="140930"/>
          </a:xfrm>
          <a:prstGeom prst="rect">
            <a:avLst/>
          </a:prstGeom>
        </p:spPr>
      </p:pic>
      <p:sp>
        <p:nvSpPr>
          <p:cNvPr id="6" name="Rechteck 8"/>
          <p:cNvSpPr/>
          <p:nvPr userDrawn="1"/>
        </p:nvSpPr>
        <p:spPr bwMode="auto">
          <a:xfrm>
            <a:off x="670589" y="6432882"/>
            <a:ext cx="483816" cy="2520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b" anchorCtr="0" compatLnSpc="1">
            <a:prstTxWarp prst="textNoShape">
              <a:avLst/>
            </a:prstTxWarp>
          </a:bodyPr>
          <a:lstStyle/>
          <a:p>
            <a:pPr defTabSz="995363" eaLnBrk="0" fontAlgn="base" hangingPunct="0">
              <a:spcBef>
                <a:spcPct val="0"/>
              </a:spcBef>
              <a:spcAft>
                <a:spcPct val="0"/>
              </a:spcAft>
            </a:pPr>
            <a:fld id="{2E45E626-985F-4F96-B1C4-178AC390C14C}" type="slidenum">
              <a:rPr lang="de-DE" sz="1000" smtClean="0">
                <a:solidFill>
                  <a:srgbClr val="000000"/>
                </a:solidFill>
              </a:rPr>
              <a:pPr defTabSz="995363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de-DE" sz="1000">
              <a:solidFill>
                <a:srgbClr val="000000"/>
              </a:solidFill>
            </a:endParaRPr>
          </a:p>
        </p:txBody>
      </p:sp>
      <p:cxnSp>
        <p:nvCxnSpPr>
          <p:cNvPr id="8" name="Gerade Verbindung 8"/>
          <p:cNvCxnSpPr/>
          <p:nvPr userDrawn="1"/>
        </p:nvCxnSpPr>
        <p:spPr>
          <a:xfrm>
            <a:off x="0" y="867103"/>
            <a:ext cx="12192000" cy="0"/>
          </a:xfrm>
          <a:prstGeom prst="line">
            <a:avLst/>
          </a:prstGeom>
          <a:ln w="12700" cmpd="sng">
            <a:solidFill>
              <a:srgbClr val="D4051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MSIPCMContentMarking" descr="{&quot;HashCode&quot;:905108722,&quot;Placement&quot;:&quot;Header&quot;,&quot;Top&quot;:0.0,&quot;Left&quot;:0.0,&quot;SlideWidth&quot;:960,&quot;SlideHeight&quot;:540}"/>
          <p:cNvSpPr txBox="1"/>
          <p:nvPr userDrawn="1"/>
        </p:nvSpPr>
        <p:spPr>
          <a:xfrm>
            <a:off x="0" y="0"/>
            <a:ext cx="1387009" cy="23431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000">
                <a:solidFill>
                  <a:srgbClr val="747474"/>
                </a:solidFill>
                <a:latin typeface="Delivery" panose="020F0503020204020204" pitchFamily="34" charset="0"/>
              </a:rPr>
              <a:t>FOR INTERNAL USE</a:t>
            </a:r>
          </a:p>
        </p:txBody>
      </p:sp>
    </p:spTree>
    <p:extLst>
      <p:ext uri="{BB962C8B-B14F-4D97-AF65-F5344CB8AC3E}">
        <p14:creationId xmlns:p14="http://schemas.microsoft.com/office/powerpoint/2010/main" val="15664408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907" r:id="rId1"/>
    <p:sldLayoutId id="2147484908" r:id="rId2"/>
    <p:sldLayoutId id="2147484909" r:id="rId3"/>
    <p:sldLayoutId id="2147484910" r:id="rId4"/>
    <p:sldLayoutId id="2147484911" r:id="rId5"/>
    <p:sldLayoutId id="2147484912" r:id="rId6"/>
    <p:sldLayoutId id="2147484913" r:id="rId7"/>
    <p:sldLayoutId id="2147484914" r:id="rId8"/>
  </p:sldLayoutIdLst>
  <p:hf hdr="0" dt="0"/>
  <p:txStyles>
    <p:titleStyle>
      <a:lvl1pPr algn="l" defTabSz="914400" rtl="0" eaLnBrk="1" latinLnBrk="0" hangingPunct="1">
        <a:lnSpc>
          <a:spcPts val="3200"/>
        </a:lnSpc>
        <a:spcBef>
          <a:spcPct val="0"/>
        </a:spcBef>
        <a:buNone/>
        <a:defRPr sz="2800" kern="1200" cap="all" baseline="0">
          <a:solidFill>
            <a:srgbClr val="D4051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spcBef>
          <a:spcPts val="0"/>
        </a:spcBef>
        <a:spcAft>
          <a:spcPts val="500"/>
        </a:spcAft>
        <a:buFont typeface="Arial" pitchFamily="34" charset="0"/>
        <a:buNone/>
        <a:defRPr sz="1400" b="1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spcBef>
          <a:spcPts val="0"/>
        </a:spcBef>
        <a:spcAft>
          <a:spcPts val="500"/>
        </a:spcAft>
        <a:buFont typeface="Arial" pitchFamily="34" charset="0"/>
        <a:buNone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2pPr>
      <a:lvl3pPr marL="180000" indent="-180000" algn="l" defTabSz="914400" rtl="0" eaLnBrk="1" latinLnBrk="0" hangingPunct="1">
        <a:spcBef>
          <a:spcPts val="0"/>
        </a:spcBef>
        <a:spcAft>
          <a:spcPts val="500"/>
        </a:spcAft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360000" indent="-180000" algn="l" defTabSz="914400" rtl="0" eaLnBrk="1" latinLnBrk="0" hangingPunct="1">
        <a:spcBef>
          <a:spcPts val="0"/>
        </a:spcBef>
        <a:spcAft>
          <a:spcPts val="50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540000" indent="-180000" algn="l" defTabSz="914400" rtl="0" eaLnBrk="1" latinLnBrk="0" hangingPunct="1">
        <a:spcBef>
          <a:spcPts val="0"/>
        </a:spcBef>
        <a:spcAft>
          <a:spcPts val="500"/>
        </a:spcAft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0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3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6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emf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4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7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0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3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/>
            </a:br>
            <a:r>
              <a:rPr lang="en-US"/>
              <a:t>key accounts desk</a:t>
            </a:r>
            <a:br>
              <a:rPr lang="en-US"/>
            </a:br>
            <a:r>
              <a:rPr lang="en-US"/>
              <a:t>Country Performance Review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624" y="3060776"/>
            <a:ext cx="8312877" cy="760959"/>
          </a:xfrm>
        </p:spPr>
        <p:txBody>
          <a:bodyPr/>
          <a:lstStyle/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Mexico</a:t>
            </a:r>
          </a:p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May 2026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6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72379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/>
              <a:t>Agenda</a:t>
            </a:r>
          </a:p>
        </p:txBody>
      </p:sp>
      <p:sp>
        <p:nvSpPr>
          <p:cNvPr id="24" name="Rectangle 23"/>
          <p:cNvSpPr/>
          <p:nvPr/>
        </p:nvSpPr>
        <p:spPr bwMode="auto">
          <a:xfrm>
            <a:off x="2599115" y="1628489"/>
            <a:ext cx="7438218" cy="549935"/>
          </a:xfrm>
          <a:prstGeom prst="rect">
            <a:avLst/>
          </a:prstGeom>
          <a:solidFill>
            <a:srgbClr val="FFDB4C">
              <a:alpha val="35000"/>
            </a:srgbClr>
          </a:solidFill>
          <a:ln w="25400">
            <a:gradFill flip="none" rotWithShape="1">
              <a:gsLst>
                <a:gs pos="0">
                  <a:schemeClr val="tx1">
                    <a:lumMod val="65000"/>
                    <a:lumOff val="35000"/>
                  </a:schemeClr>
                </a:gs>
                <a:gs pos="100000">
                  <a:srgbClr val="FFCC00"/>
                </a:gs>
              </a:gsLst>
              <a:path path="circle">
                <a:fillToRect l="100000" t="100000"/>
              </a:path>
              <a:tileRect r="-100000" b="-100000"/>
            </a:gradFill>
            <a:round/>
            <a:headEnd/>
            <a:tailEnd/>
          </a:ln>
          <a:effectLst/>
        </p:spPr>
        <p:txBody>
          <a:bodyPr wrap="none" lIns="144000" tIns="144000" rIns="144000" bIns="144000" anchor="ctr"/>
          <a:lstStyle/>
          <a:p>
            <a:pPr defTabSz="995363" eaLnBrk="0" hangingPunct="0"/>
            <a:r>
              <a:rPr lang="en-US" sz="1400" b="1">
                <a:solidFill>
                  <a:schemeClr val="tx1">
                    <a:lumMod val="95000"/>
                    <a:lumOff val="5000"/>
                  </a:schemeClr>
                </a:solidFill>
                <a:latin typeface="Frutiger" panose="020B0500000000000000" pitchFamily="34" charset="0"/>
              </a:rPr>
              <a:t>OVERALL COUNTRY PERFORMANCE</a:t>
            </a:r>
          </a:p>
        </p:txBody>
      </p:sp>
      <p:sp>
        <p:nvSpPr>
          <p:cNvPr id="28" name="Rectangle 27"/>
          <p:cNvSpPr/>
          <p:nvPr/>
        </p:nvSpPr>
        <p:spPr bwMode="auto">
          <a:xfrm>
            <a:off x="2073335" y="1632430"/>
            <a:ext cx="443058" cy="548018"/>
          </a:xfrm>
          <a:prstGeom prst="rect">
            <a:avLst/>
          </a:prstGeom>
          <a:solidFill>
            <a:srgbClr val="FFDB4C">
              <a:alpha val="35000"/>
            </a:srgbClr>
          </a:solidFill>
          <a:ln w="25400">
            <a:solidFill>
              <a:srgbClr val="FFCC00"/>
            </a:solidFill>
            <a:round/>
            <a:headEnd/>
            <a:tailEnd/>
          </a:ln>
          <a:effectLst/>
        </p:spPr>
        <p:txBody>
          <a:bodyPr wrap="none" lIns="144000" tIns="144000" rIns="144000" bIns="144000" anchor="ctr"/>
          <a:lstStyle/>
          <a:p>
            <a:pPr algn="ctr" defTabSz="995363" eaLnBrk="0" hangingPunct="0"/>
            <a:r>
              <a:rPr lang="en-US" sz="1400" b="1">
                <a:solidFill>
                  <a:schemeClr val="tx1">
                    <a:lumMod val="95000"/>
                    <a:lumOff val="5000"/>
                  </a:schemeClr>
                </a:solidFill>
                <a:latin typeface="Frutiger" panose="020B0500000000000000" pitchFamily="34" charset="0"/>
              </a:rPr>
              <a:t>1</a:t>
            </a:r>
          </a:p>
        </p:txBody>
      </p:sp>
      <p:sp>
        <p:nvSpPr>
          <p:cNvPr id="32" name="Rectangle 31"/>
          <p:cNvSpPr/>
          <p:nvPr/>
        </p:nvSpPr>
        <p:spPr bwMode="auto">
          <a:xfrm>
            <a:off x="2599115" y="2318771"/>
            <a:ext cx="7438218" cy="549935"/>
          </a:xfrm>
          <a:prstGeom prst="rect">
            <a:avLst/>
          </a:prstGeom>
          <a:solidFill>
            <a:schemeClr val="bg1">
              <a:alpha val="35000"/>
            </a:schemeClr>
          </a:solidFill>
          <a:ln w="25400">
            <a:gradFill flip="none" rotWithShape="1">
              <a:gsLst>
                <a:gs pos="0">
                  <a:schemeClr val="tx1">
                    <a:lumMod val="65000"/>
                    <a:lumOff val="35000"/>
                  </a:schemeClr>
                </a:gs>
                <a:gs pos="100000">
                  <a:srgbClr val="FFCC00"/>
                </a:gs>
              </a:gsLst>
              <a:path path="circle">
                <a:fillToRect l="100000" t="100000"/>
              </a:path>
              <a:tileRect r="-100000" b="-100000"/>
            </a:gradFill>
            <a:round/>
            <a:headEnd/>
            <a:tailEnd/>
          </a:ln>
          <a:effectLst/>
        </p:spPr>
        <p:txBody>
          <a:bodyPr wrap="none" lIns="144000" tIns="144000" rIns="144000" bIns="144000" anchor="ctr"/>
          <a:lstStyle/>
          <a:p>
            <a:pPr defTabSz="995363" eaLnBrk="0" hangingPunct="0"/>
            <a:r>
              <a:rPr lang="en-US" sz="1400" b="1">
                <a:solidFill>
                  <a:schemeClr val="tx1">
                    <a:lumMod val="95000"/>
                    <a:lumOff val="5000"/>
                  </a:schemeClr>
                </a:solidFill>
                <a:latin typeface="Frutiger" panose="020B0500000000000000" pitchFamily="34" charset="0"/>
              </a:rPr>
              <a:t>CUSTOMER PERFORMANCE</a:t>
            </a:r>
          </a:p>
        </p:txBody>
      </p:sp>
      <p:sp>
        <p:nvSpPr>
          <p:cNvPr id="33" name="Rectangle 32"/>
          <p:cNvSpPr/>
          <p:nvPr/>
        </p:nvSpPr>
        <p:spPr bwMode="auto">
          <a:xfrm>
            <a:off x="2073335" y="2322712"/>
            <a:ext cx="443058" cy="548018"/>
          </a:xfrm>
          <a:prstGeom prst="rect">
            <a:avLst/>
          </a:prstGeom>
          <a:solidFill>
            <a:schemeClr val="bg1">
              <a:alpha val="35000"/>
            </a:schemeClr>
          </a:solidFill>
          <a:ln w="25400">
            <a:solidFill>
              <a:srgbClr val="FFCC00"/>
            </a:solidFill>
            <a:round/>
            <a:headEnd/>
            <a:tailEnd/>
          </a:ln>
          <a:effectLst/>
        </p:spPr>
        <p:txBody>
          <a:bodyPr wrap="none" lIns="144000" tIns="144000" rIns="144000" bIns="144000" anchor="ctr"/>
          <a:lstStyle/>
          <a:p>
            <a:pPr algn="ctr" defTabSz="995363" eaLnBrk="0" hangingPunct="0"/>
            <a:r>
              <a:rPr lang="en-US" sz="1400" b="1">
                <a:solidFill>
                  <a:schemeClr val="tx1">
                    <a:lumMod val="95000"/>
                    <a:lumOff val="5000"/>
                  </a:schemeClr>
                </a:solidFill>
                <a:latin typeface="Frutiger" panose="020B0500000000000000" pitchFamily="34" charset="0"/>
              </a:rPr>
              <a:t>2</a:t>
            </a:r>
          </a:p>
        </p:txBody>
      </p:sp>
      <p:sp>
        <p:nvSpPr>
          <p:cNvPr id="34" name="Rectangle 33"/>
          <p:cNvSpPr/>
          <p:nvPr/>
        </p:nvSpPr>
        <p:spPr bwMode="auto">
          <a:xfrm>
            <a:off x="2599115" y="3009053"/>
            <a:ext cx="7438218" cy="549935"/>
          </a:xfrm>
          <a:prstGeom prst="rect">
            <a:avLst/>
          </a:prstGeom>
          <a:solidFill>
            <a:schemeClr val="bg1">
              <a:alpha val="35000"/>
            </a:schemeClr>
          </a:solidFill>
          <a:ln w="25400">
            <a:gradFill flip="none" rotWithShape="1">
              <a:gsLst>
                <a:gs pos="0">
                  <a:schemeClr val="tx1">
                    <a:lumMod val="65000"/>
                    <a:lumOff val="35000"/>
                  </a:schemeClr>
                </a:gs>
                <a:gs pos="100000">
                  <a:srgbClr val="FFCC00"/>
                </a:gs>
              </a:gsLst>
              <a:path path="circle">
                <a:fillToRect l="100000" t="100000"/>
              </a:path>
              <a:tileRect r="-100000" b="-100000"/>
            </a:gradFill>
            <a:round/>
            <a:headEnd/>
            <a:tailEnd/>
          </a:ln>
          <a:effectLst/>
        </p:spPr>
        <p:txBody>
          <a:bodyPr wrap="none" lIns="144000" tIns="144000" rIns="144000" bIns="144000" anchor="ctr"/>
          <a:lstStyle/>
          <a:p>
            <a:pPr defTabSz="995363" eaLnBrk="0" hangingPunct="0"/>
            <a:r>
              <a:rPr lang="en-US" sz="1400" b="1">
                <a:solidFill>
                  <a:schemeClr val="tx1">
                    <a:lumMod val="95000"/>
                    <a:lumOff val="5000"/>
                  </a:schemeClr>
                </a:solidFill>
                <a:latin typeface="Frutiger" panose="020B0500000000000000" pitchFamily="34" charset="0"/>
              </a:rPr>
              <a:t>SPECIAL TOPICS</a:t>
            </a:r>
          </a:p>
        </p:txBody>
      </p:sp>
      <p:sp>
        <p:nvSpPr>
          <p:cNvPr id="36" name="Rectangle 35"/>
          <p:cNvSpPr/>
          <p:nvPr/>
        </p:nvSpPr>
        <p:spPr bwMode="auto">
          <a:xfrm>
            <a:off x="2073335" y="3012994"/>
            <a:ext cx="443058" cy="548018"/>
          </a:xfrm>
          <a:prstGeom prst="rect">
            <a:avLst/>
          </a:prstGeom>
          <a:solidFill>
            <a:schemeClr val="bg1">
              <a:alpha val="35000"/>
            </a:schemeClr>
          </a:solidFill>
          <a:ln w="25400">
            <a:solidFill>
              <a:srgbClr val="FFCC00"/>
            </a:solidFill>
            <a:round/>
            <a:headEnd/>
            <a:tailEnd/>
          </a:ln>
          <a:effectLst/>
        </p:spPr>
        <p:txBody>
          <a:bodyPr wrap="none" lIns="144000" tIns="144000" rIns="144000" bIns="144000" anchor="ctr"/>
          <a:lstStyle/>
          <a:p>
            <a:pPr algn="ctr" defTabSz="995363" eaLnBrk="0" hangingPunct="0"/>
            <a:r>
              <a:rPr lang="en-US" sz="1400" b="1">
                <a:solidFill>
                  <a:schemeClr val="tx1">
                    <a:lumMod val="95000"/>
                    <a:lumOff val="5000"/>
                  </a:schemeClr>
                </a:solidFill>
                <a:latin typeface="Frutiger" panose="020B0500000000000000" pitchFamily="34" charset="0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1682505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 anchor="b"/>
          <a:lstStyle/>
          <a:p>
            <a:pPr algn="ctr"/>
            <a:r>
              <a: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  <a:ea typeface="Tahoma" pitchFamily="34" charset="0"/>
                <a:cs typeface="Tahoma" pitchFamily="34" charset="0"/>
              </a:rPr>
              <a:t>Country Performance</a:t>
            </a:r>
          </a:p>
        </p:txBody>
      </p:sp>
    </p:spTree>
    <p:extLst>
      <p:ext uri="{BB962C8B-B14F-4D97-AF65-F5344CB8AC3E}">
        <p14:creationId xmlns:p14="http://schemas.microsoft.com/office/powerpoint/2010/main" val="21689068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/>
              <a:t>       Overall country Performance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180CF20-9D7B-9C52-CEFA-6DCA6A5E07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5167" y="1048442"/>
            <a:ext cx="8719123" cy="255096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BCA019D-58FB-DF2C-174F-A3EC3BF0BB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5167" y="3572750"/>
            <a:ext cx="8719123" cy="2471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77964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 anchor="b"/>
          <a:lstStyle/>
          <a:p>
            <a:pPr algn="ctr"/>
            <a:r>
              <a: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  <a:ea typeface="Tahoma" pitchFamily="34" charset="0"/>
                <a:cs typeface="Tahoma" pitchFamily="34" charset="0"/>
              </a:rPr>
              <a:t>Customer Performance</a:t>
            </a:r>
          </a:p>
        </p:txBody>
      </p:sp>
    </p:spTree>
    <p:extLst>
      <p:ext uri="{BB962C8B-B14F-4D97-AF65-F5344CB8AC3E}">
        <p14:creationId xmlns:p14="http://schemas.microsoft.com/office/powerpoint/2010/main" val="26580283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>
          <a:xfrm>
            <a:off x="1519583" y="142614"/>
            <a:ext cx="9708397" cy="814388"/>
          </a:xfrm>
        </p:spPr>
        <p:txBody>
          <a:bodyPr/>
          <a:lstStyle/>
          <a:p>
            <a:r>
              <a:rPr lang="en-US" sz="3000"/>
              <a:t>Texas Instruments – Net 30                   Go Live 9/1/18</a:t>
            </a:r>
          </a:p>
        </p:txBody>
      </p:sp>
      <p:pic>
        <p:nvPicPr>
          <p:cNvPr id="9871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5783" y="317795"/>
            <a:ext cx="1201737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Rectangle 6"/>
          <p:cNvSpPr/>
          <p:nvPr/>
        </p:nvSpPr>
        <p:spPr>
          <a:xfrm>
            <a:off x="7359082" y="2364859"/>
            <a:ext cx="2487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>
                <a:latin typeface="Arial" charset="0"/>
              </a:rPr>
              <a:t> </a:t>
            </a:r>
            <a:endParaRPr lang="en-US"/>
          </a:p>
        </p:txBody>
      </p:sp>
      <p:sp>
        <p:nvSpPr>
          <p:cNvPr id="13" name="Rounded Rectangle 12"/>
          <p:cNvSpPr/>
          <p:nvPr/>
        </p:nvSpPr>
        <p:spPr bwMode="auto">
          <a:xfrm>
            <a:off x="98657" y="971550"/>
            <a:ext cx="1791828" cy="625914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144000" tIns="144000" rIns="144000" bIns="144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953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400">
                <a:latin typeface="Arial" charset="0"/>
              </a:rPr>
              <a:t>AMKAD POC:</a:t>
            </a:r>
          </a:p>
          <a:p>
            <a:pPr marL="0" marR="0" indent="0" algn="l" defTabSz="9953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MX" sz="1400" i="1">
                <a:solidFill>
                  <a:srgbClr val="0070C0"/>
                </a:solidFill>
                <a:latin typeface="Arial" charset="0"/>
              </a:rPr>
              <a:t>Raul Dominguez</a:t>
            </a:r>
          </a:p>
        </p:txBody>
      </p:sp>
      <p:sp>
        <p:nvSpPr>
          <p:cNvPr id="5" name="Rectangle 4"/>
          <p:cNvSpPr/>
          <p:nvPr/>
        </p:nvSpPr>
        <p:spPr>
          <a:xfrm>
            <a:off x="8593405" y="3830576"/>
            <a:ext cx="33528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                      </a:t>
            </a:r>
            <a:endParaRPr lang="en-US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B183E30-EB17-EC97-3ADA-6B96BE41B0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4538" y="974338"/>
            <a:ext cx="9413750" cy="249063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36FEFF2-A39E-453E-90E5-BD4F1F4DBD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34538" y="3482308"/>
            <a:ext cx="9413750" cy="2412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06554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 bwMode="auto">
          <a:xfrm>
            <a:off x="7717601" y="1147548"/>
            <a:ext cx="2845820" cy="3824923"/>
          </a:xfrm>
          <a:prstGeom prst="rect">
            <a:avLst/>
          </a:prstGeom>
          <a:solidFill>
            <a:schemeClr val="accent6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44000" tIns="144000" rIns="144000" bIns="144000" numCol="1" rtlCol="0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algn="l" defTabSz="9953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DeutschePost-MedCn" panose="020B0500000000000000" pitchFamily="34" charset="0"/>
              <a:ea typeface="+mn-ea"/>
              <a:cs typeface="+mn-cs"/>
            </a:endParaRPr>
          </a:p>
          <a:p>
            <a:pPr marL="0" marR="0" lvl="0" indent="0" algn="l" defTabSz="9953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DeutschePost-MedCn" panose="020B0500000000000000" pitchFamily="34" charset="0"/>
              <a:ea typeface="+mn-ea"/>
              <a:cs typeface="+mn-cs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741135" y="368629"/>
            <a:ext cx="8756594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D40511"/>
                </a:solidFill>
                <a:effectLst/>
                <a:uLnTx/>
                <a:uFillTx/>
                <a:latin typeface="DeutschePost-MedCn"/>
                <a:ea typeface="MS PGothic"/>
              </a:rPr>
              <a:t>Texas Instruments  MX – 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D40511"/>
                </a:solidFill>
                <a:effectLst/>
                <a:uLnTx/>
                <a:uFillTx/>
                <a:latin typeface="DeutschePost-MedCn"/>
                <a:ea typeface="MS PGothic"/>
              </a:rPr>
              <a:t>ACCOUNT BUSINESS REVIEW    		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D40511"/>
                </a:solidFill>
                <a:effectLst/>
                <a:uLnTx/>
                <a:uFillTx/>
                <a:latin typeface="DeutschePost-MedCn"/>
                <a:ea typeface="MS PGothic"/>
              </a:rPr>
              <a:t> Date: </a:t>
            </a:r>
            <a:r>
              <a:rPr lang="en-US" sz="1100" b="1" dirty="0">
                <a:solidFill>
                  <a:srgbClr val="D40511"/>
                </a:solidFill>
                <a:latin typeface="DeutschePost-MedCn"/>
                <a:ea typeface="MS PGothic"/>
              </a:rPr>
              <a:t>June 22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D40511"/>
                </a:solidFill>
                <a:effectLst/>
                <a:uLnTx/>
                <a:uFillTx/>
                <a:latin typeface="DeutschePost-MedCn"/>
                <a:ea typeface="MS PGothic"/>
              </a:rPr>
              <a:t>, </a:t>
            </a:r>
            <a:r>
              <a:rPr lang="en-US" sz="1100" b="1" dirty="0">
                <a:solidFill>
                  <a:srgbClr val="D40511"/>
                </a:solidFill>
                <a:latin typeface="DeutschePost-MedCn"/>
                <a:ea typeface="MS PGothic"/>
              </a:rPr>
              <a:t>2026</a:t>
            </a:r>
            <a:endParaRPr lang="en-US" sz="1600" b="1" i="0" u="none" strike="noStrike" kern="1200" cap="none" spc="0" normalizeH="0" baseline="0" noProof="0" dirty="0">
              <a:ln>
                <a:noFill/>
              </a:ln>
              <a:solidFill>
                <a:srgbClr val="D40511"/>
              </a:solidFill>
              <a:effectLst/>
              <a:uLnTx/>
              <a:uFillTx/>
              <a:latin typeface="DeutschePost-MedCn"/>
              <a:ea typeface="MS PGothic"/>
            </a:endParaRPr>
          </a:p>
        </p:txBody>
      </p:sp>
      <p:sp>
        <p:nvSpPr>
          <p:cNvPr id="3" name="Rectangle 2"/>
          <p:cNvSpPr/>
          <p:nvPr/>
        </p:nvSpPr>
        <p:spPr bwMode="auto">
          <a:xfrm>
            <a:off x="1577341" y="1137172"/>
            <a:ext cx="3141308" cy="3828875"/>
          </a:xfrm>
          <a:prstGeom prst="rect">
            <a:avLst/>
          </a:prstGeom>
          <a:solidFill>
            <a:schemeClr val="accent6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44000" tIns="144000" rIns="144000" bIns="144000" numCol="1" rtlCol="0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algn="l" defTabSz="9953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DeutschePost-MedCn" panose="020B0500000000000000" pitchFamily="34" charset="0"/>
              <a:ea typeface="+mn-ea"/>
              <a:cs typeface="+mn-cs"/>
            </a:endParaRPr>
          </a:p>
        </p:txBody>
      </p:sp>
      <p:sp>
        <p:nvSpPr>
          <p:cNvPr id="5" name="Rectangle 4"/>
          <p:cNvSpPr/>
          <p:nvPr/>
        </p:nvSpPr>
        <p:spPr bwMode="auto">
          <a:xfrm>
            <a:off x="4745998" y="1147547"/>
            <a:ext cx="2966157" cy="3808120"/>
          </a:xfrm>
          <a:prstGeom prst="rect">
            <a:avLst/>
          </a:prstGeom>
          <a:solidFill>
            <a:schemeClr val="accent6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44000" tIns="144000" rIns="144000" bIns="144000" numCol="1" rtlCol="0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algn="l" defTabSz="9953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DeutschePost-MedCn" panose="020B0500000000000000" pitchFamily="34" charset="0"/>
              <a:ea typeface="+mn-ea"/>
              <a:cs typeface="+mn-cs"/>
            </a:endParaRPr>
          </a:p>
          <a:p>
            <a:pPr marL="0" marR="0" lvl="0" indent="0" algn="l" defTabSz="9953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DeutschePost-MedCn" panose="020B0500000000000000" pitchFamily="34" charset="0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 bwMode="auto">
          <a:xfrm>
            <a:off x="1577341" y="4966048"/>
            <a:ext cx="8991524" cy="1444738"/>
          </a:xfrm>
          <a:prstGeom prst="rect">
            <a:avLst/>
          </a:prstGeom>
          <a:solidFill>
            <a:schemeClr val="accent6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144000" tIns="144000" rIns="144000" bIns="1440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953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DeutschePost-MedCn" panose="020B0500000000000000" pitchFamily="34" charset="0"/>
              <a:ea typeface="+mn-ea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 bwMode="auto">
          <a:xfrm>
            <a:off x="1570625" y="900649"/>
            <a:ext cx="3145157" cy="250854"/>
          </a:xfrm>
          <a:prstGeom prst="rect">
            <a:avLst/>
          </a:prstGeom>
          <a:solidFill>
            <a:schemeClr val="accent3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144000" tIns="144000" rIns="144000" bIns="14400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953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D40511"/>
                </a:solidFill>
                <a:effectLst/>
                <a:uLnTx/>
                <a:uFillTx/>
                <a:latin typeface="DeutschePost-MedCn" panose="020B0500000000000000" pitchFamily="34" charset="0"/>
                <a:ea typeface="+mn-ea"/>
                <a:cs typeface="+mn-cs"/>
              </a:rPr>
              <a:t>MAIN ISSUES</a:t>
            </a:r>
          </a:p>
        </p:txBody>
      </p:sp>
      <p:sp>
        <p:nvSpPr>
          <p:cNvPr id="9" name="Rectangle 8"/>
          <p:cNvSpPr/>
          <p:nvPr/>
        </p:nvSpPr>
        <p:spPr bwMode="auto">
          <a:xfrm>
            <a:off x="4739736" y="900649"/>
            <a:ext cx="2961468" cy="250854"/>
          </a:xfrm>
          <a:prstGeom prst="rect">
            <a:avLst/>
          </a:prstGeom>
          <a:solidFill>
            <a:schemeClr val="accent3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144000" tIns="144000" rIns="144000" bIns="14400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953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D40511"/>
                </a:solidFill>
                <a:effectLst/>
                <a:uLnTx/>
                <a:uFillTx/>
                <a:latin typeface="DeutschePost-MedCn" panose="020B0500000000000000" pitchFamily="34" charset="0"/>
                <a:ea typeface="+mn-ea"/>
                <a:cs typeface="+mn-cs"/>
              </a:rPr>
              <a:t>CURRENT ACTIONS / SUPPORT NEEDED</a:t>
            </a:r>
          </a:p>
        </p:txBody>
      </p:sp>
      <p:sp>
        <p:nvSpPr>
          <p:cNvPr id="10" name="Rectangle 9"/>
          <p:cNvSpPr/>
          <p:nvPr/>
        </p:nvSpPr>
        <p:spPr bwMode="auto">
          <a:xfrm>
            <a:off x="7732630" y="896694"/>
            <a:ext cx="2830790" cy="250854"/>
          </a:xfrm>
          <a:prstGeom prst="rect">
            <a:avLst/>
          </a:prstGeom>
          <a:solidFill>
            <a:schemeClr val="accent3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144000" tIns="144000" rIns="144000" bIns="14400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953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D40511"/>
                </a:solidFill>
                <a:effectLst/>
                <a:uLnTx/>
                <a:uFillTx/>
                <a:latin typeface="DeutschePost-MedCn" panose="020B0500000000000000" pitchFamily="34" charset="0"/>
                <a:ea typeface="+mn-ea"/>
                <a:cs typeface="+mn-cs"/>
              </a:rPr>
              <a:t>PAYMENTS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24926" y="1372304"/>
            <a:ext cx="2949759" cy="180049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28600" marR="0" lvl="0" indent="-171450" algn="l" defTabSz="9953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sz="900" dirty="0">
              <a:solidFill>
                <a:srgbClr val="000000"/>
              </a:solidFill>
              <a:latin typeface="Arial"/>
            </a:endParaRPr>
          </a:p>
          <a:p>
            <a:pPr marL="57150" marR="0" lvl="0" algn="l" defTabSz="9953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endParaRPr lang="en-US" sz="1050" dirty="0">
              <a:solidFill>
                <a:srgbClr val="000000"/>
              </a:solidFill>
              <a:latin typeface="DeutschePost-MedCn" panose="020B0500000000000000"/>
            </a:endParaRPr>
          </a:p>
          <a:p>
            <a:pPr marL="228600" lvl="0" indent="-171450" defTabSz="995363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endParaRPr lang="en-US" sz="1000" b="1" dirty="0">
              <a:solidFill>
                <a:srgbClr val="000000"/>
              </a:solidFill>
              <a:latin typeface="DeutschePost-MedCn" panose="020B0500000000000000"/>
            </a:endParaRPr>
          </a:p>
          <a:p>
            <a:pPr marL="228600" lvl="0" indent="-171450" defTabSz="995363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en-US" sz="1000" b="1" dirty="0">
                <a:solidFill>
                  <a:srgbClr val="000000"/>
                </a:solidFill>
                <a:latin typeface="DeutschePost-MedCn" panose="020B0500000000000000"/>
              </a:rPr>
              <a:t>€ 15.2k </a:t>
            </a:r>
            <a:r>
              <a:rPr lang="en-US" sz="1000" dirty="0">
                <a:solidFill>
                  <a:srgbClr val="000000"/>
                </a:solidFill>
                <a:latin typeface="DeutschePost-MedCn" panose="020B0500000000000000"/>
              </a:rPr>
              <a:t>– Remitted – Pending Application</a:t>
            </a:r>
          </a:p>
          <a:p>
            <a:pPr marL="228600" lvl="0" indent="-171450" defTabSz="995363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endParaRPr lang="en-US" sz="1000" b="1" dirty="0">
              <a:solidFill>
                <a:srgbClr val="000000"/>
              </a:solidFill>
              <a:latin typeface="DeutschePost-MedCn" panose="020B0500000000000000"/>
            </a:endParaRPr>
          </a:p>
          <a:p>
            <a:pPr marL="228600" indent="-171450" defTabSz="995363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en-US" sz="1000" b="1" dirty="0">
                <a:solidFill>
                  <a:srgbClr val="000000"/>
                </a:solidFill>
                <a:latin typeface="DeutschePost-MedCn" panose="020B0500000000000000"/>
              </a:rPr>
              <a:t>€ 16k </a:t>
            </a:r>
            <a:r>
              <a:rPr lang="en-US" sz="1000" dirty="0">
                <a:solidFill>
                  <a:srgbClr val="000000"/>
                </a:solidFill>
                <a:latin typeface="DeutschePost-MedCn" panose="020B0500000000000000"/>
              </a:rPr>
              <a:t>– Pending Payment Dates</a:t>
            </a:r>
            <a:endParaRPr lang="en-US" sz="1000" b="1" dirty="0">
              <a:solidFill>
                <a:srgbClr val="000000"/>
              </a:solidFill>
              <a:latin typeface="DeutschePost-MedCn" panose="020B0500000000000000"/>
            </a:endParaRPr>
          </a:p>
          <a:p>
            <a:pPr marL="228600" lvl="0" indent="-171450" defTabSz="995363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endParaRPr lang="en-US" sz="1000" b="1" dirty="0">
              <a:solidFill>
                <a:srgbClr val="000000"/>
              </a:solidFill>
              <a:latin typeface="DeutschePost-MedCn" panose="020B0500000000000000"/>
            </a:endParaRPr>
          </a:p>
          <a:p>
            <a:pPr marL="228600" lvl="0" indent="-171450" defTabSz="995363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endParaRPr lang="en-US" sz="1000" b="1" dirty="0">
              <a:solidFill>
                <a:srgbClr val="000000"/>
              </a:solidFill>
              <a:latin typeface="DeutschePost-MedCn" panose="020B0500000000000000"/>
            </a:endParaRPr>
          </a:p>
          <a:p>
            <a:pPr marL="228600" lvl="0" indent="-171450" defTabSz="995363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endParaRPr lang="en-US" sz="1000" dirty="0">
              <a:solidFill>
                <a:srgbClr val="000000"/>
              </a:solidFill>
            </a:endParaRPr>
          </a:p>
          <a:p>
            <a:pPr marL="228600" marR="0" lvl="0" indent="-171450" algn="l" defTabSz="9953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sz="1100" dirty="0">
              <a:solidFill>
                <a:srgbClr val="000000"/>
              </a:solidFill>
              <a:latin typeface="DeutschePost-MedCn" panose="020B0500000000000000"/>
            </a:endParaRPr>
          </a:p>
          <a:p>
            <a:pPr marL="57150" marR="0" lvl="0" algn="l" defTabSz="9953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endParaRPr lang="en-US" sz="1050" b="1" dirty="0">
              <a:solidFill>
                <a:srgbClr val="000000"/>
              </a:solidFill>
              <a:latin typeface="DeutschePost-MedCn" panose="020B050000000000000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736580" y="1372304"/>
            <a:ext cx="2927293" cy="206210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defTabSz="995363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900" b="1" dirty="0">
              <a:solidFill>
                <a:srgbClr val="000000"/>
              </a:solidFill>
              <a:latin typeface="Arial"/>
            </a:endParaRPr>
          </a:p>
          <a:p>
            <a:pPr defTabSz="995363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900" b="1" dirty="0">
              <a:solidFill>
                <a:srgbClr val="000000"/>
              </a:solidFill>
              <a:latin typeface="Arial"/>
            </a:endParaRPr>
          </a:p>
          <a:p>
            <a:pPr defTabSz="995363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900" b="1" dirty="0">
              <a:solidFill>
                <a:srgbClr val="000000"/>
              </a:solidFill>
              <a:latin typeface="Arial"/>
            </a:endParaRPr>
          </a:p>
          <a:p>
            <a:pPr defTabSz="995363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900" b="1" dirty="0">
                <a:solidFill>
                  <a:srgbClr val="000000"/>
                </a:solidFill>
                <a:latin typeface="Arial"/>
              </a:rPr>
              <a:t>TI MX- TTL AR: € 72.1k </a:t>
            </a:r>
            <a:endParaRPr lang="en-US" sz="900" b="1" dirty="0">
              <a:solidFill>
                <a:srgbClr val="000000"/>
              </a:solidFill>
              <a:latin typeface="Arial"/>
              <a:cs typeface="Arial"/>
            </a:endParaRPr>
          </a:p>
          <a:p>
            <a:pPr defTabSz="995363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900" b="1" dirty="0">
                <a:solidFill>
                  <a:srgbClr val="000000"/>
                </a:solidFill>
                <a:latin typeface="Arial"/>
              </a:rPr>
              <a:t>       Past Due: € 15.2k</a:t>
            </a:r>
            <a:endParaRPr lang="en-US" sz="900" b="1" dirty="0">
              <a:solidFill>
                <a:srgbClr val="000000"/>
              </a:solidFill>
              <a:latin typeface="Arial"/>
              <a:cs typeface="Arial"/>
            </a:endParaRPr>
          </a:p>
          <a:p>
            <a:pPr defTabSz="995363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900" b="1" dirty="0">
                <a:solidFill>
                  <a:srgbClr val="000000"/>
                </a:solidFill>
                <a:latin typeface="Arial"/>
              </a:rPr>
              <a:t>       Over 90: € 0</a:t>
            </a:r>
          </a:p>
          <a:p>
            <a:pPr defTabSz="995363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900" b="1" dirty="0">
              <a:solidFill>
                <a:srgbClr val="000000"/>
              </a:solidFill>
              <a:latin typeface="Arial"/>
            </a:endParaRPr>
          </a:p>
          <a:p>
            <a:pPr defTabSz="995363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900" b="1" dirty="0">
              <a:solidFill>
                <a:srgbClr val="000000"/>
              </a:solidFill>
              <a:latin typeface="Arial"/>
              <a:cs typeface="Arial"/>
            </a:endParaRPr>
          </a:p>
          <a:p>
            <a:pPr marL="171450" indent="-171450" defTabSz="995363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sz="900" b="1" dirty="0">
              <a:solidFill>
                <a:srgbClr val="000000"/>
              </a:solidFill>
              <a:latin typeface="Arial"/>
              <a:cs typeface="Arial"/>
            </a:endParaRPr>
          </a:p>
          <a:p>
            <a:pPr defTabSz="995363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900" b="1" dirty="0">
                <a:solidFill>
                  <a:srgbClr val="000000"/>
                </a:solidFill>
                <a:latin typeface="Arial"/>
              </a:rPr>
              <a:t>	</a:t>
            </a:r>
            <a:endParaRPr lang="en-US" sz="900" b="1" dirty="0">
              <a:solidFill>
                <a:srgbClr val="000000"/>
              </a:solidFill>
              <a:latin typeface="Arial"/>
              <a:cs typeface="Arial"/>
            </a:endParaRPr>
          </a:p>
          <a:p>
            <a:pPr defTabSz="995363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628650" marR="0" lvl="1" indent="-171450" algn="l" defTabSz="9953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sz="900" dirty="0">
              <a:solidFill>
                <a:srgbClr val="000000"/>
              </a:solidFill>
              <a:latin typeface="Arial"/>
            </a:endParaRPr>
          </a:p>
          <a:p>
            <a:pPr marR="0" lvl="1" algn="l" defTabSz="9953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endParaRPr lang="en-US" sz="900" dirty="0">
              <a:solidFill>
                <a:srgbClr val="000000"/>
              </a:solidFill>
              <a:latin typeface="Arial"/>
            </a:endParaRPr>
          </a:p>
          <a:p>
            <a:pPr marR="0" lvl="1" algn="l" defTabSz="9953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endParaRPr lang="en-US" sz="900" dirty="0">
              <a:solidFill>
                <a:srgbClr val="000000"/>
              </a:solidFill>
              <a:latin typeface="Arial"/>
            </a:endParaRPr>
          </a:p>
          <a:p>
            <a:pPr marL="457200" marR="0" lvl="1" indent="0" algn="l" defTabSz="9953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2EC1554-C000-F311-6B95-AC2942A314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3484320"/>
              </p:ext>
            </p:extLst>
          </p:nvPr>
        </p:nvGraphicFramePr>
        <p:xfrm>
          <a:off x="1577341" y="4972471"/>
          <a:ext cx="8986079" cy="1434050"/>
        </p:xfrm>
        <a:graphic>
          <a:graphicData uri="http://schemas.openxmlformats.org/drawingml/2006/table">
            <a:tbl>
              <a:tblPr/>
              <a:tblGrid>
                <a:gridCol w="2348783">
                  <a:extLst>
                    <a:ext uri="{9D8B030D-6E8A-4147-A177-3AD203B41FA5}">
                      <a16:colId xmlns:a16="http://schemas.microsoft.com/office/drawing/2014/main" val="1332086851"/>
                    </a:ext>
                  </a:extLst>
                </a:gridCol>
                <a:gridCol w="1161197">
                  <a:extLst>
                    <a:ext uri="{9D8B030D-6E8A-4147-A177-3AD203B41FA5}">
                      <a16:colId xmlns:a16="http://schemas.microsoft.com/office/drawing/2014/main" val="846566043"/>
                    </a:ext>
                  </a:extLst>
                </a:gridCol>
                <a:gridCol w="989657">
                  <a:extLst>
                    <a:ext uri="{9D8B030D-6E8A-4147-A177-3AD203B41FA5}">
                      <a16:colId xmlns:a16="http://schemas.microsoft.com/office/drawing/2014/main" val="533250894"/>
                    </a:ext>
                  </a:extLst>
                </a:gridCol>
                <a:gridCol w="897288">
                  <a:extLst>
                    <a:ext uri="{9D8B030D-6E8A-4147-A177-3AD203B41FA5}">
                      <a16:colId xmlns:a16="http://schemas.microsoft.com/office/drawing/2014/main" val="2133618482"/>
                    </a:ext>
                  </a:extLst>
                </a:gridCol>
                <a:gridCol w="989657">
                  <a:extLst>
                    <a:ext uri="{9D8B030D-6E8A-4147-A177-3AD203B41FA5}">
                      <a16:colId xmlns:a16="http://schemas.microsoft.com/office/drawing/2014/main" val="609552570"/>
                    </a:ext>
                  </a:extLst>
                </a:gridCol>
                <a:gridCol w="989657">
                  <a:extLst>
                    <a:ext uri="{9D8B030D-6E8A-4147-A177-3AD203B41FA5}">
                      <a16:colId xmlns:a16="http://schemas.microsoft.com/office/drawing/2014/main" val="497591631"/>
                    </a:ext>
                  </a:extLst>
                </a:gridCol>
                <a:gridCol w="804920">
                  <a:extLst>
                    <a:ext uri="{9D8B030D-6E8A-4147-A177-3AD203B41FA5}">
                      <a16:colId xmlns:a16="http://schemas.microsoft.com/office/drawing/2014/main" val="772962368"/>
                    </a:ext>
                  </a:extLst>
                </a:gridCol>
                <a:gridCol w="804920">
                  <a:extLst>
                    <a:ext uri="{9D8B030D-6E8A-4147-A177-3AD203B41FA5}">
                      <a16:colId xmlns:a16="http://schemas.microsoft.com/office/drawing/2014/main" val="1466060582"/>
                    </a:ext>
                  </a:extLst>
                </a:gridCol>
              </a:tblGrid>
              <a:tr h="717025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D40511"/>
                          </a:solidFill>
                          <a:effectLst/>
                          <a:latin typeface="DeutschePost-MedCn" panose="020B0500000000000000"/>
                        </a:rPr>
                        <a:t>FINANCIALS PERFORMANCE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FFFFFF"/>
                          </a:solidFill>
                          <a:effectLst/>
                          <a:latin typeface="DeutschePost-MedCn" panose="020B0500000000000000"/>
                        </a:rPr>
                        <a:t>Total AR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5D5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FFFFFF"/>
                          </a:solidFill>
                          <a:effectLst/>
                          <a:latin typeface="DeutschePost-MedCn" panose="020B0500000000000000"/>
                        </a:rPr>
                        <a:t>Current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5D5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FFFFFF"/>
                          </a:solidFill>
                          <a:effectLst/>
                          <a:latin typeface="DeutschePost-MedCn" panose="020B0500000000000000"/>
                        </a:rPr>
                        <a:t>Overdue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5D5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FFFFFF"/>
                          </a:solidFill>
                          <a:effectLst/>
                          <a:latin typeface="DeutschePost-MedCn" panose="020B0500000000000000"/>
                        </a:rPr>
                        <a:t>0-30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5D5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FFFFFF"/>
                          </a:solidFill>
                          <a:effectLst/>
                          <a:latin typeface="DeutschePost-MedCn" panose="020B0500000000000000"/>
                        </a:rPr>
                        <a:t>31-60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5D5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FFFFFF"/>
                          </a:solidFill>
                          <a:effectLst/>
                          <a:latin typeface="DeutschePost-MedCn" panose="020B0500000000000000"/>
                        </a:rPr>
                        <a:t>61-90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5D5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FFFFFF"/>
                          </a:solidFill>
                          <a:effectLst/>
                          <a:latin typeface="DeutschePost-MedCn" panose="020B0500000000000000"/>
                        </a:rPr>
                        <a:t>&gt;90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5D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5059545"/>
                  </a:ext>
                </a:extLst>
              </a:tr>
              <a:tr h="717025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FFFFFF"/>
                          </a:solidFill>
                          <a:effectLst/>
                          <a:latin typeface="DeutschePost-MedCn" panose="020B0500000000000000"/>
                        </a:rPr>
                        <a:t>Freight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5D5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€ 72,110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€ 56,886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€ 15,224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€ 49,595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€ 22,514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€ 0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€ 0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4232412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3B2DA265-3A8F-D9C7-D799-407C30D466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5780484"/>
              </p:ext>
            </p:extLst>
          </p:nvPr>
        </p:nvGraphicFramePr>
        <p:xfrm>
          <a:off x="7733999" y="1147547"/>
          <a:ext cx="2845819" cy="1714342"/>
        </p:xfrm>
        <a:graphic>
          <a:graphicData uri="http://schemas.openxmlformats.org/drawingml/2006/table">
            <a:tbl>
              <a:tblPr/>
              <a:tblGrid>
                <a:gridCol w="2113699">
                  <a:extLst>
                    <a:ext uri="{9D8B030D-6E8A-4147-A177-3AD203B41FA5}">
                      <a16:colId xmlns:a16="http://schemas.microsoft.com/office/drawing/2014/main" val="1846450647"/>
                    </a:ext>
                  </a:extLst>
                </a:gridCol>
                <a:gridCol w="732120">
                  <a:extLst>
                    <a:ext uri="{9D8B030D-6E8A-4147-A177-3AD203B41FA5}">
                      <a16:colId xmlns:a16="http://schemas.microsoft.com/office/drawing/2014/main" val="2387316505"/>
                    </a:ext>
                  </a:extLst>
                </a:gridCol>
              </a:tblGrid>
              <a:tr h="334399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900" b="0" i="0" u="none" strike="noStrike">
                          <a:solidFill>
                            <a:srgbClr val="0000FF"/>
                          </a:solidFill>
                          <a:effectLst/>
                          <a:latin typeface="DeutschePost-MedCn" panose="020B0500000000000000"/>
                        </a:rPr>
                        <a:t>Cash Forecasting / Payments Summary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900" b="0" i="0" u="none" strike="noStrike">
                          <a:solidFill>
                            <a:srgbClr val="0000FF"/>
                          </a:solidFill>
                          <a:effectLst/>
                          <a:latin typeface="DeutschePost-MedCn" panose="020B0500000000000000"/>
                        </a:rPr>
                        <a:t>EUR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2887930"/>
                  </a:ext>
                </a:extLst>
              </a:tr>
              <a:tr h="459743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b="0" i="0" u="none" strike="noStrike">
                          <a:solidFill>
                            <a:srgbClr val="FFFFFF"/>
                          </a:solidFill>
                          <a:effectLst/>
                          <a:latin typeface="DeutschePost-MedCn" panose="020B0500000000000000"/>
                        </a:rPr>
                        <a:t>Payments In House Pending Application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0" i="0" u="none" strike="noStrike" dirty="0">
                          <a:solidFill>
                            <a:srgbClr val="0070C0"/>
                          </a:solidFill>
                          <a:effectLst/>
                          <a:latin typeface="DeutschePost-MedCn" panose="020B0500000000000000"/>
                        </a:rPr>
                        <a:t>€15.2k</a:t>
                      </a:r>
                      <a:endParaRPr lang="en-US" sz="1000" b="0" i="0" u="none" strike="noStrike" dirty="0">
                        <a:solidFill>
                          <a:srgbClr val="0000FF"/>
                        </a:solidFill>
                        <a:effectLst/>
                        <a:latin typeface="DeutschePost-MedCn" panose="020B050000000000000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2425116"/>
                  </a:ext>
                </a:extLst>
              </a:tr>
              <a:tr h="271159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b="0" i="0" u="none" strike="noStrike" dirty="0">
                          <a:solidFill>
                            <a:srgbClr val="FFFFFF"/>
                          </a:solidFill>
                          <a:effectLst/>
                          <a:latin typeface="DeutschePost-MedCn" panose="020B0500000000000000"/>
                        </a:rPr>
                        <a:t>Expected payments by EOM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000" b="0" i="0" u="none" strike="noStrike">
                          <a:solidFill>
                            <a:srgbClr val="0070C0"/>
                          </a:solidFill>
                          <a:effectLst/>
                          <a:latin typeface="DeutschePost-MedCn" panose="020B0500000000000000"/>
                        </a:rPr>
                        <a:t>€ 30k </a:t>
                      </a:r>
                      <a:r>
                        <a:rPr lang="en-US" sz="1000" b="0" i="0" u="none" strike="noStrike">
                          <a:solidFill>
                            <a:srgbClr val="0000FF"/>
                          </a:solidFill>
                          <a:effectLst/>
                          <a:latin typeface="DeutschePost-MedCn" panose="020B0500000000000000"/>
                        </a:rPr>
                        <a:t>             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7096826"/>
                  </a:ext>
                </a:extLst>
              </a:tr>
              <a:tr h="216347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b="0" i="0" u="none" strike="noStrike">
                          <a:solidFill>
                            <a:srgbClr val="FFFFFF"/>
                          </a:solidFill>
                          <a:effectLst/>
                          <a:latin typeface="DeutschePost-MedCn" panose="020B0500000000000000"/>
                        </a:rPr>
                        <a:t>Forecasted Overdue EOM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0" i="0" u="none" strike="noStrike" dirty="0">
                          <a:solidFill>
                            <a:srgbClr val="0070C0"/>
                          </a:solidFill>
                          <a:effectLst/>
                          <a:latin typeface="DeutschePost-MedCn" panose="020B0500000000000000"/>
                        </a:rPr>
                        <a:t>€ 16k</a:t>
                      </a:r>
                      <a:endParaRPr lang="en-US" sz="1000" b="0" i="0" u="none" strike="noStrike" dirty="0">
                        <a:solidFill>
                          <a:srgbClr val="0000FF"/>
                        </a:solidFill>
                        <a:effectLst/>
                        <a:latin typeface="DeutschePost-MedCn" panose="020B050000000000000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882916"/>
                  </a:ext>
                </a:extLst>
              </a:tr>
              <a:tr h="216347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b="0" i="0" u="none" strike="noStrike">
                          <a:solidFill>
                            <a:srgbClr val="FFFFFF"/>
                          </a:solidFill>
                          <a:effectLst/>
                          <a:latin typeface="DeutschePost-MedCn" panose="020B0500000000000000"/>
                        </a:rPr>
                        <a:t>Forecasted &gt;60 EOM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0" i="0" u="none" strike="noStrike">
                          <a:solidFill>
                            <a:srgbClr val="0070C0"/>
                          </a:solidFill>
                          <a:effectLst/>
                          <a:latin typeface="DeutschePost-MedCn" panose="020B0500000000000000"/>
                        </a:rPr>
                        <a:t>€ 0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DeutschePost-MedCn" panose="020B050000000000000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2658117"/>
                  </a:ext>
                </a:extLst>
              </a:tr>
              <a:tr h="216347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b="0" i="0" u="none" strike="noStrike">
                          <a:solidFill>
                            <a:srgbClr val="FFFFFF"/>
                          </a:solidFill>
                          <a:effectLst/>
                          <a:latin typeface="DeutschePost-MedCn" panose="020B0500000000000000"/>
                        </a:rPr>
                        <a:t>Forecasted &gt;90 EOM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0" i="0" u="none" strike="noStrike" dirty="0">
                          <a:solidFill>
                            <a:srgbClr val="0070C0"/>
                          </a:solidFill>
                          <a:effectLst/>
                          <a:latin typeface="DeutschePost-MedCn" panose="020B0500000000000000"/>
                        </a:rPr>
                        <a:t>€ 0</a:t>
                      </a:r>
                      <a:endParaRPr lang="en-US" sz="1000" b="0" i="0" u="none" strike="noStrike" dirty="0">
                        <a:solidFill>
                          <a:srgbClr val="0000FF"/>
                        </a:solidFill>
                        <a:effectLst/>
                        <a:latin typeface="DeutschePost-MedCn" panose="020B050000000000000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67772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879565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>
          <a:xfrm>
            <a:off x="1273398" y="142614"/>
            <a:ext cx="9845705" cy="814388"/>
          </a:xfrm>
        </p:spPr>
        <p:txBody>
          <a:bodyPr/>
          <a:lstStyle/>
          <a:p>
            <a:r>
              <a:rPr lang="en-US" sz="3000"/>
              <a:t> LENOVO/MOTOROLA - NET 60                     go live 05/21  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3460" y="366046"/>
            <a:ext cx="1309108" cy="419987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 bwMode="auto">
          <a:xfrm>
            <a:off x="38231" y="957002"/>
            <a:ext cx="1574330" cy="597919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144000" tIns="144000" rIns="144000" bIns="144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953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400">
                <a:latin typeface="Arial" charset="0"/>
              </a:rPr>
              <a:t>AMKAD POC:</a:t>
            </a:r>
          </a:p>
          <a:p>
            <a:pPr defTabSz="995363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MX" sz="1400" i="1">
                <a:solidFill>
                  <a:srgbClr val="0070C0"/>
                </a:solidFill>
                <a:latin typeface="Arial"/>
                <a:cs typeface="Arial"/>
              </a:rPr>
              <a:t>Raul Dominguez</a:t>
            </a:r>
            <a:endParaRPr lang="es-MX" sz="1400" b="0" i="1" u="none" strike="noStrike" cap="none" normalizeH="0" baseline="0">
              <a:ln>
                <a:noFill/>
              </a:ln>
              <a:solidFill>
                <a:srgbClr val="0070C0"/>
              </a:solidFill>
              <a:effectLst/>
              <a:latin typeface="Arial" charset="0"/>
              <a:cs typeface="Arial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EE9C478-2B9B-BA7C-3C79-77D34B2CB8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8454" y="1009464"/>
            <a:ext cx="9537944" cy="252851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A28EA96-C7AC-108F-59A2-673A4541DC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28454" y="3537979"/>
            <a:ext cx="9537944" cy="2525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60642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 bwMode="auto">
          <a:xfrm>
            <a:off x="7691992" y="1141817"/>
            <a:ext cx="3072809" cy="4004181"/>
          </a:xfrm>
          <a:prstGeom prst="rect">
            <a:avLst/>
          </a:prstGeom>
          <a:solidFill>
            <a:schemeClr val="accent6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44000" tIns="144000" rIns="144000" bIns="144000" numCol="1" rtlCol="0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algn="l" defTabSz="9953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DeutschePost-MedCn" panose="020B0500000000000000" pitchFamily="34" charset="0"/>
              <a:ea typeface="+mn-ea"/>
              <a:cs typeface="+mn-cs"/>
            </a:endParaRPr>
          </a:p>
          <a:p>
            <a:pPr marL="0" marR="0" lvl="0" indent="0" algn="l" defTabSz="9953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DeutschePost-MedCn" panose="020B0500000000000000" pitchFamily="34" charset="0"/>
              <a:ea typeface="+mn-ea"/>
              <a:cs typeface="+mn-cs"/>
            </a:endParaRPr>
          </a:p>
          <a:p>
            <a:pPr marL="0" marR="0" lvl="0" indent="0" algn="l" defTabSz="9953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DeutschePost-MedCn" panose="020B0500000000000000" pitchFamily="34" charset="0"/>
              <a:ea typeface="+mn-ea"/>
              <a:cs typeface="+mn-cs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741135" y="368629"/>
            <a:ext cx="87565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D40511"/>
                </a:solidFill>
                <a:effectLst/>
                <a:uLnTx/>
                <a:uFillTx/>
                <a:latin typeface="DeutschePost-MedCn" panose="020B0500000000000000" pitchFamily="34" charset="0"/>
                <a:ea typeface="MS PGothic" pitchFamily="34" charset="-128"/>
                <a:cs typeface="+mn-cs"/>
              </a:rPr>
              <a:t>LENOVO MX </a:t>
            </a: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D40511"/>
                </a:solidFill>
                <a:effectLst/>
                <a:uLnTx/>
                <a:uFillTx/>
                <a:latin typeface="DeutschePost-MedCn" panose="020B0500000000000000" pitchFamily="34" charset="0"/>
                <a:ea typeface="MS PGothic" pitchFamily="34" charset="-128"/>
                <a:cs typeface="+mn-cs"/>
              </a:rPr>
              <a:t>– </a:t>
            </a: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D40511"/>
                </a:solidFill>
                <a:effectLst/>
                <a:uLnTx/>
                <a:uFillTx/>
                <a:latin typeface="DeutschePost-MedCn" panose="020B0500000000000000" pitchFamily="34" charset="0"/>
                <a:ea typeface="MS PGothic" pitchFamily="34" charset="-128"/>
                <a:cs typeface="+mn-cs"/>
              </a:rPr>
              <a:t>ACCOUNT BUSINESS REVIEW  </a:t>
            </a: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D40511"/>
                </a:solidFill>
                <a:effectLst/>
                <a:uLnTx/>
                <a:uFillTx/>
                <a:latin typeface="DeutschePost-MedCn" panose="020B0500000000000000" pitchFamily="34" charset="0"/>
                <a:ea typeface="MS PGothic" pitchFamily="34" charset="-128"/>
                <a:cs typeface="+mn-cs"/>
              </a:rPr>
              <a:t>		Date: </a:t>
            </a:r>
            <a:r>
              <a:rPr lang="en-US" sz="1100" b="1">
                <a:solidFill>
                  <a:srgbClr val="D40511"/>
                </a:solidFill>
                <a:latin typeface="DeutschePost-MedCn" panose="020B0500000000000000" pitchFamily="34" charset="0"/>
                <a:ea typeface="MS PGothic" pitchFamily="34" charset="-128"/>
              </a:rPr>
              <a:t>June</a:t>
            </a: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D40511"/>
                </a:solidFill>
                <a:effectLst/>
                <a:uLnTx/>
                <a:uFillTx/>
                <a:latin typeface="DeutschePost-MedCn" panose="020B0500000000000000" pitchFamily="34" charset="0"/>
                <a:ea typeface="MS PGothic" pitchFamily="34" charset="-128"/>
                <a:cs typeface="+mn-cs"/>
              </a:rPr>
              <a:t> 23, 2026</a:t>
            </a: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rgbClr val="D40511"/>
              </a:solidFill>
              <a:effectLst/>
              <a:uLnTx/>
              <a:uFillTx/>
              <a:latin typeface="DeutschePost-MedCn" panose="020B0500000000000000" pitchFamily="34" charset="0"/>
              <a:ea typeface="MS PGothic" pitchFamily="34" charset="-128"/>
              <a:cs typeface="+mn-cs"/>
            </a:endParaRPr>
          </a:p>
        </p:txBody>
      </p:sp>
      <p:sp>
        <p:nvSpPr>
          <p:cNvPr id="3" name="Rectangle 2"/>
          <p:cNvSpPr/>
          <p:nvPr/>
        </p:nvSpPr>
        <p:spPr bwMode="auto">
          <a:xfrm>
            <a:off x="1586012" y="1144568"/>
            <a:ext cx="3141308" cy="4008366"/>
          </a:xfrm>
          <a:prstGeom prst="rect">
            <a:avLst/>
          </a:prstGeom>
          <a:solidFill>
            <a:schemeClr val="accent6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44000" tIns="144000" rIns="144000" bIns="144000" numCol="1" rtlCol="0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algn="l" defTabSz="9953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DeutschePost-MedCn" panose="020B0500000000000000" pitchFamily="34" charset="0"/>
              <a:ea typeface="+mn-ea"/>
              <a:cs typeface="+mn-cs"/>
            </a:endParaRPr>
          </a:p>
        </p:txBody>
      </p:sp>
      <p:sp>
        <p:nvSpPr>
          <p:cNvPr id="5" name="Rectangle 4"/>
          <p:cNvSpPr/>
          <p:nvPr/>
        </p:nvSpPr>
        <p:spPr bwMode="auto">
          <a:xfrm>
            <a:off x="4722146" y="1150102"/>
            <a:ext cx="2966157" cy="4002831"/>
          </a:xfrm>
          <a:prstGeom prst="rect">
            <a:avLst/>
          </a:prstGeom>
          <a:solidFill>
            <a:schemeClr val="accent6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44000" tIns="144000" rIns="144000" bIns="144000" numCol="1" rtlCol="0" anchor="ctr" anchorCtr="0" compatLnSpc="1">
            <a:prstTxWarp prst="textNoShape">
              <a:avLst/>
            </a:prstTxWarp>
            <a:normAutofit/>
          </a:bodyPr>
          <a:lstStyle/>
          <a:p>
            <a:pPr marL="171450" marR="0" lvl="0" indent="-171450" algn="l" defTabSz="9953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DeutschePost-MedCn" panose="020B0500000000000000" pitchFamily="34" charset="0"/>
              <a:ea typeface="+mn-ea"/>
              <a:cs typeface="+mn-cs"/>
            </a:endParaRPr>
          </a:p>
          <a:p>
            <a:pPr marL="171450" marR="0" lvl="0" indent="-171450" algn="l" defTabSz="9953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DeutschePost-MedCn" panose="020B0500000000000000" pitchFamily="34" charset="0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 bwMode="auto">
          <a:xfrm>
            <a:off x="1577340" y="5145998"/>
            <a:ext cx="9187461" cy="1351482"/>
          </a:xfrm>
          <a:prstGeom prst="rect">
            <a:avLst/>
          </a:prstGeom>
          <a:solidFill>
            <a:schemeClr val="accent6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144000" tIns="144000" rIns="144000" bIns="1440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953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DeutschePost-MedCn" panose="020B0500000000000000" pitchFamily="34" charset="0"/>
              <a:ea typeface="+mn-ea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 bwMode="auto">
          <a:xfrm>
            <a:off x="1570625" y="900649"/>
            <a:ext cx="3145157" cy="250854"/>
          </a:xfrm>
          <a:prstGeom prst="rect">
            <a:avLst/>
          </a:prstGeom>
          <a:solidFill>
            <a:schemeClr val="accent3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144000" tIns="144000" rIns="144000" bIns="14400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953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D40511"/>
                </a:solidFill>
                <a:effectLst/>
                <a:uLnTx/>
                <a:uFillTx/>
                <a:latin typeface="DeutschePost-MedCn" panose="020B0500000000000000" pitchFamily="34" charset="0"/>
                <a:ea typeface="+mn-ea"/>
                <a:cs typeface="+mn-cs"/>
              </a:rPr>
              <a:t>MAIN ISSUES</a:t>
            </a:r>
          </a:p>
        </p:txBody>
      </p:sp>
      <p:sp>
        <p:nvSpPr>
          <p:cNvPr id="9" name="Rectangle 8"/>
          <p:cNvSpPr/>
          <p:nvPr/>
        </p:nvSpPr>
        <p:spPr bwMode="auto">
          <a:xfrm>
            <a:off x="4739736" y="900649"/>
            <a:ext cx="2961468" cy="250854"/>
          </a:xfrm>
          <a:prstGeom prst="rect">
            <a:avLst/>
          </a:prstGeom>
          <a:solidFill>
            <a:schemeClr val="accent3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144000" tIns="144000" rIns="144000" bIns="14400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953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D40511"/>
                </a:solidFill>
                <a:effectLst/>
                <a:uLnTx/>
                <a:uFillTx/>
                <a:latin typeface="DeutschePost-MedCn" panose="020B0500000000000000" pitchFamily="34" charset="0"/>
                <a:ea typeface="+mn-ea"/>
                <a:cs typeface="+mn-cs"/>
              </a:rPr>
              <a:t>CURRENT ACTIONS / SUPPORT NEEDED</a:t>
            </a:r>
          </a:p>
        </p:txBody>
      </p:sp>
      <p:sp>
        <p:nvSpPr>
          <p:cNvPr id="10" name="Rectangle 9"/>
          <p:cNvSpPr/>
          <p:nvPr/>
        </p:nvSpPr>
        <p:spPr bwMode="auto">
          <a:xfrm>
            <a:off x="7679576" y="890757"/>
            <a:ext cx="3072808" cy="251060"/>
          </a:xfrm>
          <a:prstGeom prst="rect">
            <a:avLst/>
          </a:prstGeom>
          <a:solidFill>
            <a:schemeClr val="accent3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144000" tIns="144000" rIns="144000" bIns="14400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953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D40511"/>
                </a:solidFill>
                <a:effectLst/>
                <a:uLnTx/>
                <a:uFillTx/>
                <a:latin typeface="DeutschePost-MedCn" panose="020B0500000000000000" pitchFamily="34" charset="0"/>
                <a:ea typeface="+mn-ea"/>
                <a:cs typeface="+mn-cs"/>
              </a:rPr>
              <a:t>PAYMENTS / EOM Forecasting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29208" y="1517646"/>
            <a:ext cx="3123718" cy="2431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" marR="0" lvl="0" indent="0" algn="l" defTabSz="9953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1" i="0" u="sng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DeutschePost-MedCn" panose="020B0500000000000000" pitchFamily="34" charset="0"/>
              <a:ea typeface="+mn-ea"/>
              <a:cs typeface="+mn-cs"/>
            </a:endParaRPr>
          </a:p>
          <a:p>
            <a:pPr marL="228600" marR="0" lvl="0" indent="-171450" algn="l" defTabSz="9953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000" b="1">
                <a:solidFill>
                  <a:srgbClr val="000000"/>
                </a:solidFill>
                <a:latin typeface="Arial"/>
              </a:rPr>
              <a:t>2.3k </a:t>
            </a:r>
            <a:r>
              <a:rPr lang="en-US" sz="1000">
                <a:solidFill>
                  <a:srgbClr val="000000"/>
                </a:solidFill>
                <a:latin typeface="Arial"/>
              </a:rPr>
              <a:t>Remitted – Pending Application</a:t>
            </a:r>
          </a:p>
          <a:p>
            <a:pPr marL="685800" lvl="1" indent="-171450" defTabSz="995363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endParaRPr lang="en-US" sz="1000">
              <a:solidFill>
                <a:srgbClr val="000000"/>
              </a:solidFill>
              <a:latin typeface="Arial"/>
            </a:endParaRPr>
          </a:p>
          <a:p>
            <a:pPr marL="228600" indent="-171450" defTabSz="995363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en-US" sz="1000" b="1">
                <a:solidFill>
                  <a:srgbClr val="000000"/>
                </a:solidFill>
                <a:latin typeface="Arial"/>
              </a:rPr>
              <a:t>363k</a:t>
            </a:r>
            <a:r>
              <a:rPr lang="en-US" sz="1000">
                <a:solidFill>
                  <a:srgbClr val="000000"/>
                </a:solidFill>
                <a:latin typeface="Arial"/>
              </a:rPr>
              <a:t> PTP in CM</a:t>
            </a:r>
          </a:p>
          <a:p>
            <a:pPr marL="57150" defTabSz="995363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b="1">
                <a:solidFill>
                  <a:srgbClr val="000000"/>
                </a:solidFill>
                <a:latin typeface="Arial"/>
              </a:rPr>
              <a:t>	</a:t>
            </a:r>
          </a:p>
          <a:p>
            <a:pPr marL="685800" lvl="1" indent="-171450" defTabSz="995363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/>
            </a:pPr>
            <a:endParaRPr lang="en-US" sz="800" b="1">
              <a:solidFill>
                <a:srgbClr val="000000"/>
              </a:solidFill>
              <a:latin typeface="Arial"/>
            </a:endParaRPr>
          </a:p>
          <a:p>
            <a:pPr marL="228600" indent="-171450" defTabSz="995363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en-US" sz="1000" b="1">
                <a:solidFill>
                  <a:srgbClr val="000000"/>
                </a:solidFill>
              </a:rPr>
              <a:t>10.4k </a:t>
            </a:r>
            <a:r>
              <a:rPr lang="en-US" sz="1000">
                <a:solidFill>
                  <a:srgbClr val="000000"/>
                </a:solidFill>
              </a:rPr>
              <a:t>Exceptions – Working with Lenovo to reduce (25.2k last month)</a:t>
            </a:r>
          </a:p>
          <a:p>
            <a:pPr marL="228600" indent="-171450" defTabSz="995363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endParaRPr lang="en-US" sz="1000" b="1">
              <a:solidFill>
                <a:srgbClr val="000000"/>
              </a:solidFill>
            </a:endParaRPr>
          </a:p>
          <a:p>
            <a:pPr marL="228600" lvl="0" indent="-171450" defTabSz="995363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en-US" sz="1000" b="1">
                <a:solidFill>
                  <a:srgbClr val="000000"/>
                </a:solidFill>
              </a:rPr>
              <a:t>233k</a:t>
            </a:r>
            <a:r>
              <a:rPr lang="en-US" sz="1000">
                <a:solidFill>
                  <a:srgbClr val="000000"/>
                </a:solidFill>
              </a:rPr>
              <a:t> Pending Payment Dates</a:t>
            </a:r>
            <a:endParaRPr lang="en-US" sz="800" b="1">
              <a:solidFill>
                <a:srgbClr val="000000"/>
              </a:solidFill>
            </a:endParaRPr>
          </a:p>
          <a:p>
            <a:pPr marL="228600" indent="-171450" defTabSz="995363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endParaRPr lang="en-US" sz="1000">
              <a:solidFill>
                <a:srgbClr val="000000"/>
              </a:solidFill>
              <a:latin typeface="Arial"/>
            </a:endParaRPr>
          </a:p>
          <a:p>
            <a:pPr marL="228600" indent="-171450" defTabSz="995363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endParaRPr lang="en-US" sz="800">
              <a:solidFill>
                <a:srgbClr val="000000"/>
              </a:solidFill>
              <a:latin typeface="Arial"/>
            </a:endParaRPr>
          </a:p>
          <a:p>
            <a:pPr marL="228600" indent="-171450" defTabSz="995363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en-US" sz="1000" b="1">
                <a:solidFill>
                  <a:srgbClr val="000000"/>
                </a:solidFill>
              </a:rPr>
              <a:t>164k - </a:t>
            </a:r>
            <a:r>
              <a:rPr lang="en-US" sz="1000">
                <a:solidFill>
                  <a:srgbClr val="000000"/>
                </a:solidFill>
              </a:rPr>
              <a:t>One invoice escalated to Lenovo owner this morning</a:t>
            </a:r>
          </a:p>
          <a:p>
            <a:pPr marL="228600" marR="0" lvl="0" indent="-171450" algn="l" defTabSz="9953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sz="800">
              <a:solidFill>
                <a:srgbClr val="000000"/>
              </a:solidFill>
              <a:latin typeface="Arial"/>
            </a:endParaRPr>
          </a:p>
          <a:p>
            <a:pPr marL="228600" marR="0" lvl="0" indent="-171450" algn="l" defTabSz="9953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5020BCB-76E4-4058-B812-CDD9DAFCD75B}"/>
              </a:ext>
            </a:extLst>
          </p:cNvPr>
          <p:cNvSpPr txBox="1"/>
          <p:nvPr/>
        </p:nvSpPr>
        <p:spPr>
          <a:xfrm>
            <a:off x="1741135" y="1883016"/>
            <a:ext cx="2576166" cy="14003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953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DeutschePost-MedCn" panose="020B0500000000000000" pitchFamily="34" charset="0"/>
              <a:ea typeface="+mn-ea"/>
              <a:cs typeface="+mn-cs"/>
            </a:endParaRPr>
          </a:p>
          <a:p>
            <a:pPr marL="0" marR="0" lvl="0" indent="0" algn="l" defTabSz="9953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eutschePost-MedCn" panose="020B0500000000000000" pitchFamily="34" charset="0"/>
                <a:ea typeface="+mn-ea"/>
                <a:cs typeface="+mn-cs"/>
              </a:rPr>
              <a:t>Lenovo/Motorola</a:t>
            </a:r>
          </a:p>
          <a:p>
            <a:pPr marL="457200" marR="0" lvl="1" indent="0" algn="l" defTabSz="9953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TTL AR:  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€1.3M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457200" marR="0" lvl="1" indent="0" algn="l" defTabSz="9953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PD: </a:t>
            </a:r>
            <a:r>
              <a:rPr kumimoji="0" lang="en-US" sz="100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€</a:t>
            </a:r>
            <a:r>
              <a:rPr lang="en-US" sz="1000">
                <a:solidFill>
                  <a:srgbClr val="000000"/>
                </a:solidFill>
                <a:latin typeface="Arial"/>
              </a:rPr>
              <a:t>583</a:t>
            </a:r>
            <a:r>
              <a:rPr kumimoji="0" lang="en-US" sz="100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k</a:t>
            </a:r>
          </a:p>
          <a:p>
            <a:pPr marL="457200" marR="0" lvl="1" indent="0" algn="l" defTabSz="9953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&gt;90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: €374k</a:t>
            </a:r>
          </a:p>
          <a:p>
            <a:pPr marL="457200" marR="0" lvl="1" indent="0" algn="l" defTabSz="9953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800">
              <a:solidFill>
                <a:srgbClr val="000000"/>
              </a:solidFill>
              <a:latin typeface="Arial"/>
            </a:endParaRPr>
          </a:p>
          <a:p>
            <a:pPr marL="457200" marR="0" lvl="1" indent="0" algn="l" defTabSz="9953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457200" marR="0" lvl="1" indent="0" algn="l" defTabSz="9953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457200" marR="0" lvl="1" indent="0" algn="l" defTabSz="9953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DeutschePost-MedCn" panose="020B0500000000000000"/>
              <a:ea typeface="+mn-ea"/>
              <a:cs typeface="+mn-cs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BF843A94-B250-18D5-6096-E2CDC97ED5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8766514"/>
              </p:ext>
            </p:extLst>
          </p:nvPr>
        </p:nvGraphicFramePr>
        <p:xfrm>
          <a:off x="7813860" y="1305448"/>
          <a:ext cx="2889879" cy="1388030"/>
        </p:xfrm>
        <a:graphic>
          <a:graphicData uri="http://schemas.openxmlformats.org/drawingml/2006/table">
            <a:tbl>
              <a:tblPr/>
              <a:tblGrid>
                <a:gridCol w="1855241">
                  <a:extLst>
                    <a:ext uri="{9D8B030D-6E8A-4147-A177-3AD203B41FA5}">
                      <a16:colId xmlns:a16="http://schemas.microsoft.com/office/drawing/2014/main" val="1111691323"/>
                    </a:ext>
                  </a:extLst>
                </a:gridCol>
                <a:gridCol w="1034638">
                  <a:extLst>
                    <a:ext uri="{9D8B030D-6E8A-4147-A177-3AD203B41FA5}">
                      <a16:colId xmlns:a16="http://schemas.microsoft.com/office/drawing/2014/main" val="1239121185"/>
                    </a:ext>
                  </a:extLst>
                </a:gridCol>
              </a:tblGrid>
              <a:tr h="298879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900" b="1" i="0" u="none" strike="noStrike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Cash Forecasting/Payments Summary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DeutschePost-MedCn" panose="020B0500000000000000"/>
                        </a:rPr>
                        <a:t>EUR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5D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2883259"/>
                  </a:ext>
                </a:extLst>
              </a:tr>
              <a:tr h="194827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>
                          <a:solidFill>
                            <a:srgbClr val="FFFFFF"/>
                          </a:solidFill>
                          <a:effectLst/>
                          <a:latin typeface="DeutschePost-MedCn" panose="020B0500000000000000"/>
                        </a:rPr>
                        <a:t>Payments In House Pending Application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5D5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100" b="0" i="0" u="none" strike="noStrike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2.3k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767944"/>
                  </a:ext>
                </a:extLst>
              </a:tr>
              <a:tr h="194827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>
                          <a:solidFill>
                            <a:srgbClr val="FFFFFF"/>
                          </a:solidFill>
                          <a:effectLst/>
                          <a:latin typeface="DeutschePost-MedCn" panose="020B0500000000000000"/>
                        </a:rPr>
                        <a:t>Expected payments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5D5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100" b="0" i="0" u="none" strike="noStrike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363k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3556390"/>
                  </a:ext>
                </a:extLst>
              </a:tr>
              <a:tr h="272757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>
                          <a:solidFill>
                            <a:srgbClr val="FFFFFF"/>
                          </a:solidFill>
                          <a:effectLst/>
                          <a:latin typeface="DeutschePost-MedCn" panose="020B0500000000000000"/>
                        </a:rPr>
                        <a:t>Forecasted Overdue EOM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5D5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100" b="0" i="0" u="none" strike="noStrike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458k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8932474"/>
                  </a:ext>
                </a:extLst>
              </a:tr>
              <a:tr h="231913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>
                          <a:solidFill>
                            <a:srgbClr val="FFFFFF"/>
                          </a:solidFill>
                          <a:effectLst/>
                          <a:latin typeface="DeutschePost-MedCn" panose="020B0500000000000000"/>
                        </a:rPr>
                        <a:t>Forecasted &gt;60 EOM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5D5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100" b="0" i="0" u="none" strike="noStrike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403.9k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8098627"/>
                  </a:ext>
                </a:extLst>
              </a:tr>
              <a:tr h="194827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>
                          <a:solidFill>
                            <a:srgbClr val="FFFFFF"/>
                          </a:solidFill>
                          <a:effectLst/>
                          <a:latin typeface="DeutschePost-MedCn" panose="020B0500000000000000"/>
                        </a:rPr>
                        <a:t>Forecasted &gt;90 EOM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5D5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100" b="0" i="0" u="none" strike="noStrike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232k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6920370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C2AA4F59-67DB-F2F8-2634-E4DA14AB7D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2751046"/>
              </p:ext>
            </p:extLst>
          </p:nvPr>
        </p:nvGraphicFramePr>
        <p:xfrm>
          <a:off x="1586012" y="5143878"/>
          <a:ext cx="9166372" cy="1345494"/>
        </p:xfrm>
        <a:graphic>
          <a:graphicData uri="http://schemas.openxmlformats.org/drawingml/2006/table">
            <a:tbl>
              <a:tblPr/>
              <a:tblGrid>
                <a:gridCol w="2007696">
                  <a:extLst>
                    <a:ext uri="{9D8B030D-6E8A-4147-A177-3AD203B41FA5}">
                      <a16:colId xmlns:a16="http://schemas.microsoft.com/office/drawing/2014/main" val="3765909866"/>
                    </a:ext>
                  </a:extLst>
                </a:gridCol>
                <a:gridCol w="1184856">
                  <a:extLst>
                    <a:ext uri="{9D8B030D-6E8A-4147-A177-3AD203B41FA5}">
                      <a16:colId xmlns:a16="http://schemas.microsoft.com/office/drawing/2014/main" val="1692704909"/>
                    </a:ext>
                  </a:extLst>
                </a:gridCol>
                <a:gridCol w="1058755">
                  <a:extLst>
                    <a:ext uri="{9D8B030D-6E8A-4147-A177-3AD203B41FA5}">
                      <a16:colId xmlns:a16="http://schemas.microsoft.com/office/drawing/2014/main" val="439555050"/>
                    </a:ext>
                  </a:extLst>
                </a:gridCol>
                <a:gridCol w="1058755">
                  <a:extLst>
                    <a:ext uri="{9D8B030D-6E8A-4147-A177-3AD203B41FA5}">
                      <a16:colId xmlns:a16="http://schemas.microsoft.com/office/drawing/2014/main" val="213458721"/>
                    </a:ext>
                  </a:extLst>
                </a:gridCol>
                <a:gridCol w="1058755">
                  <a:extLst>
                    <a:ext uri="{9D8B030D-6E8A-4147-A177-3AD203B41FA5}">
                      <a16:colId xmlns:a16="http://schemas.microsoft.com/office/drawing/2014/main" val="752231088"/>
                    </a:ext>
                  </a:extLst>
                </a:gridCol>
                <a:gridCol w="965095">
                  <a:extLst>
                    <a:ext uri="{9D8B030D-6E8A-4147-A177-3AD203B41FA5}">
                      <a16:colId xmlns:a16="http://schemas.microsoft.com/office/drawing/2014/main" val="1071006104"/>
                    </a:ext>
                  </a:extLst>
                </a:gridCol>
                <a:gridCol w="965095">
                  <a:extLst>
                    <a:ext uri="{9D8B030D-6E8A-4147-A177-3AD203B41FA5}">
                      <a16:colId xmlns:a16="http://schemas.microsoft.com/office/drawing/2014/main" val="736889880"/>
                    </a:ext>
                  </a:extLst>
                </a:gridCol>
                <a:gridCol w="867365">
                  <a:extLst>
                    <a:ext uri="{9D8B030D-6E8A-4147-A177-3AD203B41FA5}">
                      <a16:colId xmlns:a16="http://schemas.microsoft.com/office/drawing/2014/main" val="2839977180"/>
                    </a:ext>
                  </a:extLst>
                </a:gridCol>
              </a:tblGrid>
              <a:tr h="293475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D40511"/>
                          </a:solidFill>
                          <a:effectLst/>
                          <a:latin typeface="DeutschePost-MedCn" panose="020B0500000000000000"/>
                        </a:rPr>
                        <a:t>FINANCIALS   PERFORMANCE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FFFFFF"/>
                          </a:solidFill>
                          <a:effectLst/>
                          <a:latin typeface="DeutschePost-MedCn" panose="020B0500000000000000"/>
                        </a:rPr>
                        <a:t>TOTAL AR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FFFFFF"/>
                          </a:solidFill>
                          <a:effectLst/>
                          <a:latin typeface="DeutschePost-MedCn" panose="020B0500000000000000"/>
                        </a:rPr>
                        <a:t>CURRENT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FFFFFF"/>
                          </a:solidFill>
                          <a:effectLst/>
                          <a:latin typeface="DeutschePost-MedCn" panose="020B0500000000000000"/>
                        </a:rPr>
                        <a:t>OVERDUE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FFFFFF"/>
                          </a:solidFill>
                          <a:effectLst/>
                          <a:latin typeface="DeutschePost-MedCn" panose="020B0500000000000000"/>
                        </a:rPr>
                        <a:t>0-30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FFFFFF"/>
                          </a:solidFill>
                          <a:effectLst/>
                          <a:latin typeface="DeutschePost-MedCn" panose="020B0500000000000000"/>
                        </a:rPr>
                        <a:t>31-60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FFFFFF"/>
                          </a:solidFill>
                          <a:effectLst/>
                          <a:latin typeface="DeutschePost-MedCn" panose="020B0500000000000000"/>
                        </a:rPr>
                        <a:t>61-90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FFFFFF"/>
                          </a:solidFill>
                          <a:effectLst/>
                          <a:latin typeface="DeutschePost-MedCn" panose="020B0500000000000000"/>
                        </a:rPr>
                        <a:t>&gt;90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9081604"/>
                  </a:ext>
                </a:extLst>
              </a:tr>
              <a:tr h="350673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FFFFFF"/>
                          </a:solidFill>
                          <a:effectLst/>
                          <a:latin typeface="DeutschePost-MedCn" panose="020B0500000000000000"/>
                        </a:rPr>
                        <a:t>Duty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€ 241,524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€ 9,043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€ 232,481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€ 68,614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€ 122,652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€ 19,720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€ 30,538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6933089"/>
                  </a:ext>
                </a:extLst>
              </a:tr>
              <a:tr h="350673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FFFFFF"/>
                          </a:solidFill>
                          <a:effectLst/>
                          <a:latin typeface="DeutschePost-MedCn" panose="020B0500000000000000"/>
                        </a:rPr>
                        <a:t>Freight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€ 1,098,291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€ 747,505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€ 350,786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€ 509,086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€ 0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€ 245,244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€ 343,962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6225964"/>
                  </a:ext>
                </a:extLst>
              </a:tr>
              <a:tr h="350673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FFFFFF"/>
                          </a:solidFill>
                          <a:effectLst/>
                          <a:latin typeface="DeutschePost-MedCn" panose="020B0500000000000000"/>
                        </a:rPr>
                        <a:t>Summary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€ 1,339,815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€ 756,548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€ 583,267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€ 577,700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€ 122,652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€ 264,964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€ 374,499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89616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367894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>
          <a:xfrm>
            <a:off x="1519584" y="104907"/>
            <a:ext cx="9444828" cy="814388"/>
          </a:xfrm>
        </p:spPr>
        <p:txBody>
          <a:bodyPr/>
          <a:lstStyle/>
          <a:p>
            <a:r>
              <a:rPr lang="en-US" sz="3000"/>
              <a:t>Nokia                                                 Go Live 08/01/2023</a:t>
            </a:r>
          </a:p>
        </p:txBody>
      </p:sp>
      <p:sp>
        <p:nvSpPr>
          <p:cNvPr id="7" name="Rectangle 6"/>
          <p:cNvSpPr/>
          <p:nvPr/>
        </p:nvSpPr>
        <p:spPr>
          <a:xfrm>
            <a:off x="7359082" y="2364859"/>
            <a:ext cx="2487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>
                <a:latin typeface="Arial" charset="0"/>
              </a:rPr>
              <a:t> </a:t>
            </a:r>
            <a:endParaRPr lang="en-US"/>
          </a:p>
        </p:txBody>
      </p:sp>
      <p:sp>
        <p:nvSpPr>
          <p:cNvPr id="13" name="Rounded Rectangle 12"/>
          <p:cNvSpPr/>
          <p:nvPr/>
        </p:nvSpPr>
        <p:spPr bwMode="auto">
          <a:xfrm>
            <a:off x="60269" y="1040867"/>
            <a:ext cx="1791828" cy="625914"/>
          </a:xfrm>
          <a:prstGeom prst="roundRect">
            <a:avLst>
              <a:gd name="adj" fmla="val 13825"/>
            </a:avLst>
          </a:prstGeom>
          <a:solidFill>
            <a:schemeClr val="tx2">
              <a:lumMod val="40000"/>
              <a:lumOff val="60000"/>
            </a:schemeClr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144000" tIns="144000" rIns="144000" bIns="144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953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400">
                <a:latin typeface="Arial" charset="0"/>
              </a:rPr>
              <a:t>AMKAD POC:</a:t>
            </a:r>
          </a:p>
          <a:p>
            <a:pPr marL="0" marR="0" indent="0" algn="l" defTabSz="9953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MX" sz="1400" i="1">
                <a:solidFill>
                  <a:srgbClr val="0070C0"/>
                </a:solidFill>
                <a:latin typeface="Arial" charset="0"/>
              </a:rPr>
              <a:t>Gerard Bailey</a:t>
            </a:r>
            <a:endParaRPr kumimoji="0" lang="es-MX" sz="1400" b="0" i="1" u="none" strike="noStrike" cap="none" normalizeH="0" baseline="0">
              <a:ln>
                <a:noFill/>
              </a:ln>
              <a:solidFill>
                <a:srgbClr val="0070C0"/>
              </a:solidFill>
              <a:effectLst/>
              <a:latin typeface="Arial" charset="0"/>
            </a:endParaRPr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FCA2276F-B11E-AA8F-746A-3B6D3A5EFD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0975" y="104907"/>
            <a:ext cx="1466850" cy="7570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E31A4C0-06B1-8F38-3B0D-ACDB44354E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6247" y="963359"/>
            <a:ext cx="9243573" cy="246564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3E9DCBF-B3BF-2857-5B50-16EE119BE9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66247" y="3429000"/>
            <a:ext cx="9243573" cy="2424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427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 bwMode="auto">
          <a:xfrm>
            <a:off x="7680733" y="1144338"/>
            <a:ext cx="2845820" cy="3848874"/>
          </a:xfrm>
          <a:prstGeom prst="rect">
            <a:avLst/>
          </a:prstGeom>
          <a:solidFill>
            <a:schemeClr val="accent6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44000" tIns="144000" rIns="144000" bIns="144000" numCol="1" rtlCol="0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algn="l" defTabSz="9953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DeutschePost-MedCn" panose="020B0500000000000000" pitchFamily="34" charset="0"/>
              <a:ea typeface="+mn-ea"/>
              <a:cs typeface="+mn-cs"/>
            </a:endParaRPr>
          </a:p>
          <a:p>
            <a:pPr marL="0" marR="0" lvl="0" indent="0" algn="l" defTabSz="9953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DeutschePost-MedCn" panose="020B0500000000000000" pitchFamily="34" charset="0"/>
              <a:ea typeface="+mn-ea"/>
              <a:cs typeface="+mn-cs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717703" y="352342"/>
            <a:ext cx="87565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2000" b="1" dirty="0">
                <a:solidFill>
                  <a:srgbClr val="D40511"/>
                </a:solidFill>
                <a:latin typeface="DeutschePost-MedCn" panose="020B0500000000000000" pitchFamily="34" charset="0"/>
                <a:ea typeface="MS PGothic" pitchFamily="34" charset="-128"/>
              </a:rPr>
              <a:t>NOKIA MX – ACCOUNT BUSINESS REVIEW    Date:  June 22nd 2026         </a:t>
            </a:r>
          </a:p>
        </p:txBody>
      </p:sp>
      <p:sp>
        <p:nvSpPr>
          <p:cNvPr id="3" name="Rectangle 2"/>
          <p:cNvSpPr/>
          <p:nvPr/>
        </p:nvSpPr>
        <p:spPr bwMode="auto">
          <a:xfrm>
            <a:off x="1577341" y="1137172"/>
            <a:ext cx="3141308" cy="3828875"/>
          </a:xfrm>
          <a:prstGeom prst="rect">
            <a:avLst/>
          </a:prstGeom>
          <a:solidFill>
            <a:schemeClr val="accent6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44000" tIns="144000" rIns="144000" bIns="144000" numCol="1" rtlCol="0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algn="l" defTabSz="9953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DeutschePost-MedCn" panose="020B0500000000000000" pitchFamily="34" charset="0"/>
              <a:ea typeface="+mn-ea"/>
              <a:cs typeface="+mn-cs"/>
            </a:endParaRPr>
          </a:p>
        </p:txBody>
      </p:sp>
      <p:sp>
        <p:nvSpPr>
          <p:cNvPr id="5" name="Rectangle 4"/>
          <p:cNvSpPr/>
          <p:nvPr/>
        </p:nvSpPr>
        <p:spPr bwMode="auto">
          <a:xfrm>
            <a:off x="4725185" y="1149087"/>
            <a:ext cx="2966157" cy="3808120"/>
          </a:xfrm>
          <a:prstGeom prst="rect">
            <a:avLst/>
          </a:prstGeom>
          <a:solidFill>
            <a:schemeClr val="accent6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44000" tIns="144000" rIns="144000" bIns="144000" numCol="1" rtlCol="0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algn="l" defTabSz="9953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DeutschePost-MedCn" panose="020B0500000000000000" pitchFamily="34" charset="0"/>
              <a:ea typeface="+mn-ea"/>
              <a:cs typeface="+mn-cs"/>
            </a:endParaRPr>
          </a:p>
          <a:p>
            <a:pPr marL="0" marR="0" lvl="0" indent="0" algn="l" defTabSz="9953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DeutschePost-MedCn" panose="020B0500000000000000" pitchFamily="34" charset="0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 bwMode="auto">
          <a:xfrm>
            <a:off x="1577341" y="4966048"/>
            <a:ext cx="8949212" cy="1444738"/>
          </a:xfrm>
          <a:prstGeom prst="rect">
            <a:avLst/>
          </a:prstGeom>
          <a:solidFill>
            <a:schemeClr val="accent6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144000" tIns="144000" rIns="144000" bIns="1440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953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DeutschePost-MedCn" panose="020B0500000000000000" pitchFamily="34" charset="0"/>
              <a:ea typeface="+mn-ea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 bwMode="auto">
          <a:xfrm>
            <a:off x="1570625" y="900649"/>
            <a:ext cx="3145157" cy="250854"/>
          </a:xfrm>
          <a:prstGeom prst="rect">
            <a:avLst/>
          </a:prstGeom>
          <a:solidFill>
            <a:schemeClr val="accent3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144000" tIns="144000" rIns="144000" bIns="14400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953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D40511"/>
                </a:solidFill>
                <a:effectLst/>
                <a:uLnTx/>
                <a:uFillTx/>
                <a:latin typeface="DeutschePost-MedCn" panose="020B0500000000000000" pitchFamily="34" charset="0"/>
                <a:ea typeface="+mn-ea"/>
                <a:cs typeface="+mn-cs"/>
              </a:rPr>
              <a:t>MAIN ISSUES</a:t>
            </a:r>
          </a:p>
        </p:txBody>
      </p:sp>
      <p:sp>
        <p:nvSpPr>
          <p:cNvPr id="9" name="Rectangle 8"/>
          <p:cNvSpPr/>
          <p:nvPr/>
        </p:nvSpPr>
        <p:spPr bwMode="auto">
          <a:xfrm>
            <a:off x="4739736" y="891317"/>
            <a:ext cx="2961468" cy="250854"/>
          </a:xfrm>
          <a:prstGeom prst="rect">
            <a:avLst/>
          </a:prstGeom>
          <a:solidFill>
            <a:schemeClr val="accent3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144000" tIns="144000" rIns="144000" bIns="14400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953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D40511"/>
                </a:solidFill>
                <a:effectLst/>
                <a:uLnTx/>
                <a:uFillTx/>
                <a:latin typeface="DeutschePost-MedCn" panose="020B0500000000000000" pitchFamily="34" charset="0"/>
                <a:ea typeface="+mn-ea"/>
                <a:cs typeface="+mn-cs"/>
              </a:rPr>
              <a:t>CURRENT ACTIONS / SUPPORT NEEDED</a:t>
            </a:r>
          </a:p>
        </p:txBody>
      </p:sp>
      <p:sp>
        <p:nvSpPr>
          <p:cNvPr id="10" name="Rectangle 9"/>
          <p:cNvSpPr/>
          <p:nvPr/>
        </p:nvSpPr>
        <p:spPr bwMode="auto">
          <a:xfrm>
            <a:off x="7695763" y="896694"/>
            <a:ext cx="2830790" cy="250854"/>
          </a:xfrm>
          <a:prstGeom prst="rect">
            <a:avLst/>
          </a:prstGeom>
          <a:solidFill>
            <a:schemeClr val="accent3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144000" tIns="144000" rIns="144000" bIns="14400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953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D40511"/>
                </a:solidFill>
                <a:effectLst/>
                <a:uLnTx/>
                <a:uFillTx/>
                <a:latin typeface="DeutschePost-MedCn" panose="020B0500000000000000" pitchFamily="34" charset="0"/>
                <a:ea typeface="+mn-ea"/>
                <a:cs typeface="+mn-cs"/>
              </a:rPr>
              <a:t>PAYMENTS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BB657F6-7302-4D7A-426A-4EB5BEAD42EF}"/>
              </a:ext>
            </a:extLst>
          </p:cNvPr>
          <p:cNvSpPr txBox="1"/>
          <p:nvPr/>
        </p:nvSpPr>
        <p:spPr>
          <a:xfrm>
            <a:off x="1586012" y="1176590"/>
            <a:ext cx="2840671" cy="247760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628650" lvl="1" indent="-171450" defTabSz="995363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rgbClr val="000000"/>
                </a:solidFill>
                <a:latin typeface="DeutschePost-MedCn" panose="020B0500000000000000" pitchFamily="34" charset="0"/>
              </a:rPr>
              <a:t>TTL AR:  € 1.8 m</a:t>
            </a:r>
          </a:p>
          <a:p>
            <a:pPr marL="628650" lvl="1" indent="-171450" defTabSz="995363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rgbClr val="000000"/>
                </a:solidFill>
                <a:latin typeface="DeutschePost-MedCn" panose="020B0500000000000000" pitchFamily="34" charset="0"/>
              </a:rPr>
              <a:t>PD: € 61k</a:t>
            </a:r>
          </a:p>
          <a:p>
            <a:pPr marL="628650" lvl="1" indent="-171450" defTabSz="995363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rgbClr val="000000"/>
                </a:solidFill>
                <a:latin typeface="DeutschePost-MedCn" panose="020B0500000000000000" pitchFamily="34" charset="0"/>
              </a:rPr>
              <a:t>90: 47k</a:t>
            </a:r>
          </a:p>
          <a:p>
            <a:pPr marL="628650" lvl="1" indent="-171450" defTabSz="995363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endParaRPr lang="en-US" sz="1200" dirty="0">
              <a:solidFill>
                <a:srgbClr val="000000"/>
              </a:solidFill>
              <a:latin typeface="DeutschePost-MedCn" panose="020B0500000000000000" pitchFamily="34" charset="0"/>
            </a:endParaRPr>
          </a:p>
          <a:p>
            <a:pPr lvl="1" defTabSz="995363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400" dirty="0"/>
          </a:p>
          <a:p>
            <a:pPr lvl="1" defTabSz="995363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400" dirty="0"/>
          </a:p>
          <a:p>
            <a:pPr marL="628650" lvl="1" indent="-171450" defTabSz="995363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endParaRPr lang="en-US" sz="900" dirty="0">
              <a:solidFill>
                <a:srgbClr val="000000"/>
              </a:solidFill>
              <a:latin typeface="DeutschePost-MedCn" panose="020B0500000000000000" pitchFamily="34" charset="0"/>
            </a:endParaRPr>
          </a:p>
          <a:p>
            <a:pPr marL="628650" lvl="1" indent="-171450" defTabSz="995363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rgbClr val="000000"/>
                </a:solidFill>
                <a:latin typeface="DeutschePost-MedCn" panose="020B0500000000000000" pitchFamily="34" charset="0"/>
              </a:rPr>
              <a:t>Invoices loaded manually-pending update - € 20k</a:t>
            </a:r>
          </a:p>
          <a:p>
            <a:pPr marL="628650" lvl="1" indent="-171450" defTabSz="995363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endParaRPr lang="en-US" sz="1200" dirty="0">
              <a:solidFill>
                <a:srgbClr val="000000"/>
              </a:solidFill>
              <a:latin typeface="DeutschePost-MedCn" panose="020B0500000000000000" pitchFamily="34" charset="0"/>
            </a:endParaRPr>
          </a:p>
          <a:p>
            <a:pPr marL="628650" lvl="1" indent="-171450" defTabSz="995363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endParaRPr lang="en-US" sz="900" dirty="0">
              <a:solidFill>
                <a:srgbClr val="000000"/>
              </a:solidFill>
              <a:latin typeface="DeutschePost-MedCn" panose="020B0500000000000000" pitchFamily="34" charset="0"/>
            </a:endParaRPr>
          </a:p>
          <a:p>
            <a:pPr marL="628650" lvl="1" indent="-171450" defTabSz="995363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endParaRPr lang="en-US" sz="400" dirty="0">
              <a:solidFill>
                <a:srgbClr val="000000"/>
              </a:solidFill>
              <a:latin typeface="DeutschePost-MedCn" panose="020B0500000000000000"/>
            </a:endParaRPr>
          </a:p>
          <a:p>
            <a:pPr marL="628650" lvl="1" indent="-171450" defTabSz="995363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endParaRPr lang="en-US" sz="400" dirty="0">
              <a:solidFill>
                <a:srgbClr val="000000"/>
              </a:solidFill>
              <a:latin typeface="DeutschePost-MedCn" panose="020B0500000000000000"/>
            </a:endParaRPr>
          </a:p>
          <a:p>
            <a:pPr marL="628650" lvl="1" indent="-171450" defTabSz="995363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endParaRPr lang="en-US" sz="400" dirty="0"/>
          </a:p>
          <a:p>
            <a:pPr marL="628650" lvl="1" indent="-171450" defTabSz="995363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endParaRPr lang="en-US" sz="400" dirty="0"/>
          </a:p>
          <a:p>
            <a:pPr marL="628650" lvl="1" indent="-171450" defTabSz="995363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endParaRPr lang="en-US" sz="400" dirty="0"/>
          </a:p>
          <a:p>
            <a:pPr marL="628650" lvl="1" indent="-171450" defTabSz="995363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endParaRPr lang="en-US" sz="400" dirty="0">
              <a:solidFill>
                <a:srgbClr val="000000"/>
              </a:solidFill>
            </a:endParaRPr>
          </a:p>
          <a:p>
            <a:pPr marL="628650" lvl="1" indent="-171450" defTabSz="995363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endParaRPr lang="en-US" sz="900" dirty="0">
              <a:solidFill>
                <a:srgbClr val="000000"/>
              </a:solidFill>
              <a:latin typeface="DeutschePost-MedCn" panose="020B0500000000000000" pitchFamily="34" charset="0"/>
            </a:endParaRPr>
          </a:p>
          <a:p>
            <a:pPr marL="628650" lvl="1" indent="-171450" defTabSz="995363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rgbClr val="000000"/>
                </a:solidFill>
                <a:latin typeface="DeutschePost-MedCn" panose="020B0500000000000000" pitchFamily="34" charset="0"/>
              </a:rPr>
              <a:t>PTP Not CM - € 57k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28BC06A-3781-40F9-9332-4476D289E4FE}"/>
              </a:ext>
            </a:extLst>
          </p:cNvPr>
          <p:cNvSpPr txBox="1"/>
          <p:nvPr/>
        </p:nvSpPr>
        <p:spPr>
          <a:xfrm>
            <a:off x="4775326" y="1717424"/>
            <a:ext cx="2848396" cy="212365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de-DE"/>
            </a:defPPr>
            <a:lvl1pPr defTabSz="995363" eaLnBrk="0" fontAlgn="base" hangingPunct="0">
              <a:spcBef>
                <a:spcPct val="0"/>
              </a:spcBef>
              <a:spcAft>
                <a:spcPct val="0"/>
              </a:spcAft>
              <a:defRPr sz="900">
                <a:latin typeface="DeutschePost-MedCn" panose="020B0500000000000000" pitchFamily="34" charset="0"/>
              </a:defRPr>
            </a:lvl1pPr>
          </a:lstStyle>
          <a:p>
            <a:pPr lvl="1" defTabSz="995363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200" dirty="0">
                <a:solidFill>
                  <a:srgbClr val="000000"/>
                </a:solidFill>
                <a:latin typeface="DeutschePost-MedCn" panose="020B0500000000000000" pitchFamily="34" charset="0"/>
              </a:rPr>
              <a:t>Invoices loaded manually by CR. Pending update from customer on payment. Several call with the customer. Final Demand sent on 6/22. Customer has until 6/26 to make payment.</a:t>
            </a:r>
          </a:p>
          <a:p>
            <a:pPr lvl="1" defTabSz="995363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800" dirty="0"/>
          </a:p>
          <a:p>
            <a:pPr lvl="1" defTabSz="995363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dirty="0"/>
              <a:t>       </a:t>
            </a:r>
          </a:p>
          <a:p>
            <a:pPr lvl="1" defTabSz="995363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800" dirty="0"/>
          </a:p>
          <a:p>
            <a:pPr lvl="1" defTabSz="995363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200" dirty="0">
                <a:solidFill>
                  <a:srgbClr val="000000"/>
                </a:solidFill>
                <a:latin typeface="DeutschePost-MedCn" panose="020B0500000000000000" pitchFamily="34" charset="0"/>
              </a:rPr>
              <a:t>Invoice due date is after customer last payment run. Will be paid in Mar.</a:t>
            </a: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F51A6F72-9550-8983-0E18-B38687E6F8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9778898"/>
              </p:ext>
            </p:extLst>
          </p:nvPr>
        </p:nvGraphicFramePr>
        <p:xfrm>
          <a:off x="7691342" y="1148822"/>
          <a:ext cx="2838733" cy="1684560"/>
        </p:xfrm>
        <a:graphic>
          <a:graphicData uri="http://schemas.openxmlformats.org/drawingml/2006/table">
            <a:tbl>
              <a:tblPr/>
              <a:tblGrid>
                <a:gridCol w="2108436">
                  <a:extLst>
                    <a:ext uri="{9D8B030D-6E8A-4147-A177-3AD203B41FA5}">
                      <a16:colId xmlns:a16="http://schemas.microsoft.com/office/drawing/2014/main" val="1846450647"/>
                    </a:ext>
                  </a:extLst>
                </a:gridCol>
                <a:gridCol w="730297">
                  <a:extLst>
                    <a:ext uri="{9D8B030D-6E8A-4147-A177-3AD203B41FA5}">
                      <a16:colId xmlns:a16="http://schemas.microsoft.com/office/drawing/2014/main" val="2387316505"/>
                    </a:ext>
                  </a:extLst>
                </a:gridCol>
              </a:tblGrid>
              <a:tr h="33398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l" rtl="0" fontAlgn="ctr"/>
                      <a:r>
                        <a:rPr lang="en-US" sz="900" b="0" i="0" u="none" strike="noStrike">
                          <a:solidFill>
                            <a:srgbClr val="0000FF"/>
                          </a:solidFill>
                          <a:effectLst/>
                          <a:latin typeface="DeutschePost-MedCn" panose="020B0500000000000000"/>
                        </a:rPr>
                        <a:t>Cash Forecasting / Payments Summary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l" rtl="0" fontAlgn="ctr"/>
                      <a:r>
                        <a:rPr lang="en-US" sz="900" b="0" i="0" u="none" strike="noStrike">
                          <a:solidFill>
                            <a:srgbClr val="0000FF"/>
                          </a:solidFill>
                          <a:effectLst/>
                          <a:latin typeface="DeutschePost-MedCn" panose="020B0500000000000000"/>
                        </a:rPr>
                        <a:t>EUR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2887930"/>
                  </a:ext>
                </a:extLst>
              </a:tr>
              <a:tr h="38436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l" rtl="0" fontAlgn="ctr"/>
                      <a:r>
                        <a:rPr lang="en-US" sz="900" b="0" i="0" u="none" strike="noStrike">
                          <a:solidFill>
                            <a:srgbClr val="FFFFFF"/>
                          </a:solidFill>
                          <a:effectLst/>
                          <a:latin typeface="DeutschePost-MedCn" panose="020B0500000000000000"/>
                        </a:rPr>
                        <a:t>Payments In House Pending Application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r" rtl="0" fontAlgn="b"/>
                      <a:r>
                        <a:rPr lang="en-US" sz="900" b="0" i="0" u="none" strike="noStrike" kern="1200">
                          <a:solidFill>
                            <a:srgbClr val="0000FF"/>
                          </a:solidFill>
                          <a:effectLst/>
                          <a:latin typeface="DeutschePost-MedCn" panose="020B0500000000000000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200" b="0" i="0" u="none" strike="noStrike" kern="1200">
                          <a:solidFill>
                            <a:srgbClr val="0000FF"/>
                          </a:solidFill>
                          <a:effectLst/>
                          <a:latin typeface="DeutschePost-MedCn" panose="020B0500000000000000"/>
                          <a:ea typeface="+mn-ea"/>
                          <a:cs typeface="+mn-cs"/>
                        </a:rPr>
                        <a:t>€59k</a:t>
                      </a:r>
                      <a:r>
                        <a:rPr lang="en-US" sz="900" b="0" i="0" u="none" strike="noStrike" kern="1200">
                          <a:solidFill>
                            <a:srgbClr val="0000FF"/>
                          </a:solidFill>
                          <a:effectLst/>
                          <a:latin typeface="DeutschePost-MedCn" panose="020B0500000000000000"/>
                          <a:ea typeface="+mn-ea"/>
                          <a:cs typeface="+mn-cs"/>
                        </a:rPr>
                        <a:t>  </a:t>
                      </a:r>
                      <a:endParaRPr lang="en-US" sz="900" b="0" i="0" u="none" strike="noStrike" kern="1200" dirty="0">
                        <a:solidFill>
                          <a:srgbClr val="0000FF"/>
                        </a:solidFill>
                        <a:effectLst/>
                        <a:latin typeface="DeutschePost-MedCn" panose="020B0500000000000000"/>
                        <a:ea typeface="+mn-ea"/>
                        <a:cs typeface="+mn-cs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2425116"/>
                  </a:ext>
                </a:extLst>
              </a:tr>
              <a:tr h="21607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l" rtl="0" fontAlgn="ctr"/>
                      <a:r>
                        <a:rPr lang="en-US" sz="900" b="0" i="0" u="none" strike="noStrike">
                          <a:solidFill>
                            <a:srgbClr val="FFFFFF"/>
                          </a:solidFill>
                          <a:effectLst/>
                          <a:latin typeface="DeutschePost-MedCn" panose="020B0500000000000000"/>
                        </a:rPr>
                        <a:t>Expected payments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r" rtl="0" fontAlgn="b"/>
                      <a:r>
                        <a:rPr lang="en-US" sz="1200" b="0" i="0" u="none" strike="noStrike" kern="1200">
                          <a:solidFill>
                            <a:srgbClr val="0000FF"/>
                          </a:solidFill>
                          <a:effectLst/>
                          <a:latin typeface="DeutschePost-MedCn" panose="020B0500000000000000"/>
                          <a:ea typeface="+mn-ea"/>
                          <a:cs typeface="+mn-cs"/>
                        </a:rPr>
                        <a:t>€ 0</a:t>
                      </a:r>
                      <a:r>
                        <a:rPr lang="en-US" sz="900" b="0" i="0" u="none" strike="noStrike" kern="1200">
                          <a:solidFill>
                            <a:srgbClr val="0000FF"/>
                          </a:solidFill>
                          <a:effectLst/>
                          <a:latin typeface="DeutschePost-MedCn" panose="020B0500000000000000"/>
                          <a:ea typeface="+mn-ea"/>
                          <a:cs typeface="+mn-cs"/>
                        </a:rPr>
                        <a:t>   </a:t>
                      </a:r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DeutschePost-MedCn" panose="020B050000000000000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7096826"/>
                  </a:ext>
                </a:extLst>
              </a:tr>
              <a:tr h="31797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l" rtl="0" fontAlgn="ctr"/>
                      <a:r>
                        <a:rPr lang="en-US" sz="900" b="0" i="0" u="none" strike="noStrike">
                          <a:solidFill>
                            <a:srgbClr val="FFFFFF"/>
                          </a:solidFill>
                          <a:effectLst/>
                          <a:latin typeface="DeutschePost-MedCn" panose="020B0500000000000000"/>
                        </a:rPr>
                        <a:t>Forecasted Overdue EOM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r" rtl="0" fontAlgn="b"/>
                      <a:r>
                        <a:rPr lang="en-US" sz="900" b="0" i="0" u="none" strike="noStrike">
                          <a:solidFill>
                            <a:srgbClr val="0000FF"/>
                          </a:solidFill>
                          <a:effectLst/>
                          <a:latin typeface="DeutschePost-MedCn" panose="020B0500000000000000"/>
                        </a:rPr>
                        <a:t>            </a:t>
                      </a:r>
                      <a:r>
                        <a:rPr lang="en-US" sz="1200" b="0" i="0" u="none" strike="noStrike" kern="1200">
                          <a:solidFill>
                            <a:srgbClr val="0000FF"/>
                          </a:solidFill>
                          <a:effectLst/>
                          <a:latin typeface="DeutschePost-MedCn" panose="020B0500000000000000"/>
                          <a:ea typeface="+mn-ea"/>
                          <a:cs typeface="+mn-cs"/>
                        </a:rPr>
                        <a:t>€ 104k</a:t>
                      </a:r>
                      <a:r>
                        <a:rPr lang="en-US" sz="900" b="0" i="0" u="none" strike="noStrike" kern="1200">
                          <a:solidFill>
                            <a:srgbClr val="0000FF"/>
                          </a:solidFill>
                          <a:effectLst/>
                          <a:latin typeface="DeutschePost-MedCn" panose="020B0500000000000000"/>
                          <a:ea typeface="+mn-ea"/>
                          <a:cs typeface="+mn-cs"/>
                        </a:rPr>
                        <a:t>   </a:t>
                      </a:r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DeutschePost-MedCn" panose="020B050000000000000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882916"/>
                  </a:ext>
                </a:extLst>
              </a:tr>
              <a:tr h="21607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l" rtl="0" fontAlgn="ctr"/>
                      <a:r>
                        <a:rPr lang="en-US" sz="900" b="0" i="0" u="none" strike="noStrike">
                          <a:solidFill>
                            <a:srgbClr val="FFFFFF"/>
                          </a:solidFill>
                          <a:effectLst/>
                          <a:latin typeface="DeutschePost-MedCn" panose="020B0500000000000000"/>
                        </a:rPr>
                        <a:t>Forecasted &gt;60 EOM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r" rtl="0" fontAlgn="b"/>
                      <a:r>
                        <a:rPr lang="en-US" sz="900" b="0" i="0" u="none" strike="noStrike">
                          <a:solidFill>
                            <a:srgbClr val="0000FF"/>
                          </a:solidFill>
                          <a:effectLst/>
                          <a:latin typeface="DeutschePost-MedCn" panose="020B0500000000000000"/>
                        </a:rPr>
                        <a:t>       </a:t>
                      </a:r>
                      <a:r>
                        <a:rPr lang="en-US" sz="1200" b="0" i="0" u="none" strike="noStrike" kern="1200">
                          <a:solidFill>
                            <a:srgbClr val="0000FF"/>
                          </a:solidFill>
                          <a:effectLst/>
                          <a:latin typeface="DeutschePost-MedCn" panose="020B0500000000000000"/>
                          <a:ea typeface="+mn-ea"/>
                          <a:cs typeface="+mn-cs"/>
                        </a:rPr>
                        <a:t>€ 537k</a:t>
                      </a:r>
                      <a:r>
                        <a:rPr lang="en-US" sz="900" b="0" i="0" u="none" strike="noStrike" kern="1200">
                          <a:solidFill>
                            <a:srgbClr val="0000FF"/>
                          </a:solidFill>
                          <a:effectLst/>
                          <a:latin typeface="DeutschePost-MedCn" panose="020B0500000000000000"/>
                          <a:ea typeface="+mn-ea"/>
                          <a:cs typeface="+mn-cs"/>
                        </a:rPr>
                        <a:t> </a:t>
                      </a:r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DeutschePost-MedCn" panose="020B050000000000000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2658117"/>
                  </a:ext>
                </a:extLst>
              </a:tr>
              <a:tr h="21607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l" rtl="0" fontAlgn="ctr"/>
                      <a:r>
                        <a:rPr lang="en-US" sz="900" b="0" i="0" u="none" strike="noStrike">
                          <a:solidFill>
                            <a:srgbClr val="FFFFFF"/>
                          </a:solidFill>
                          <a:effectLst/>
                          <a:latin typeface="DeutschePost-MedCn" panose="020B0500000000000000"/>
                        </a:rPr>
                        <a:t>Forecasted &gt;90 EOM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r" rtl="0" fontAlgn="b"/>
                      <a:r>
                        <a:rPr lang="en-US" sz="1200" b="0" i="0" u="none" strike="noStrike" kern="1200">
                          <a:solidFill>
                            <a:srgbClr val="0000FF"/>
                          </a:solidFill>
                          <a:effectLst/>
                          <a:latin typeface="DeutschePost-MedCn" panose="020B0500000000000000"/>
                          <a:ea typeface="+mn-ea"/>
                          <a:cs typeface="+mn-cs"/>
                        </a:rPr>
                        <a:t>€ 95k</a:t>
                      </a:r>
                      <a:r>
                        <a:rPr lang="en-US" sz="900" b="0" i="0" u="none" strike="noStrike" kern="1200">
                          <a:solidFill>
                            <a:srgbClr val="0000FF"/>
                          </a:solidFill>
                          <a:effectLst/>
                          <a:latin typeface="DeutschePost-MedCn" panose="020B0500000000000000"/>
                          <a:ea typeface="+mn-ea"/>
                          <a:cs typeface="+mn-cs"/>
                        </a:rPr>
                        <a:t>  </a:t>
                      </a:r>
                      <a:endParaRPr lang="en-US" sz="900" b="0" i="0" u="none" strike="noStrike" kern="1200" dirty="0">
                        <a:solidFill>
                          <a:srgbClr val="0000FF"/>
                        </a:solidFill>
                        <a:effectLst/>
                        <a:latin typeface="DeutschePost-MedCn" panose="020B0500000000000000"/>
                        <a:ea typeface="+mn-ea"/>
                        <a:cs typeface="+mn-cs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6777289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4D552503-0E3E-F222-D7AE-3C4E322F61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4992885"/>
              </p:ext>
            </p:extLst>
          </p:nvPr>
        </p:nvGraphicFramePr>
        <p:xfrm>
          <a:off x="1586012" y="4974888"/>
          <a:ext cx="8949212" cy="1444739"/>
        </p:xfrm>
        <a:graphic>
          <a:graphicData uri="http://schemas.openxmlformats.org/drawingml/2006/table">
            <a:tbl>
              <a:tblPr/>
              <a:tblGrid>
                <a:gridCol w="1960132">
                  <a:extLst>
                    <a:ext uri="{9D8B030D-6E8A-4147-A177-3AD203B41FA5}">
                      <a16:colId xmlns:a16="http://schemas.microsoft.com/office/drawing/2014/main" val="3765909866"/>
                    </a:ext>
                  </a:extLst>
                </a:gridCol>
                <a:gridCol w="1156786">
                  <a:extLst>
                    <a:ext uri="{9D8B030D-6E8A-4147-A177-3AD203B41FA5}">
                      <a16:colId xmlns:a16="http://schemas.microsoft.com/office/drawing/2014/main" val="1692704909"/>
                    </a:ext>
                  </a:extLst>
                </a:gridCol>
                <a:gridCol w="1033672">
                  <a:extLst>
                    <a:ext uri="{9D8B030D-6E8A-4147-A177-3AD203B41FA5}">
                      <a16:colId xmlns:a16="http://schemas.microsoft.com/office/drawing/2014/main" val="439555050"/>
                    </a:ext>
                  </a:extLst>
                </a:gridCol>
                <a:gridCol w="1033672">
                  <a:extLst>
                    <a:ext uri="{9D8B030D-6E8A-4147-A177-3AD203B41FA5}">
                      <a16:colId xmlns:a16="http://schemas.microsoft.com/office/drawing/2014/main" val="213458721"/>
                    </a:ext>
                  </a:extLst>
                </a:gridCol>
                <a:gridCol w="1033672">
                  <a:extLst>
                    <a:ext uri="{9D8B030D-6E8A-4147-A177-3AD203B41FA5}">
                      <a16:colId xmlns:a16="http://schemas.microsoft.com/office/drawing/2014/main" val="752231088"/>
                    </a:ext>
                  </a:extLst>
                </a:gridCol>
                <a:gridCol w="942231">
                  <a:extLst>
                    <a:ext uri="{9D8B030D-6E8A-4147-A177-3AD203B41FA5}">
                      <a16:colId xmlns:a16="http://schemas.microsoft.com/office/drawing/2014/main" val="1071006104"/>
                    </a:ext>
                  </a:extLst>
                </a:gridCol>
                <a:gridCol w="942231">
                  <a:extLst>
                    <a:ext uri="{9D8B030D-6E8A-4147-A177-3AD203B41FA5}">
                      <a16:colId xmlns:a16="http://schemas.microsoft.com/office/drawing/2014/main" val="736889880"/>
                    </a:ext>
                  </a:extLst>
                </a:gridCol>
                <a:gridCol w="846816">
                  <a:extLst>
                    <a:ext uri="{9D8B030D-6E8A-4147-A177-3AD203B41FA5}">
                      <a16:colId xmlns:a16="http://schemas.microsoft.com/office/drawing/2014/main" val="2839977180"/>
                    </a:ext>
                  </a:extLst>
                </a:gridCol>
              </a:tblGrid>
              <a:tr h="315122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D40511"/>
                          </a:solidFill>
                          <a:effectLst/>
                          <a:latin typeface="DeutschePost-MedCn" panose="020B0500000000000000"/>
                        </a:rPr>
                        <a:t>FINANCIALS   PERFORMANCE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FFFFFF"/>
                          </a:solidFill>
                          <a:effectLst/>
                          <a:latin typeface="DeutschePost-MedCn" panose="020B0500000000000000"/>
                        </a:rPr>
                        <a:t>TOTAL AR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FFFFFF"/>
                          </a:solidFill>
                          <a:effectLst/>
                          <a:latin typeface="DeutschePost-MedCn" panose="020B0500000000000000"/>
                        </a:rPr>
                        <a:t>CURRENT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FFFFFF"/>
                          </a:solidFill>
                          <a:effectLst/>
                          <a:latin typeface="DeutschePost-MedCn" panose="020B0500000000000000"/>
                        </a:rPr>
                        <a:t>OVERDUE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FFFFFF"/>
                          </a:solidFill>
                          <a:effectLst/>
                          <a:latin typeface="DeutschePost-MedCn" panose="020B0500000000000000"/>
                        </a:rPr>
                        <a:t>0-30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FFFFFF"/>
                          </a:solidFill>
                          <a:effectLst/>
                          <a:latin typeface="DeutschePost-MedCn" panose="020B0500000000000000"/>
                        </a:rPr>
                        <a:t>31-60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FFFFFF"/>
                          </a:solidFill>
                          <a:effectLst/>
                          <a:latin typeface="DeutschePost-MedCn" panose="020B0500000000000000"/>
                        </a:rPr>
                        <a:t>61-90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FFFFFF"/>
                          </a:solidFill>
                          <a:effectLst/>
                          <a:latin typeface="DeutschePost-MedCn" panose="020B0500000000000000"/>
                        </a:rPr>
                        <a:t>&gt;90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9081604"/>
                  </a:ext>
                </a:extLst>
              </a:tr>
              <a:tr h="376539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FFFFFF"/>
                          </a:solidFill>
                          <a:effectLst/>
                          <a:latin typeface="DeutschePost-MedCn" panose="020B0500000000000000"/>
                        </a:rPr>
                        <a:t>Duty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€ 14,464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€ 230.45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€ 14,243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€ 271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€ 8,525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€ 5,564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€ 103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6933089"/>
                  </a:ext>
                </a:extLst>
              </a:tr>
              <a:tr h="376539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FFFFFF"/>
                          </a:solidFill>
                          <a:effectLst/>
                          <a:latin typeface="DeutschePost-MedCn" panose="020B0500000000000000"/>
                        </a:rPr>
                        <a:t>Freight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€ 1,803,992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€ 1,756,370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€ 47,621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€ 436,409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€ 1,078,128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€ 241,832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€ 47,621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6225964"/>
                  </a:ext>
                </a:extLst>
              </a:tr>
              <a:tr h="376539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FFFFFF"/>
                          </a:solidFill>
                          <a:effectLst/>
                          <a:latin typeface="DeutschePost-MedCn" panose="020B0500000000000000"/>
                        </a:rPr>
                        <a:t>Summary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€ 1,818,456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€ 1,756,600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€ 61,855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€ 436,680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€ 1,086,654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€ 247,397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€ 47,724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89616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97095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>
          <a:xfrm>
            <a:off x="1519584" y="104907"/>
            <a:ext cx="9444828" cy="814388"/>
          </a:xfrm>
        </p:spPr>
        <p:txBody>
          <a:bodyPr/>
          <a:lstStyle/>
          <a:p>
            <a:r>
              <a:rPr lang="en-US" sz="3000"/>
              <a:t>Dell Technologies</a:t>
            </a:r>
          </a:p>
        </p:txBody>
      </p:sp>
      <p:sp>
        <p:nvSpPr>
          <p:cNvPr id="7" name="Rectangle 6"/>
          <p:cNvSpPr/>
          <p:nvPr/>
        </p:nvSpPr>
        <p:spPr>
          <a:xfrm>
            <a:off x="7359082" y="2364859"/>
            <a:ext cx="2487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>
                <a:latin typeface="Arial" charset="0"/>
              </a:rPr>
              <a:t> </a:t>
            </a:r>
            <a:endParaRPr lang="en-US"/>
          </a:p>
        </p:txBody>
      </p:sp>
      <p:sp>
        <p:nvSpPr>
          <p:cNvPr id="13" name="Rounded Rectangle 12"/>
          <p:cNvSpPr/>
          <p:nvPr/>
        </p:nvSpPr>
        <p:spPr bwMode="auto">
          <a:xfrm>
            <a:off x="60269" y="1040867"/>
            <a:ext cx="1791828" cy="625914"/>
          </a:xfrm>
          <a:prstGeom prst="roundRect">
            <a:avLst>
              <a:gd name="adj" fmla="val 13825"/>
            </a:avLst>
          </a:prstGeom>
          <a:solidFill>
            <a:schemeClr val="tx2">
              <a:lumMod val="40000"/>
              <a:lumOff val="60000"/>
            </a:schemeClr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144000" tIns="144000" rIns="144000" bIns="144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953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400">
                <a:latin typeface="Arial" charset="0"/>
              </a:rPr>
              <a:t>AMKAD POC:</a:t>
            </a:r>
            <a:endParaRPr lang="es-MX" sz="1400" i="1">
              <a:solidFill>
                <a:srgbClr val="0070C0"/>
              </a:solidFill>
              <a:latin typeface="Arial" charset="0"/>
            </a:endParaRPr>
          </a:p>
          <a:p>
            <a:pPr marL="0" marR="0" indent="0" algn="l" defTabSz="9953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MX" sz="1400" i="1">
                <a:solidFill>
                  <a:srgbClr val="0070C0"/>
                </a:solidFill>
                <a:latin typeface="Arial" charset="0"/>
              </a:rPr>
              <a:t>Taralynn Haag</a:t>
            </a:r>
            <a:endParaRPr lang="en-US" sz="1400">
              <a:latin typeface="Arial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257BCB9-01D3-74FA-C5D8-B90C1EEBEF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4770" y="1007834"/>
            <a:ext cx="9607360" cy="256554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87BA591-4FF4-8AC3-6311-CE5D8E66A5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4770" y="3573373"/>
            <a:ext cx="9607360" cy="2548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97464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BE1077-3E64-666B-BC65-8C73B8E565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527FD6DC-6AD9-E39D-4F32-BAB1A9376D94}"/>
              </a:ext>
            </a:extLst>
          </p:cNvPr>
          <p:cNvSpPr/>
          <p:nvPr/>
        </p:nvSpPr>
        <p:spPr bwMode="auto">
          <a:xfrm>
            <a:off x="7680733" y="1144338"/>
            <a:ext cx="2845820" cy="3848874"/>
          </a:xfrm>
          <a:prstGeom prst="rect">
            <a:avLst/>
          </a:prstGeom>
          <a:solidFill>
            <a:schemeClr val="accent6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44000" tIns="144000" rIns="144000" bIns="144000" numCol="1" rtlCol="0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algn="l" defTabSz="9953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DeutschePost-MedCn" panose="020B0500000000000000" pitchFamily="34" charset="0"/>
              <a:ea typeface="+mn-ea"/>
              <a:cs typeface="+mn-cs"/>
            </a:endParaRPr>
          </a:p>
          <a:p>
            <a:pPr marL="0" marR="0" lvl="0" indent="0" algn="l" defTabSz="9953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DeutschePost-MedCn" panose="020B0500000000000000" pitchFamily="34" charset="0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E60BD91-8C2B-A411-E1B1-23CEDC325C3C}"/>
              </a:ext>
            </a:extLst>
          </p:cNvPr>
          <p:cNvSpPr txBox="1"/>
          <p:nvPr/>
        </p:nvSpPr>
        <p:spPr>
          <a:xfrm>
            <a:off x="1717703" y="352342"/>
            <a:ext cx="87565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srgbClr val="D40511"/>
                </a:solidFill>
                <a:effectLst/>
                <a:uLnTx/>
                <a:uFillTx/>
                <a:latin typeface="DeutschePost-MedCn" panose="020B0500000000000000" pitchFamily="34" charset="0"/>
                <a:ea typeface="MS PGothic" pitchFamily="34" charset="-128"/>
                <a:cs typeface="+mn-cs"/>
              </a:rPr>
              <a:t>DELL MX – </a:t>
            </a: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D40511"/>
                </a:solidFill>
                <a:effectLst/>
                <a:uLnTx/>
                <a:uFillTx/>
                <a:latin typeface="DeutschePost-MedCn" panose="020B0500000000000000" pitchFamily="34" charset="0"/>
                <a:ea typeface="MS PGothic" pitchFamily="34" charset="-128"/>
                <a:cs typeface="+mn-cs"/>
              </a:rPr>
              <a:t>ACCOUNT BUSINESS REVIEW 		</a:t>
            </a: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D40511"/>
                </a:solidFill>
                <a:effectLst/>
                <a:uLnTx/>
                <a:uFillTx/>
                <a:latin typeface="DeutschePost-MedCn" panose="020B0500000000000000" pitchFamily="34" charset="0"/>
                <a:ea typeface="MS PGothic" pitchFamily="34" charset="-128"/>
                <a:cs typeface="+mn-cs"/>
              </a:rPr>
              <a:t> Date: </a:t>
            </a:r>
            <a:r>
              <a:rPr lang="en-US" sz="1050" b="1">
                <a:solidFill>
                  <a:srgbClr val="D40511"/>
                </a:solidFill>
                <a:latin typeface="DeutschePost-MedCn" panose="020B0500000000000000" pitchFamily="34" charset="0"/>
                <a:ea typeface="MS PGothic" pitchFamily="34" charset="-128"/>
              </a:rPr>
              <a:t>June 17</a:t>
            </a:r>
            <a:r>
              <a:rPr lang="en-US" sz="1050" b="1" baseline="30000">
                <a:solidFill>
                  <a:srgbClr val="D40511"/>
                </a:solidFill>
                <a:latin typeface="DeutschePost-MedCn" panose="020B0500000000000000" pitchFamily="34" charset="0"/>
                <a:ea typeface="MS PGothic" pitchFamily="34" charset="-128"/>
              </a:rPr>
              <a:t>th</a:t>
            </a:r>
            <a:r>
              <a:rPr lang="en-US" sz="1050" b="1">
                <a:solidFill>
                  <a:srgbClr val="D40511"/>
                </a:solidFill>
                <a:latin typeface="DeutschePost-MedCn" panose="020B0500000000000000" pitchFamily="34" charset="0"/>
                <a:ea typeface="MS PGothic" pitchFamily="34" charset="-128"/>
              </a:rPr>
              <a:t>,</a:t>
            </a: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D40511"/>
                </a:solidFill>
                <a:effectLst/>
                <a:uLnTx/>
                <a:uFillTx/>
                <a:latin typeface="DeutschePost-MedCn" panose="020B0500000000000000" pitchFamily="34" charset="0"/>
                <a:ea typeface="MS PGothic" pitchFamily="34" charset="-128"/>
                <a:cs typeface="+mn-cs"/>
              </a:rPr>
              <a:t> 2026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33AC5CF-1CEC-6852-CFFF-82C1DC887260}"/>
              </a:ext>
            </a:extLst>
          </p:cNvPr>
          <p:cNvSpPr/>
          <p:nvPr/>
        </p:nvSpPr>
        <p:spPr bwMode="auto">
          <a:xfrm>
            <a:off x="1577341" y="1137172"/>
            <a:ext cx="3141308" cy="3828875"/>
          </a:xfrm>
          <a:prstGeom prst="rect">
            <a:avLst/>
          </a:prstGeom>
          <a:solidFill>
            <a:schemeClr val="accent6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44000" tIns="144000" rIns="144000" bIns="144000" numCol="1" rtlCol="0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algn="l" defTabSz="9953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DeutschePost-MedCn" panose="020B0500000000000000" pitchFamily="34" charset="0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8061DC0-2FA7-6BB9-3139-D404F3B1FA8E}"/>
              </a:ext>
            </a:extLst>
          </p:cNvPr>
          <p:cNvSpPr/>
          <p:nvPr/>
        </p:nvSpPr>
        <p:spPr bwMode="auto">
          <a:xfrm>
            <a:off x="4725185" y="1149087"/>
            <a:ext cx="2966157" cy="3808120"/>
          </a:xfrm>
          <a:prstGeom prst="rect">
            <a:avLst/>
          </a:prstGeom>
          <a:solidFill>
            <a:schemeClr val="accent6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44000" tIns="144000" rIns="144000" bIns="144000" numCol="1" rtlCol="0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algn="l" defTabSz="9953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DeutschePost-MedCn" panose="020B0500000000000000" pitchFamily="34" charset="0"/>
              <a:ea typeface="+mn-ea"/>
              <a:cs typeface="+mn-cs"/>
            </a:endParaRPr>
          </a:p>
          <a:p>
            <a:pPr marL="0" marR="0" lvl="0" indent="0" algn="l" defTabSz="9953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DeutschePost-MedCn" panose="020B0500000000000000" pitchFamily="34" charset="0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46B7C4A-51C9-B887-BBE4-48606AC25039}"/>
              </a:ext>
            </a:extLst>
          </p:cNvPr>
          <p:cNvSpPr/>
          <p:nvPr/>
        </p:nvSpPr>
        <p:spPr bwMode="auto">
          <a:xfrm>
            <a:off x="1577341" y="4966048"/>
            <a:ext cx="8949212" cy="1444738"/>
          </a:xfrm>
          <a:prstGeom prst="rect">
            <a:avLst/>
          </a:prstGeom>
          <a:solidFill>
            <a:schemeClr val="accent6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144000" tIns="144000" rIns="144000" bIns="1440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953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DeutschePost-MedCn" panose="020B0500000000000000" pitchFamily="34" charset="0"/>
              <a:ea typeface="+mn-ea"/>
              <a:cs typeface="+mn-c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A8EEB0C-3D28-B723-F450-CBF94409ED4A}"/>
              </a:ext>
            </a:extLst>
          </p:cNvPr>
          <p:cNvSpPr/>
          <p:nvPr/>
        </p:nvSpPr>
        <p:spPr bwMode="auto">
          <a:xfrm>
            <a:off x="1570625" y="900649"/>
            <a:ext cx="3145157" cy="250854"/>
          </a:xfrm>
          <a:prstGeom prst="rect">
            <a:avLst/>
          </a:prstGeom>
          <a:solidFill>
            <a:schemeClr val="accent3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144000" tIns="144000" rIns="144000" bIns="14400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953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D40511"/>
                </a:solidFill>
                <a:effectLst/>
                <a:uLnTx/>
                <a:uFillTx/>
                <a:latin typeface="DeutschePost-MedCn" panose="020B0500000000000000" pitchFamily="34" charset="0"/>
                <a:ea typeface="+mn-ea"/>
                <a:cs typeface="+mn-cs"/>
              </a:rPr>
              <a:t>MAIN ISSUES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C90E259-DFB9-0473-9322-97ACB7509429}"/>
              </a:ext>
            </a:extLst>
          </p:cNvPr>
          <p:cNvSpPr/>
          <p:nvPr/>
        </p:nvSpPr>
        <p:spPr bwMode="auto">
          <a:xfrm>
            <a:off x="4739736" y="891317"/>
            <a:ext cx="2961468" cy="250854"/>
          </a:xfrm>
          <a:prstGeom prst="rect">
            <a:avLst/>
          </a:prstGeom>
          <a:solidFill>
            <a:schemeClr val="accent3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144000" tIns="144000" rIns="144000" bIns="14400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953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D40511"/>
                </a:solidFill>
                <a:effectLst/>
                <a:uLnTx/>
                <a:uFillTx/>
                <a:latin typeface="DeutschePost-MedCn" panose="020B0500000000000000" pitchFamily="34" charset="0"/>
                <a:ea typeface="+mn-ea"/>
                <a:cs typeface="+mn-cs"/>
              </a:rPr>
              <a:t>CURRENT ACTIONS / SUPPORT NEEDED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92DDFA2-BB8F-183A-1196-455D94AB1398}"/>
              </a:ext>
            </a:extLst>
          </p:cNvPr>
          <p:cNvSpPr/>
          <p:nvPr/>
        </p:nvSpPr>
        <p:spPr bwMode="auto">
          <a:xfrm>
            <a:off x="7695763" y="896694"/>
            <a:ext cx="2830790" cy="250854"/>
          </a:xfrm>
          <a:prstGeom prst="rect">
            <a:avLst/>
          </a:prstGeom>
          <a:solidFill>
            <a:schemeClr val="accent3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144000" tIns="144000" rIns="144000" bIns="14400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953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D40511"/>
                </a:solidFill>
                <a:effectLst/>
                <a:uLnTx/>
                <a:uFillTx/>
                <a:latin typeface="DeutschePost-MedCn" panose="020B0500000000000000" pitchFamily="34" charset="0"/>
                <a:ea typeface="+mn-ea"/>
                <a:cs typeface="+mn-cs"/>
              </a:rPr>
              <a:t>PAYMENTS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F2DA67A-3D33-5B6B-8217-51CFE6AC2B78}"/>
              </a:ext>
            </a:extLst>
          </p:cNvPr>
          <p:cNvSpPr txBox="1"/>
          <p:nvPr/>
        </p:nvSpPr>
        <p:spPr>
          <a:xfrm>
            <a:off x="1780684" y="1763094"/>
            <a:ext cx="2840671" cy="133882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lvl="1" defTabSz="995363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00">
                <a:solidFill>
                  <a:srgbClr val="000000"/>
                </a:solidFill>
                <a:latin typeface="Arial"/>
              </a:rPr>
              <a:t>Corporate</a:t>
            </a:r>
          </a:p>
          <a:p>
            <a:pPr marL="228600" indent="-228600" defTabSz="995363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en-US" sz="900">
                <a:solidFill>
                  <a:srgbClr val="000000"/>
                </a:solidFill>
                <a:latin typeface="DeutschePost-MedCn" panose="020B0500000000000000" pitchFamily="34" charset="0"/>
              </a:rPr>
              <a:t>TTAR: 308k</a:t>
            </a:r>
          </a:p>
          <a:p>
            <a:pPr marL="228600" indent="-228600" defTabSz="995363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en-US" sz="900">
                <a:solidFill>
                  <a:srgbClr val="000000"/>
                </a:solidFill>
                <a:latin typeface="DeutschePost-MedCn" panose="020B0500000000000000" pitchFamily="34" charset="0"/>
              </a:rPr>
              <a:t>PD: 158k</a:t>
            </a:r>
          </a:p>
          <a:p>
            <a:pPr marL="228600" indent="-228600" defTabSz="995363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en-US" sz="900">
                <a:solidFill>
                  <a:srgbClr val="000000"/>
                </a:solidFill>
                <a:latin typeface="DeutschePost-MedCn" panose="020B0500000000000000" pitchFamily="34" charset="0"/>
              </a:rPr>
              <a:t>EOM &gt;90: 158k</a:t>
            </a:r>
          </a:p>
          <a:p>
            <a:pPr defTabSz="995363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900">
              <a:solidFill>
                <a:srgbClr val="000000"/>
              </a:solidFill>
              <a:latin typeface="DeutschePost-MedCn" panose="020B0500000000000000" pitchFamily="34" charset="0"/>
            </a:endParaRPr>
          </a:p>
          <a:p>
            <a:pPr marL="228600" indent="-228600" defTabSz="995363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endParaRPr lang="en-US" sz="900">
              <a:solidFill>
                <a:srgbClr val="000000"/>
              </a:solidFill>
              <a:latin typeface="DeutschePost-MedCn" panose="020B0500000000000000" pitchFamily="34" charset="0"/>
            </a:endParaRPr>
          </a:p>
          <a:p>
            <a:pPr marL="228600" indent="-228600" defTabSz="995363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en-US" sz="900">
                <a:solidFill>
                  <a:srgbClr val="000000"/>
                </a:solidFill>
                <a:latin typeface="DeutschePost-MedCn" panose="020B0500000000000000" pitchFamily="34" charset="0"/>
              </a:rPr>
              <a:t>Main Issue:</a:t>
            </a:r>
          </a:p>
          <a:p>
            <a:pPr marL="685800" lvl="1" indent="-228600" defTabSz="995363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en-US" sz="900">
                <a:solidFill>
                  <a:srgbClr val="000000"/>
                </a:solidFill>
                <a:latin typeface="DeutschePost-MedCn" panose="020B0500000000000000" pitchFamily="34" charset="0"/>
              </a:rPr>
              <a:t>Invoices in Audit/Switch to New Payment Portal Delaying Payment</a:t>
            </a:r>
            <a:endParaRPr lang="en-US" sz="900">
              <a:solidFill>
                <a:srgbClr val="000000"/>
              </a:solidFill>
              <a:latin typeface="DeutschePost-MedCn" panose="020B050000000000000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807DF2A-C526-A8A2-7559-6CC77F8750DC}"/>
              </a:ext>
            </a:extLst>
          </p:cNvPr>
          <p:cNvSpPr txBox="1"/>
          <p:nvPr/>
        </p:nvSpPr>
        <p:spPr>
          <a:xfrm>
            <a:off x="4775326" y="1717424"/>
            <a:ext cx="2848396" cy="90024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de-DE"/>
            </a:defPPr>
            <a:lvl1pPr defTabSz="995363" eaLnBrk="0" fontAlgn="base" hangingPunct="0">
              <a:spcBef>
                <a:spcPct val="0"/>
              </a:spcBef>
              <a:spcAft>
                <a:spcPct val="0"/>
              </a:spcAft>
              <a:defRPr sz="900">
                <a:latin typeface="DeutschePost-MedCn" panose="020B0500000000000000" pitchFamily="34" charset="0"/>
              </a:defRPr>
            </a:lvl1pPr>
          </a:lstStyle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en-US" sz="1050" kern="0">
                <a:solidFill>
                  <a:srgbClr val="000000"/>
                </a:solidFill>
                <a:latin typeface="DeutschePost-MedCn"/>
              </a:rPr>
              <a:t>AMKAD Action: Commercial team and AMKAD already provided information to customer’s freight payer to release invoices from audit. Customer was informed to submit payment by June 26</a:t>
            </a:r>
            <a:r>
              <a:rPr lang="en-US" sz="1050" kern="0" baseline="30000">
                <a:solidFill>
                  <a:srgbClr val="000000"/>
                </a:solidFill>
                <a:latin typeface="DeutschePost-MedCn"/>
              </a:rPr>
              <a:t>th</a:t>
            </a:r>
            <a:r>
              <a:rPr lang="en-US" sz="1050" kern="0">
                <a:solidFill>
                  <a:srgbClr val="000000"/>
                </a:solidFill>
                <a:latin typeface="DeutschePost-MedCn"/>
              </a:rPr>
              <a:t> to avoid escalation.</a:t>
            </a:r>
            <a:endParaRPr kumimoji="0" lang="en-US" sz="105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DeutschePost-MedCn" panose="020B0500000000000000" pitchFamily="34" charset="0"/>
            </a:endParaRP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C3F26579-58B4-7055-4345-AFD7280769F3}"/>
              </a:ext>
            </a:extLst>
          </p:cNvPr>
          <p:cNvGraphicFramePr>
            <a:graphicFrameLocks noGrp="1"/>
          </p:cNvGraphicFramePr>
          <p:nvPr/>
        </p:nvGraphicFramePr>
        <p:xfrm>
          <a:off x="7741483" y="1706606"/>
          <a:ext cx="2732814" cy="1684560"/>
        </p:xfrm>
        <a:graphic>
          <a:graphicData uri="http://schemas.openxmlformats.org/drawingml/2006/table">
            <a:tbl>
              <a:tblPr/>
              <a:tblGrid>
                <a:gridCol w="2029766">
                  <a:extLst>
                    <a:ext uri="{9D8B030D-6E8A-4147-A177-3AD203B41FA5}">
                      <a16:colId xmlns:a16="http://schemas.microsoft.com/office/drawing/2014/main" val="1846450647"/>
                    </a:ext>
                  </a:extLst>
                </a:gridCol>
                <a:gridCol w="703048">
                  <a:extLst>
                    <a:ext uri="{9D8B030D-6E8A-4147-A177-3AD203B41FA5}">
                      <a16:colId xmlns:a16="http://schemas.microsoft.com/office/drawing/2014/main" val="2387316505"/>
                    </a:ext>
                  </a:extLst>
                </a:gridCol>
              </a:tblGrid>
              <a:tr h="33398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l" rtl="0" fontAlgn="ctr"/>
                      <a:r>
                        <a:rPr lang="en-US" sz="900" b="0" i="0" u="none" strike="noStrike">
                          <a:solidFill>
                            <a:srgbClr val="0000FF"/>
                          </a:solidFill>
                          <a:effectLst/>
                          <a:latin typeface="DeutschePost-MedCn" panose="020B0500000000000000"/>
                        </a:rPr>
                        <a:t>Cash Forecasting / Payments Summary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l" rtl="0" fontAlgn="ctr"/>
                      <a:r>
                        <a:rPr lang="en-US" sz="900" b="0" i="0" u="none" strike="noStrike">
                          <a:solidFill>
                            <a:srgbClr val="0000FF"/>
                          </a:solidFill>
                          <a:effectLst/>
                          <a:latin typeface="DeutschePost-MedCn" panose="020B0500000000000000"/>
                        </a:rPr>
                        <a:t>EUR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2887930"/>
                  </a:ext>
                </a:extLst>
              </a:tr>
              <a:tr h="38436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l" rtl="0" fontAlgn="ctr"/>
                      <a:r>
                        <a:rPr lang="en-US" sz="900" b="0" i="0" u="none" strike="noStrike">
                          <a:solidFill>
                            <a:srgbClr val="FFFFFF"/>
                          </a:solidFill>
                          <a:effectLst/>
                          <a:latin typeface="DeutschePost-MedCn" panose="020B0500000000000000"/>
                        </a:rPr>
                        <a:t>Payments In House Pending Application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r" rtl="0" fontAlgn="b"/>
                      <a:r>
                        <a:rPr lang="en-US" sz="900" b="0" i="0" u="none" strike="noStrike" kern="1200">
                          <a:solidFill>
                            <a:srgbClr val="0000FF"/>
                          </a:solidFill>
                          <a:effectLst/>
                          <a:latin typeface="DeutschePost-MedCn" panose="020B0500000000000000"/>
                          <a:ea typeface="+mn-ea"/>
                          <a:cs typeface="+mn-cs"/>
                        </a:rPr>
                        <a:t> €273  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2425116"/>
                  </a:ext>
                </a:extLst>
              </a:tr>
              <a:tr h="21607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l" rtl="0" fontAlgn="ctr"/>
                      <a:r>
                        <a:rPr lang="en-US" sz="900" b="0" i="0" u="none" strike="noStrike">
                          <a:solidFill>
                            <a:srgbClr val="FFFFFF"/>
                          </a:solidFill>
                          <a:effectLst/>
                          <a:latin typeface="DeutschePost-MedCn" panose="020B0500000000000000"/>
                        </a:rPr>
                        <a:t>Expected payments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r" rtl="0" fontAlgn="b"/>
                      <a:r>
                        <a:rPr lang="en-US" sz="900" b="0" i="0" u="none" strike="noStrike" kern="1200">
                          <a:solidFill>
                            <a:srgbClr val="0000FF"/>
                          </a:solidFill>
                          <a:effectLst/>
                          <a:latin typeface="DeutschePost-MedCn" panose="020B0500000000000000"/>
                          <a:ea typeface="+mn-ea"/>
                          <a:cs typeface="+mn-cs"/>
                        </a:rPr>
                        <a:t>€ 0   </a:t>
                      </a:r>
                      <a:endParaRPr lang="en-US" sz="900" b="0" i="0" u="none" strike="noStrike">
                        <a:solidFill>
                          <a:srgbClr val="0000FF"/>
                        </a:solidFill>
                        <a:effectLst/>
                        <a:latin typeface="DeutschePost-MedCn" panose="020B050000000000000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7096826"/>
                  </a:ext>
                </a:extLst>
              </a:tr>
              <a:tr h="31797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l" rtl="0" fontAlgn="ctr"/>
                      <a:r>
                        <a:rPr lang="en-US" sz="900" b="0" i="0" u="none" strike="noStrike">
                          <a:solidFill>
                            <a:srgbClr val="FFFFFF"/>
                          </a:solidFill>
                          <a:effectLst/>
                          <a:latin typeface="DeutschePost-MedCn" panose="020B0500000000000000"/>
                        </a:rPr>
                        <a:t>Forecasted Overdue EOM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r" rtl="0" fontAlgn="b"/>
                      <a:r>
                        <a:rPr lang="en-US" sz="900" b="0" i="0" u="none" strike="noStrike">
                          <a:solidFill>
                            <a:srgbClr val="0000FF"/>
                          </a:solidFill>
                          <a:effectLst/>
                          <a:latin typeface="DeutschePost-MedCn" panose="020B0500000000000000"/>
                        </a:rPr>
                        <a:t>            </a:t>
                      </a:r>
                      <a:r>
                        <a:rPr lang="en-US" sz="900" b="0" i="0" u="none" strike="noStrike" kern="1200">
                          <a:solidFill>
                            <a:srgbClr val="0000FF"/>
                          </a:solidFill>
                          <a:effectLst/>
                          <a:latin typeface="DeutschePost-MedCn" panose="020B0500000000000000"/>
                          <a:ea typeface="+mn-ea"/>
                          <a:cs typeface="+mn-cs"/>
                        </a:rPr>
                        <a:t>€ 158k   </a:t>
                      </a:r>
                      <a:endParaRPr lang="en-US" sz="900" b="0" i="0" u="none" strike="noStrike">
                        <a:solidFill>
                          <a:srgbClr val="0000FF"/>
                        </a:solidFill>
                        <a:effectLst/>
                        <a:latin typeface="DeutschePost-MedCn" panose="020B050000000000000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882916"/>
                  </a:ext>
                </a:extLst>
              </a:tr>
              <a:tr h="21607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l" rtl="0" fontAlgn="ctr"/>
                      <a:r>
                        <a:rPr lang="en-US" sz="900" b="0" i="0" u="none" strike="noStrike">
                          <a:solidFill>
                            <a:srgbClr val="FFFFFF"/>
                          </a:solidFill>
                          <a:effectLst/>
                          <a:latin typeface="DeutschePost-MedCn" panose="020B0500000000000000"/>
                        </a:rPr>
                        <a:t>Forecasted &gt;60 EOM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r" rtl="0" fontAlgn="b"/>
                      <a:r>
                        <a:rPr lang="en-US" sz="900" b="0" i="0" u="none" strike="noStrike">
                          <a:solidFill>
                            <a:srgbClr val="0000FF"/>
                          </a:solidFill>
                          <a:effectLst/>
                          <a:latin typeface="DeutschePost-MedCn" panose="020B0500000000000000"/>
                        </a:rPr>
                        <a:t>       </a:t>
                      </a:r>
                      <a:r>
                        <a:rPr lang="en-US" sz="900" b="0" i="0" u="none" strike="noStrike" kern="1200">
                          <a:solidFill>
                            <a:srgbClr val="0000FF"/>
                          </a:solidFill>
                          <a:effectLst/>
                          <a:latin typeface="DeutschePost-MedCn" panose="020B0500000000000000"/>
                          <a:ea typeface="+mn-ea"/>
                          <a:cs typeface="+mn-cs"/>
                        </a:rPr>
                        <a:t>€ 158k </a:t>
                      </a:r>
                      <a:endParaRPr lang="en-US" sz="900" b="0" i="0" u="none" strike="noStrike">
                        <a:solidFill>
                          <a:srgbClr val="0000FF"/>
                        </a:solidFill>
                        <a:effectLst/>
                        <a:latin typeface="DeutschePost-MedCn" panose="020B050000000000000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2658117"/>
                  </a:ext>
                </a:extLst>
              </a:tr>
              <a:tr h="21607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l" rtl="0" fontAlgn="ctr"/>
                      <a:r>
                        <a:rPr lang="en-US" sz="900" b="0" i="0" u="none" strike="noStrike">
                          <a:solidFill>
                            <a:srgbClr val="FFFFFF"/>
                          </a:solidFill>
                          <a:effectLst/>
                          <a:latin typeface="DeutschePost-MedCn" panose="020B0500000000000000"/>
                        </a:rPr>
                        <a:t>Forecasted &gt;90 EOM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r" rtl="0" fontAlgn="b"/>
                      <a:r>
                        <a:rPr lang="en-US" sz="900" b="0" i="0" u="none" strike="noStrike" kern="1200">
                          <a:solidFill>
                            <a:srgbClr val="0000FF"/>
                          </a:solidFill>
                          <a:effectLst/>
                          <a:latin typeface="DeutschePost-MedCn" panose="020B0500000000000000"/>
                          <a:ea typeface="+mn-ea"/>
                          <a:cs typeface="+mn-cs"/>
                        </a:rPr>
                        <a:t>€ 158k  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6777289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BB13FDE8-93A4-70BF-F42D-9D65734DFC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6571" y="5230721"/>
            <a:ext cx="682625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03806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"/>
          <p:cNvSpPr txBox="1">
            <a:spLocks/>
          </p:cNvSpPr>
          <p:nvPr/>
        </p:nvSpPr>
        <p:spPr bwMode="auto">
          <a:xfrm>
            <a:off x="1724235" y="94718"/>
            <a:ext cx="9444828" cy="814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marL="342900" indent="-157163" algn="l" rtl="0" eaLnBrk="0" fontAlgn="base" hangingPunct="0">
              <a:spcBef>
                <a:spcPct val="0"/>
              </a:spcBef>
              <a:spcAft>
                <a:spcPts val="0"/>
              </a:spcAft>
              <a:buFont typeface="Arial" charset="0"/>
              <a:defRPr sz="3200" b="0" kern="1200" cap="all" baseline="0">
                <a:solidFill>
                  <a:schemeClr val="tx1">
                    <a:lumMod val="75000"/>
                    <a:lumOff val="25000"/>
                  </a:schemeClr>
                </a:solidFill>
                <a:latin typeface="DeutschePost-MedCn" panose="020B0500000000000000" pitchFamily="34" charset="0"/>
                <a:ea typeface="Tahoma" pitchFamily="34" charset="0"/>
                <a:cs typeface="Tahoma" pitchFamily="34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ts val="0"/>
              </a:spcAft>
              <a:buFont typeface="Arial" charset="0"/>
              <a:defRPr sz="2000" b="0" kern="1200" cap="all" baseline="0">
                <a:solidFill>
                  <a:schemeClr val="tx1">
                    <a:lumMod val="75000"/>
                    <a:lumOff val="25000"/>
                  </a:schemeClr>
                </a:solidFill>
                <a:latin typeface="DeutschePost-MedCn" panose="020B0500000000000000" pitchFamily="34" charset="0"/>
                <a:ea typeface="Tahoma" pitchFamily="34" charset="0"/>
                <a:cs typeface="Tahoma" pitchFamily="34" charset="0"/>
              </a:defRPr>
            </a:lvl2pPr>
            <a:lvl3pPr marL="0" indent="0" algn="l" rtl="0" eaLnBrk="0" fontAlgn="base" hangingPunct="0">
              <a:spcBef>
                <a:spcPct val="0"/>
              </a:spcBef>
              <a:spcAft>
                <a:spcPts val="500"/>
              </a:spcAft>
              <a:buFont typeface="Arial" charset="0"/>
              <a:buNone/>
              <a:defRPr sz="3200" b="0" kern="1200">
                <a:solidFill>
                  <a:schemeClr val="tx1"/>
                </a:solidFill>
                <a:latin typeface="DeutschePost-MedCn" panose="020B0500000000000000" pitchFamily="34" charset="0"/>
                <a:ea typeface="Tahoma" pitchFamily="34" charset="0"/>
                <a:cs typeface="Tahoma" pitchFamily="34" charset="0"/>
              </a:defRPr>
            </a:lvl3pPr>
            <a:lvl4pPr marL="358775" indent="-179388" algn="l" rtl="0" eaLnBrk="0" fontAlgn="base" hangingPunct="0">
              <a:spcBef>
                <a:spcPct val="0"/>
              </a:spcBef>
              <a:spcAft>
                <a:spcPts val="500"/>
              </a:spcAft>
              <a:buFont typeface="Symbol" pitchFamily="18" charset="2"/>
              <a:buChar char="-"/>
              <a:defRPr sz="3200" b="0" kern="1200">
                <a:solidFill>
                  <a:schemeClr val="tx1"/>
                </a:solidFill>
                <a:latin typeface="DeutschePost-MedCn" panose="020B0500000000000000" pitchFamily="34" charset="0"/>
                <a:ea typeface="Tahoma" pitchFamily="34" charset="0"/>
                <a:cs typeface="Tahoma" pitchFamily="34" charset="0"/>
              </a:defRPr>
            </a:lvl4pPr>
            <a:lvl5pPr marL="539750" indent="-179388" algn="l" rtl="0" eaLnBrk="0" fontAlgn="base" hangingPunct="0">
              <a:spcBef>
                <a:spcPct val="0"/>
              </a:spcBef>
              <a:spcAft>
                <a:spcPts val="500"/>
              </a:spcAft>
              <a:buFont typeface="Arial" charset="0"/>
              <a:buChar char="•"/>
              <a:defRPr sz="3200" b="0" kern="1200">
                <a:solidFill>
                  <a:schemeClr val="tx1"/>
                </a:solidFill>
                <a:latin typeface="DeutschePost-MedCn" panose="020B0500000000000000" pitchFamily="34" charset="0"/>
                <a:ea typeface="Tahoma" pitchFamily="34" charset="0"/>
                <a:cs typeface="Tahoma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TE Connectivity –      Net 60     Go Live 04/2022</a:t>
            </a:r>
          </a:p>
        </p:txBody>
      </p:sp>
      <p:sp>
        <p:nvSpPr>
          <p:cNvPr id="6" name="Rectangle 5"/>
          <p:cNvSpPr/>
          <p:nvPr/>
        </p:nvSpPr>
        <p:spPr>
          <a:xfrm>
            <a:off x="8243489" y="1577546"/>
            <a:ext cx="3948511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/>
              <a:t>                                                                                                     </a:t>
            </a:r>
          </a:p>
          <a:p>
            <a:pPr marL="228600" indent="-228600">
              <a:buAutoNum type="arabicPeriod"/>
            </a:pPr>
            <a:endParaRPr lang="en-US" sz="1100"/>
          </a:p>
        </p:txBody>
      </p:sp>
      <p:sp>
        <p:nvSpPr>
          <p:cNvPr id="9" name="Rectangle 8"/>
          <p:cNvSpPr/>
          <p:nvPr/>
        </p:nvSpPr>
        <p:spPr>
          <a:xfrm>
            <a:off x="8243489" y="4310175"/>
            <a:ext cx="3948511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/>
              <a:t>                                                                                                   </a:t>
            </a:r>
          </a:p>
          <a:p>
            <a:r>
              <a:rPr lang="en-US" sz="1100"/>
              <a:t>.    </a:t>
            </a:r>
          </a:p>
          <a:p>
            <a:pPr marL="228600" indent="-228600">
              <a:buFontTx/>
              <a:buAutoNum type="arabicPeriod"/>
            </a:pPr>
            <a:endParaRPr lang="en-US" sz="1100"/>
          </a:p>
          <a:p>
            <a:pPr marL="228600" indent="-228600">
              <a:buAutoNum type="arabicPeriod"/>
            </a:pPr>
            <a:endParaRPr lang="en-US" sz="1100"/>
          </a:p>
        </p:txBody>
      </p:sp>
      <p:sp>
        <p:nvSpPr>
          <p:cNvPr id="12" name="Rounded Rectangle 11"/>
          <p:cNvSpPr/>
          <p:nvPr/>
        </p:nvSpPr>
        <p:spPr bwMode="auto">
          <a:xfrm>
            <a:off x="98657" y="971550"/>
            <a:ext cx="1791828" cy="625914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144000" tIns="144000" rIns="144000" bIns="144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953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400">
                <a:latin typeface="Arial" charset="0"/>
              </a:rPr>
              <a:t>AMKAD POC:</a:t>
            </a:r>
          </a:p>
          <a:p>
            <a:pPr marL="0" marR="0" indent="0" algn="l" defTabSz="9953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MX" sz="1400" i="1">
                <a:solidFill>
                  <a:srgbClr val="0070C0"/>
                </a:solidFill>
                <a:latin typeface="Arial" charset="0"/>
              </a:rPr>
              <a:t>Damaris Flores</a:t>
            </a:r>
            <a:endParaRPr kumimoji="0" lang="es-MX" sz="1400" b="0" i="1" u="none" strike="noStrike" cap="none" normalizeH="0" baseline="0">
              <a:ln>
                <a:noFill/>
              </a:ln>
              <a:solidFill>
                <a:srgbClr val="0070C0"/>
              </a:solidFill>
              <a:effectLst/>
              <a:latin typeface="Arial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E00A4A4-DBA3-BEBE-22AC-D11960FEBA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4962" y="971549"/>
            <a:ext cx="9444828" cy="251158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A1CCF86-1203-94D0-E206-2BC35A5BEC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4962" y="3483134"/>
            <a:ext cx="9444828" cy="248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20859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 bwMode="auto">
          <a:xfrm>
            <a:off x="7707919" y="1139985"/>
            <a:ext cx="3229074" cy="4049008"/>
          </a:xfrm>
          <a:prstGeom prst="rect">
            <a:avLst/>
          </a:prstGeom>
          <a:solidFill>
            <a:schemeClr val="accent6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44000" tIns="144000" rIns="144000" bIns="144000" numCol="1" rtlCol="0" anchor="ctr" anchorCtr="0" compatLnSpc="1">
            <a:prstTxWarp prst="textNoShape">
              <a:avLst/>
            </a:prstTxWarp>
            <a:normAutofit/>
          </a:bodyPr>
          <a:lstStyle/>
          <a:p>
            <a:pPr defTabSz="995363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050">
              <a:solidFill>
                <a:srgbClr val="000000"/>
              </a:solidFill>
              <a:latin typeface="DeutschePost-MedCn" panose="020B0500000000000000" pitchFamily="34" charset="0"/>
            </a:endParaRPr>
          </a:p>
          <a:p>
            <a:pPr defTabSz="995363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050">
              <a:solidFill>
                <a:srgbClr val="000000"/>
              </a:solidFill>
              <a:latin typeface="DeutschePost-MedCn" panose="020B0500000000000000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741135" y="368629"/>
            <a:ext cx="87565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D40511"/>
                </a:solidFill>
                <a:latin typeface="DeutschePost-MedCn" panose="020B0500000000000000" pitchFamily="34" charset="0"/>
                <a:ea typeface="MS PGothic" pitchFamily="34" charset="-128"/>
              </a:rPr>
              <a:t>TYCO</a:t>
            </a:r>
            <a:r>
              <a:rPr lang="en-US" sz="1400" b="1" dirty="0">
                <a:solidFill>
                  <a:srgbClr val="D40511"/>
                </a:solidFill>
                <a:latin typeface="DeutschePost-MedCn" panose="020B0500000000000000" pitchFamily="34" charset="0"/>
                <a:ea typeface="MS PGothic" pitchFamily="34" charset="-128"/>
              </a:rPr>
              <a:t>– </a:t>
            </a:r>
            <a:r>
              <a:rPr lang="en-US" sz="1600" b="1" dirty="0">
                <a:solidFill>
                  <a:srgbClr val="D40511"/>
                </a:solidFill>
                <a:latin typeface="DeutschePost-MedCn" panose="020B0500000000000000" pitchFamily="34" charset="0"/>
                <a:ea typeface="MS PGothic" pitchFamily="34" charset="-128"/>
              </a:rPr>
              <a:t>ACCOUNT BUSINESS REVIEW  </a:t>
            </a:r>
            <a:r>
              <a:rPr lang="en-US" sz="1100" b="1" dirty="0">
                <a:solidFill>
                  <a:srgbClr val="D40511"/>
                </a:solidFill>
                <a:latin typeface="DeutschePost-MedCn" panose="020B0500000000000000" pitchFamily="34" charset="0"/>
                <a:ea typeface="MS PGothic" pitchFamily="34" charset="-128"/>
              </a:rPr>
              <a:t>			 </a:t>
            </a:r>
            <a:r>
              <a:rPr lang="en-US" sz="1600" b="1" dirty="0">
                <a:solidFill>
                  <a:srgbClr val="D40511"/>
                </a:solidFill>
                <a:latin typeface="DeutschePost-MedCn" panose="020B0500000000000000" pitchFamily="34" charset="0"/>
                <a:ea typeface="MS PGothic" pitchFamily="34" charset="-128"/>
              </a:rPr>
              <a:t>Date : June 22, 2026</a:t>
            </a:r>
          </a:p>
        </p:txBody>
      </p:sp>
      <p:sp>
        <p:nvSpPr>
          <p:cNvPr id="3" name="Rectangle 2"/>
          <p:cNvSpPr/>
          <p:nvPr/>
        </p:nvSpPr>
        <p:spPr bwMode="auto">
          <a:xfrm>
            <a:off x="1577341" y="1137172"/>
            <a:ext cx="3141308" cy="4008366"/>
          </a:xfrm>
          <a:prstGeom prst="rect">
            <a:avLst/>
          </a:prstGeom>
          <a:solidFill>
            <a:schemeClr val="accent6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44000" tIns="144000" rIns="144000" bIns="144000" numCol="1" rtlCol="0" anchor="ctr" anchorCtr="0" compatLnSpc="1">
            <a:prstTxWarp prst="textNoShape">
              <a:avLst/>
            </a:prstTxWarp>
            <a:normAutofit/>
          </a:bodyPr>
          <a:lstStyle/>
          <a:p>
            <a:pPr defTabSz="995363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050">
              <a:solidFill>
                <a:srgbClr val="000000"/>
              </a:solidFill>
              <a:latin typeface="DeutschePost-MedCn" panose="020B0500000000000000" pitchFamily="34" charset="0"/>
            </a:endParaRPr>
          </a:p>
        </p:txBody>
      </p:sp>
      <p:sp>
        <p:nvSpPr>
          <p:cNvPr id="5" name="Rectangle 4"/>
          <p:cNvSpPr/>
          <p:nvPr/>
        </p:nvSpPr>
        <p:spPr bwMode="auto">
          <a:xfrm>
            <a:off x="4735046" y="1157926"/>
            <a:ext cx="2966157" cy="3987611"/>
          </a:xfrm>
          <a:prstGeom prst="rect">
            <a:avLst/>
          </a:prstGeom>
          <a:solidFill>
            <a:schemeClr val="accent6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44000" tIns="144000" rIns="144000" bIns="144000" numCol="1" rtlCol="0" anchor="ctr" anchorCtr="0" compatLnSpc="1">
            <a:prstTxWarp prst="textNoShape">
              <a:avLst/>
            </a:prstTxWarp>
            <a:normAutofit/>
          </a:bodyPr>
          <a:lstStyle/>
          <a:p>
            <a:pPr defTabSz="995363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050">
              <a:solidFill>
                <a:srgbClr val="000000"/>
              </a:solidFill>
              <a:latin typeface="DeutschePost-MedCn" panose="020B0500000000000000" pitchFamily="34" charset="0"/>
            </a:endParaRPr>
          </a:p>
          <a:p>
            <a:pPr defTabSz="995363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050">
              <a:solidFill>
                <a:srgbClr val="000000"/>
              </a:solidFill>
              <a:latin typeface="DeutschePost-MedCn" panose="020B0500000000000000" pitchFamily="34" charset="0"/>
            </a:endParaRPr>
          </a:p>
        </p:txBody>
      </p:sp>
      <p:sp>
        <p:nvSpPr>
          <p:cNvPr id="6" name="Rectangle 5"/>
          <p:cNvSpPr/>
          <p:nvPr/>
        </p:nvSpPr>
        <p:spPr bwMode="auto">
          <a:xfrm>
            <a:off x="1577340" y="5145998"/>
            <a:ext cx="9369333" cy="1343373"/>
          </a:xfrm>
          <a:prstGeom prst="rect">
            <a:avLst/>
          </a:prstGeom>
          <a:solidFill>
            <a:schemeClr val="accent6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144000" tIns="144000" rIns="144000" bIns="144000" numCol="1" rtlCol="0" anchor="ctr" anchorCtr="0" compatLnSpc="1">
            <a:prstTxWarp prst="textNoShape">
              <a:avLst/>
            </a:prstTxWarp>
            <a:noAutofit/>
          </a:bodyPr>
          <a:lstStyle/>
          <a:p>
            <a:pPr defTabSz="995363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400" b="1">
              <a:solidFill>
                <a:srgbClr val="000000"/>
              </a:solidFill>
              <a:latin typeface="DeutschePost-MedCn" panose="020B0500000000000000" pitchFamily="34" charset="0"/>
            </a:endParaRPr>
          </a:p>
        </p:txBody>
      </p:sp>
      <p:sp>
        <p:nvSpPr>
          <p:cNvPr id="8" name="Rectangle 7"/>
          <p:cNvSpPr/>
          <p:nvPr/>
        </p:nvSpPr>
        <p:spPr bwMode="auto">
          <a:xfrm>
            <a:off x="1570625" y="900649"/>
            <a:ext cx="3145157" cy="250854"/>
          </a:xfrm>
          <a:prstGeom prst="rect">
            <a:avLst/>
          </a:prstGeom>
          <a:solidFill>
            <a:schemeClr val="accent3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144000" tIns="144000" rIns="144000" bIns="144000" numCol="1" rtlCol="0" anchor="ctr" anchorCtr="0" compatLnSpc="1">
            <a:prstTxWarp prst="textNoShape">
              <a:avLst/>
            </a:prstTxWarp>
          </a:bodyPr>
          <a:lstStyle/>
          <a:p>
            <a:pPr algn="ctr" defTabSz="995363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100">
                <a:solidFill>
                  <a:srgbClr val="D40511"/>
                </a:solidFill>
                <a:latin typeface="DeutschePost-MedCn" panose="020B0500000000000000" pitchFamily="34" charset="0"/>
              </a:rPr>
              <a:t>MAIN ISSUES</a:t>
            </a:r>
          </a:p>
        </p:txBody>
      </p:sp>
      <p:sp>
        <p:nvSpPr>
          <p:cNvPr id="9" name="Rectangle 8"/>
          <p:cNvSpPr/>
          <p:nvPr/>
        </p:nvSpPr>
        <p:spPr bwMode="auto">
          <a:xfrm>
            <a:off x="4739736" y="900649"/>
            <a:ext cx="2961468" cy="250854"/>
          </a:xfrm>
          <a:prstGeom prst="rect">
            <a:avLst/>
          </a:prstGeom>
          <a:solidFill>
            <a:schemeClr val="accent3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144000" tIns="144000" rIns="144000" bIns="144000" numCol="1" rtlCol="0" anchor="ctr" anchorCtr="0" compatLnSpc="1">
            <a:prstTxWarp prst="textNoShape">
              <a:avLst/>
            </a:prstTxWarp>
          </a:bodyPr>
          <a:lstStyle/>
          <a:p>
            <a:pPr algn="ctr" defTabSz="995363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100">
                <a:solidFill>
                  <a:srgbClr val="D40511"/>
                </a:solidFill>
                <a:latin typeface="DeutschePost-MedCn" panose="020B0500000000000000" pitchFamily="34" charset="0"/>
              </a:rPr>
              <a:t>CURRENT ACTIONS / SUPPORT NEEDED</a:t>
            </a:r>
          </a:p>
        </p:txBody>
      </p:sp>
      <p:sp>
        <p:nvSpPr>
          <p:cNvPr id="10" name="Rectangle 9"/>
          <p:cNvSpPr/>
          <p:nvPr/>
        </p:nvSpPr>
        <p:spPr bwMode="auto">
          <a:xfrm>
            <a:off x="7732630" y="896694"/>
            <a:ext cx="3168430" cy="258764"/>
          </a:xfrm>
          <a:prstGeom prst="rect">
            <a:avLst/>
          </a:prstGeom>
          <a:solidFill>
            <a:schemeClr val="accent3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144000" tIns="144000" rIns="144000" bIns="144000" numCol="1" rtlCol="0" anchor="ctr" anchorCtr="0" compatLnSpc="1">
            <a:prstTxWarp prst="textNoShape">
              <a:avLst/>
            </a:prstTxWarp>
          </a:bodyPr>
          <a:lstStyle/>
          <a:p>
            <a:pPr algn="ctr" defTabSz="995363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100">
                <a:solidFill>
                  <a:srgbClr val="D40511"/>
                </a:solidFill>
                <a:latin typeface="DeutschePost-MedCn" panose="020B0500000000000000" pitchFamily="34" charset="0"/>
              </a:rPr>
              <a:t>PAYMENTS / EOM Forecasting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61326" y="1137172"/>
            <a:ext cx="2836084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171450" defTabSz="995363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sz="1200" dirty="0">
              <a:solidFill>
                <a:srgbClr val="000000"/>
              </a:solidFill>
              <a:latin typeface="DeutschePost-MedCn" panose="020B0500000000000000" pitchFamily="34" charset="0"/>
            </a:endParaRPr>
          </a:p>
          <a:p>
            <a:pPr marL="228600" indent="-171450" defTabSz="995363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sz="800" dirty="0">
              <a:solidFill>
                <a:srgbClr val="000000"/>
              </a:solidFill>
            </a:endParaRPr>
          </a:p>
          <a:p>
            <a:pPr marL="228600" indent="-171450" defTabSz="995363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sz="800" dirty="0">
              <a:solidFill>
                <a:srgbClr val="000000"/>
              </a:solidFill>
            </a:endParaRPr>
          </a:p>
          <a:p>
            <a:pPr marL="228600" indent="-171450" defTabSz="995363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sz="800" dirty="0">
              <a:solidFill>
                <a:srgbClr val="000000"/>
              </a:solidFill>
            </a:endParaRPr>
          </a:p>
          <a:p>
            <a:pPr marL="228600" indent="-171450" defTabSz="995363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sz="800" dirty="0">
              <a:solidFill>
                <a:srgbClr val="000000"/>
              </a:solidFill>
            </a:endParaRPr>
          </a:p>
          <a:p>
            <a:pPr marL="228600" indent="-171450" defTabSz="995363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sz="800" dirty="0">
              <a:solidFill>
                <a:srgbClr val="000000"/>
              </a:solidFill>
            </a:endParaRPr>
          </a:p>
          <a:p>
            <a:pPr marL="228600" indent="-171450" defTabSz="995363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sz="800" dirty="0">
              <a:solidFill>
                <a:srgbClr val="000000"/>
              </a:solidFill>
            </a:endParaRPr>
          </a:p>
          <a:p>
            <a:pPr marL="228600" indent="-171450" defTabSz="995363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000000"/>
                </a:solidFill>
              </a:rPr>
              <a:t>Payment pending approval, escalated to owners</a:t>
            </a:r>
          </a:p>
          <a:p>
            <a:pPr marL="685800" lvl="1" indent="-171450" defTabSz="995363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sz="1000" dirty="0">
              <a:solidFill>
                <a:srgbClr val="000000"/>
              </a:solidFill>
            </a:endParaRPr>
          </a:p>
          <a:p>
            <a:pPr marL="57150" defTabSz="995363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000" dirty="0">
              <a:solidFill>
                <a:srgbClr val="000000"/>
              </a:solidFill>
            </a:endParaRPr>
          </a:p>
          <a:p>
            <a:pPr marL="228600" indent="-171450" defTabSz="995363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sz="1000" dirty="0">
              <a:solidFill>
                <a:srgbClr val="000000"/>
              </a:solidFill>
            </a:endParaRPr>
          </a:p>
          <a:p>
            <a:pPr marL="228600" indent="-171450" defTabSz="995363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000000"/>
                </a:solidFill>
              </a:rPr>
              <a:t>Escalated to AP team, invoices under review </a:t>
            </a:r>
          </a:p>
          <a:p>
            <a:pPr marL="228600" indent="-171450" defTabSz="995363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sz="1000" dirty="0">
              <a:solidFill>
                <a:srgbClr val="000000"/>
              </a:solidFill>
            </a:endParaRPr>
          </a:p>
          <a:p>
            <a:pPr marL="228600" indent="-171450" defTabSz="995363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sz="1000" dirty="0">
              <a:solidFill>
                <a:srgbClr val="000000"/>
              </a:solidFill>
            </a:endParaRPr>
          </a:p>
          <a:p>
            <a:pPr marL="57150" defTabSz="995363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000" dirty="0">
              <a:solidFill>
                <a:srgbClr val="000000"/>
              </a:solidFill>
            </a:endParaRPr>
          </a:p>
          <a:p>
            <a:pPr marL="57150" defTabSz="995363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000" dirty="0">
              <a:solidFill>
                <a:srgbClr val="000000"/>
              </a:solidFill>
            </a:endParaRPr>
          </a:p>
          <a:p>
            <a:pPr marL="57150" defTabSz="995363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000" dirty="0">
              <a:solidFill>
                <a:srgbClr val="000000"/>
              </a:solidFill>
            </a:endParaRPr>
          </a:p>
          <a:p>
            <a:pPr marL="228600" indent="-171450" defTabSz="995363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sz="1000" dirty="0">
              <a:solidFill>
                <a:srgbClr val="000000"/>
              </a:solidFill>
            </a:endParaRPr>
          </a:p>
          <a:p>
            <a:pPr marL="228600" indent="-171450" defTabSz="995363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000000"/>
                </a:solidFill>
              </a:rPr>
              <a:t>Total payment received 28.4k all +90</a:t>
            </a:r>
          </a:p>
          <a:p>
            <a:pPr marL="57150" defTabSz="995363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000" dirty="0">
                <a:solidFill>
                  <a:srgbClr val="000000"/>
                </a:solidFill>
              </a:rPr>
              <a:t>	</a:t>
            </a:r>
            <a:endParaRPr lang="en-US" sz="800" dirty="0">
              <a:solidFill>
                <a:srgbClr val="000000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566616" y="1155458"/>
            <a:ext cx="3139214" cy="36625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95363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800" b="1" dirty="0">
              <a:solidFill>
                <a:srgbClr val="000000"/>
              </a:solidFill>
              <a:latin typeface="Arial"/>
            </a:endParaRPr>
          </a:p>
          <a:p>
            <a:pPr lvl="1" defTabSz="995363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000" b="1" dirty="0">
                <a:solidFill>
                  <a:srgbClr val="000000"/>
                </a:solidFill>
                <a:latin typeface="Arial"/>
              </a:rPr>
              <a:t>TTL AR:  </a:t>
            </a:r>
            <a:r>
              <a:rPr lang="en-US" sz="1000" b="1" dirty="0">
                <a:solidFill>
                  <a:srgbClr val="000000"/>
                </a:solidFill>
              </a:rPr>
              <a:t>€ 607,437</a:t>
            </a:r>
            <a:endParaRPr lang="en-US" sz="1000" b="1" dirty="0">
              <a:solidFill>
                <a:srgbClr val="000000"/>
              </a:solidFill>
              <a:latin typeface="Arial"/>
            </a:endParaRPr>
          </a:p>
          <a:p>
            <a:pPr lvl="1" defTabSz="995363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000" b="1" dirty="0">
                <a:solidFill>
                  <a:srgbClr val="000000"/>
                </a:solidFill>
                <a:latin typeface="Arial"/>
              </a:rPr>
              <a:t>PD: </a:t>
            </a:r>
            <a:r>
              <a:rPr lang="en-US" sz="1000" b="1" dirty="0">
                <a:solidFill>
                  <a:srgbClr val="000000"/>
                </a:solidFill>
              </a:rPr>
              <a:t>€ 72,788</a:t>
            </a:r>
          </a:p>
          <a:p>
            <a:pPr lvl="1" defTabSz="995363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000" b="1" dirty="0">
                <a:solidFill>
                  <a:srgbClr val="000000"/>
                </a:solidFill>
                <a:latin typeface="Arial"/>
              </a:rPr>
              <a:t>&gt; 90: </a:t>
            </a:r>
            <a:r>
              <a:rPr lang="en-US" sz="1000" b="1" dirty="0">
                <a:solidFill>
                  <a:srgbClr val="000000"/>
                </a:solidFill>
              </a:rPr>
              <a:t>€ 33 K</a:t>
            </a:r>
            <a:endParaRPr lang="en-US" sz="1000" b="1" dirty="0">
              <a:solidFill>
                <a:srgbClr val="000000"/>
              </a:solidFill>
              <a:latin typeface="Arial"/>
            </a:endParaRPr>
          </a:p>
          <a:p>
            <a:pPr lvl="1" defTabSz="995363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000" dirty="0">
              <a:solidFill>
                <a:srgbClr val="000000"/>
              </a:solidFill>
              <a:latin typeface="Arial"/>
            </a:endParaRPr>
          </a:p>
          <a:p>
            <a:pPr lvl="1" defTabSz="995363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000" dirty="0">
              <a:solidFill>
                <a:srgbClr val="000000"/>
              </a:solidFill>
              <a:latin typeface="Arial"/>
            </a:endParaRPr>
          </a:p>
          <a:p>
            <a:pPr marL="628650" lvl="1" indent="-171450" defTabSz="995363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/>
              </a:rPr>
              <a:t>Customer in Audit Delay</a:t>
            </a:r>
          </a:p>
          <a:p>
            <a:pPr marL="1085850" lvl="2" indent="-171450" defTabSz="995363" eaLnBrk="0" fontAlgn="base" hangingPunct="0"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lang="en-US" sz="1000" dirty="0">
                <a:solidFill>
                  <a:srgbClr val="000000"/>
                </a:solidFill>
                <a:latin typeface="Arial"/>
              </a:rPr>
              <a:t>In process for payment approval – 4.6 K</a:t>
            </a:r>
          </a:p>
          <a:p>
            <a:pPr lvl="2" defTabSz="995363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000" dirty="0">
              <a:solidFill>
                <a:srgbClr val="000000"/>
              </a:solidFill>
              <a:latin typeface="Arial"/>
            </a:endParaRPr>
          </a:p>
          <a:p>
            <a:pPr marL="628650" lvl="1" indent="-171450" defTabSz="995363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sz="1000" dirty="0">
              <a:solidFill>
                <a:srgbClr val="000000"/>
              </a:solidFill>
              <a:latin typeface="Arial"/>
            </a:endParaRPr>
          </a:p>
          <a:p>
            <a:pPr marL="628650" lvl="1" indent="-171450" defTabSz="995363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/>
              </a:rPr>
              <a:t>Payments blocked by AP team</a:t>
            </a:r>
          </a:p>
          <a:p>
            <a:pPr marL="1085850" lvl="2" indent="-171450" defTabSz="995363" eaLnBrk="0" fontAlgn="base" hangingPunct="0"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lang="en-US" sz="1000" dirty="0">
                <a:solidFill>
                  <a:srgbClr val="000000"/>
                </a:solidFill>
              </a:rPr>
              <a:t>AMP </a:t>
            </a:r>
            <a:r>
              <a:rPr lang="en-US" sz="1000" dirty="0" err="1">
                <a:solidFill>
                  <a:srgbClr val="000000"/>
                </a:solidFill>
              </a:rPr>
              <a:t>Amermex</a:t>
            </a:r>
            <a:r>
              <a:rPr lang="en-US" sz="1000" dirty="0">
                <a:solidFill>
                  <a:srgbClr val="000000"/>
                </a:solidFill>
              </a:rPr>
              <a:t> div – PD 39 K</a:t>
            </a:r>
          </a:p>
          <a:p>
            <a:pPr marL="628650" lvl="1" indent="-171450" defTabSz="995363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sz="1000" dirty="0">
              <a:solidFill>
                <a:srgbClr val="000000"/>
              </a:solidFill>
              <a:latin typeface="Arial"/>
            </a:endParaRPr>
          </a:p>
          <a:p>
            <a:pPr marL="628650" lvl="1" indent="-171450" defTabSz="995363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sz="1000" dirty="0">
              <a:solidFill>
                <a:srgbClr val="000000"/>
              </a:solidFill>
              <a:latin typeface="Arial"/>
            </a:endParaRPr>
          </a:p>
          <a:p>
            <a:pPr lvl="2" defTabSz="995363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000" dirty="0">
              <a:solidFill>
                <a:srgbClr val="000000"/>
              </a:solidFill>
              <a:latin typeface="Arial"/>
            </a:endParaRPr>
          </a:p>
          <a:p>
            <a:pPr lvl="2" defTabSz="995363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000" dirty="0">
              <a:solidFill>
                <a:srgbClr val="000000"/>
              </a:solidFill>
              <a:latin typeface="Arial"/>
            </a:endParaRPr>
          </a:p>
          <a:p>
            <a:pPr lvl="2" defTabSz="995363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000" dirty="0">
              <a:solidFill>
                <a:srgbClr val="000000"/>
              </a:solidFill>
              <a:latin typeface="Arial"/>
            </a:endParaRPr>
          </a:p>
          <a:p>
            <a:pPr lvl="2" defTabSz="995363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000" dirty="0">
              <a:solidFill>
                <a:srgbClr val="000000"/>
              </a:solidFill>
              <a:latin typeface="Arial"/>
            </a:endParaRPr>
          </a:p>
          <a:p>
            <a:pPr lvl="2" defTabSz="995363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000" dirty="0">
              <a:solidFill>
                <a:srgbClr val="000000"/>
              </a:solidFill>
              <a:latin typeface="Arial"/>
            </a:endParaRPr>
          </a:p>
          <a:p>
            <a:pPr marL="1085850" lvl="2" indent="-171450" defTabSz="995363" eaLnBrk="0" fontAlgn="base" hangingPunct="0"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endParaRPr lang="en-US" sz="1000" dirty="0">
              <a:solidFill>
                <a:srgbClr val="000000"/>
              </a:solidFill>
              <a:latin typeface="Arial"/>
            </a:endParaRPr>
          </a:p>
          <a:p>
            <a:pPr marL="628650" lvl="1" indent="-171450" defTabSz="995363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sz="800" dirty="0">
              <a:solidFill>
                <a:srgbClr val="000000"/>
              </a:solidFill>
              <a:latin typeface="Arial"/>
            </a:endParaRPr>
          </a:p>
          <a:p>
            <a:pPr marL="628650" lvl="1" indent="-171450" defTabSz="995363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sz="800" dirty="0">
              <a:solidFill>
                <a:srgbClr val="000000"/>
              </a:solidFill>
              <a:latin typeface="Arial"/>
            </a:endParaRPr>
          </a:p>
          <a:p>
            <a:pPr lvl="1" defTabSz="995363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800" dirty="0">
              <a:solidFill>
                <a:srgbClr val="000000"/>
              </a:solidFill>
            </a:endParaRP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E3D8EBA7-E352-4872-A1A3-5F76DD646F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4655583"/>
              </p:ext>
            </p:extLst>
          </p:nvPr>
        </p:nvGraphicFramePr>
        <p:xfrm>
          <a:off x="1577339" y="5145537"/>
          <a:ext cx="9380059" cy="1321740"/>
        </p:xfrm>
        <a:graphic>
          <a:graphicData uri="http://schemas.openxmlformats.org/drawingml/2006/table">
            <a:tbl>
              <a:tblPr/>
              <a:tblGrid>
                <a:gridCol w="1650636">
                  <a:extLst>
                    <a:ext uri="{9D8B030D-6E8A-4147-A177-3AD203B41FA5}">
                      <a16:colId xmlns:a16="http://schemas.microsoft.com/office/drawing/2014/main" val="269964290"/>
                    </a:ext>
                  </a:extLst>
                </a:gridCol>
                <a:gridCol w="1015776">
                  <a:extLst>
                    <a:ext uri="{9D8B030D-6E8A-4147-A177-3AD203B41FA5}">
                      <a16:colId xmlns:a16="http://schemas.microsoft.com/office/drawing/2014/main" val="4147902231"/>
                    </a:ext>
                  </a:extLst>
                </a:gridCol>
                <a:gridCol w="1222106">
                  <a:extLst>
                    <a:ext uri="{9D8B030D-6E8A-4147-A177-3AD203B41FA5}">
                      <a16:colId xmlns:a16="http://schemas.microsoft.com/office/drawing/2014/main" val="3850285282"/>
                    </a:ext>
                  </a:extLst>
                </a:gridCol>
                <a:gridCol w="1111007">
                  <a:extLst>
                    <a:ext uri="{9D8B030D-6E8A-4147-A177-3AD203B41FA5}">
                      <a16:colId xmlns:a16="http://schemas.microsoft.com/office/drawing/2014/main" val="3208538214"/>
                    </a:ext>
                  </a:extLst>
                </a:gridCol>
                <a:gridCol w="1111007">
                  <a:extLst>
                    <a:ext uri="{9D8B030D-6E8A-4147-A177-3AD203B41FA5}">
                      <a16:colId xmlns:a16="http://schemas.microsoft.com/office/drawing/2014/main" val="3091207363"/>
                    </a:ext>
                  </a:extLst>
                </a:gridCol>
                <a:gridCol w="1190362">
                  <a:extLst>
                    <a:ext uri="{9D8B030D-6E8A-4147-A177-3AD203B41FA5}">
                      <a16:colId xmlns:a16="http://schemas.microsoft.com/office/drawing/2014/main" val="905298685"/>
                    </a:ext>
                  </a:extLst>
                </a:gridCol>
                <a:gridCol w="1190362">
                  <a:extLst>
                    <a:ext uri="{9D8B030D-6E8A-4147-A177-3AD203B41FA5}">
                      <a16:colId xmlns:a16="http://schemas.microsoft.com/office/drawing/2014/main" val="116643486"/>
                    </a:ext>
                  </a:extLst>
                </a:gridCol>
                <a:gridCol w="888803">
                  <a:extLst>
                    <a:ext uri="{9D8B030D-6E8A-4147-A177-3AD203B41FA5}">
                      <a16:colId xmlns:a16="http://schemas.microsoft.com/office/drawing/2014/main" val="41804592"/>
                    </a:ext>
                  </a:extLst>
                </a:gridCol>
              </a:tblGrid>
              <a:tr h="532282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0" i="0" u="none" strike="noStrike">
                          <a:solidFill>
                            <a:srgbClr val="D40511"/>
                          </a:solidFill>
                          <a:effectLst/>
                          <a:latin typeface="DeutschePost-MedCn" panose="020B0500000000000000"/>
                        </a:rPr>
                        <a:t>FINANCIALS   PERFORMANCE (EUR)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FFFFFF"/>
                          </a:solidFill>
                          <a:effectLst/>
                          <a:latin typeface="DeutschePost-MedCn" panose="020B0500000000000000"/>
                        </a:rPr>
                        <a:t>TOTAL AR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FFFFFF"/>
                          </a:solidFill>
                          <a:effectLst/>
                          <a:latin typeface="DeutschePost-MedCn" panose="020B0500000000000000"/>
                        </a:rPr>
                        <a:t>CURRENT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FFFFFF"/>
                          </a:solidFill>
                          <a:effectLst/>
                          <a:latin typeface="DeutschePost-MedCn" panose="020B0500000000000000"/>
                        </a:rPr>
                        <a:t>OVERDUE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FFFFFF"/>
                          </a:solidFill>
                          <a:effectLst/>
                          <a:latin typeface="DeutschePost-MedCn" panose="020B0500000000000000"/>
                        </a:rPr>
                        <a:t>0-30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FFFFFF"/>
                          </a:solidFill>
                          <a:effectLst/>
                          <a:latin typeface="DeutschePost-MedCn" panose="020B0500000000000000"/>
                        </a:rPr>
                        <a:t>31-60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FFFFFF"/>
                          </a:solidFill>
                          <a:effectLst/>
                          <a:latin typeface="DeutschePost-MedCn" panose="020B0500000000000000"/>
                        </a:rPr>
                        <a:t>61-90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FFFFFF"/>
                          </a:solidFill>
                          <a:effectLst/>
                          <a:latin typeface="DeutschePost-MedCn" panose="020B0500000000000000"/>
                        </a:rPr>
                        <a:t>&gt;90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3293658"/>
                  </a:ext>
                </a:extLst>
              </a:tr>
              <a:tr h="286253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200" b="0" i="0" u="none" strike="noStrike">
                          <a:solidFill>
                            <a:srgbClr val="FFFFFF"/>
                          </a:solidFill>
                          <a:effectLst/>
                          <a:latin typeface="DeutschePost-MedCn" panose="020B0500000000000000"/>
                        </a:rPr>
                        <a:t>Duty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€ 288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€ 214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€ 72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€ 225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€ 0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€ 40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€ 23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0240566"/>
                  </a:ext>
                </a:extLst>
              </a:tr>
              <a:tr h="278318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200" b="0" i="0" u="none" strike="noStrike">
                          <a:solidFill>
                            <a:srgbClr val="FFFFFF"/>
                          </a:solidFill>
                          <a:effectLst/>
                          <a:latin typeface="DeutschePost-MedCn" panose="020B0500000000000000"/>
                        </a:rPr>
                        <a:t>Freight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€ 607,149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€ 534,435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€ 72,714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€ 255,699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€ 278,735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€ 31,300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€ 41,414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8871438"/>
                  </a:ext>
                </a:extLst>
              </a:tr>
              <a:tr h="224887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200" b="0" i="0" u="none" strike="noStrike">
                          <a:solidFill>
                            <a:srgbClr val="FFFFFF"/>
                          </a:solidFill>
                          <a:effectLst/>
                          <a:latin typeface="DeutschePost-MedCn" panose="020B0500000000000000"/>
                        </a:rPr>
                        <a:t>Sum 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€ 607,437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€ 534,649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€ 72,788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€ 255,924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€ 278,735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€ 31,340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€ 41,437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9261678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CDB51D11-CF7B-125F-12FA-E1FFEFE583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2492497"/>
              </p:ext>
            </p:extLst>
          </p:nvPr>
        </p:nvGraphicFramePr>
        <p:xfrm>
          <a:off x="7751894" y="1202484"/>
          <a:ext cx="3030615" cy="2059636"/>
        </p:xfrm>
        <a:graphic>
          <a:graphicData uri="http://schemas.openxmlformats.org/drawingml/2006/table">
            <a:tbl>
              <a:tblPr/>
              <a:tblGrid>
                <a:gridCol w="2096434">
                  <a:extLst>
                    <a:ext uri="{9D8B030D-6E8A-4147-A177-3AD203B41FA5}">
                      <a16:colId xmlns:a16="http://schemas.microsoft.com/office/drawing/2014/main" val="146551386"/>
                    </a:ext>
                  </a:extLst>
                </a:gridCol>
                <a:gridCol w="934181">
                  <a:extLst>
                    <a:ext uri="{9D8B030D-6E8A-4147-A177-3AD203B41FA5}">
                      <a16:colId xmlns:a16="http://schemas.microsoft.com/office/drawing/2014/main" val="219093228"/>
                    </a:ext>
                  </a:extLst>
                </a:gridCol>
              </a:tblGrid>
              <a:tr h="455245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900" b="1" i="0" u="none" strike="noStrike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Cash Forecasting/Payments Summary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DeutschePost-MedCn" panose="020B0500000000000000"/>
                        </a:rPr>
                        <a:t>EUR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5D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2471641"/>
                  </a:ext>
                </a:extLst>
              </a:tr>
              <a:tr h="406359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>
                          <a:solidFill>
                            <a:srgbClr val="FFFFFF"/>
                          </a:solidFill>
                          <a:effectLst/>
                          <a:latin typeface="DeutschePost-MedCn" panose="020B0500000000000000"/>
                        </a:rPr>
                        <a:t>Payments In House Pending Application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5D5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dirty="0">
                          <a:solidFill>
                            <a:srgbClr val="0070C0"/>
                          </a:solidFill>
                          <a:effectLst/>
                          <a:latin typeface="DeutschePost-MedCn" panose="020B0500000000000000"/>
                        </a:rPr>
                        <a:t>€</a:t>
                      </a:r>
                      <a:r>
                        <a:rPr lang="en-US" sz="1100" b="0" i="0" u="none" strike="noStrike" kern="1200" dirty="0">
                          <a:solidFill>
                            <a:srgbClr val="0070C0"/>
                          </a:solidFill>
                          <a:effectLst/>
                          <a:latin typeface="DeutschePost-MedCn" panose="020B0500000000000000"/>
                          <a:ea typeface="+mn-ea"/>
                          <a:cs typeface="+mn-cs"/>
                        </a:rPr>
                        <a:t> 28.4 k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7089969"/>
                  </a:ext>
                </a:extLst>
              </a:tr>
              <a:tr h="299508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>
                          <a:solidFill>
                            <a:srgbClr val="FFFFFF"/>
                          </a:solidFill>
                          <a:effectLst/>
                          <a:latin typeface="DeutschePost-MedCn" panose="020B0500000000000000"/>
                        </a:rPr>
                        <a:t>Expected payments by EOM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5D5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 dirty="0">
                          <a:solidFill>
                            <a:srgbClr val="0070C0"/>
                          </a:solidFill>
                          <a:effectLst/>
                          <a:latin typeface="DeutschePost-MedCn" panose="020B0500000000000000"/>
                        </a:rPr>
                        <a:t> € 12 </a:t>
                      </a:r>
                      <a:r>
                        <a:rPr lang="en-US" sz="1100" b="0" i="0" u="none" strike="noStrike" kern="1200" dirty="0">
                          <a:solidFill>
                            <a:srgbClr val="0070C0"/>
                          </a:solidFill>
                          <a:effectLst/>
                          <a:latin typeface="DeutschePost-MedCn" panose="020B0500000000000000"/>
                          <a:ea typeface="+mn-ea"/>
                          <a:cs typeface="+mn-cs"/>
                        </a:rPr>
                        <a:t>k 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5229682"/>
                  </a:ext>
                </a:extLst>
              </a:tr>
              <a:tr h="299508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>
                          <a:solidFill>
                            <a:srgbClr val="FFFFFF"/>
                          </a:solidFill>
                          <a:effectLst/>
                          <a:latin typeface="DeutschePost-MedCn" panose="020B0500000000000000"/>
                        </a:rPr>
                        <a:t>Forecasted Overdue EOM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5D5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 dirty="0">
                          <a:solidFill>
                            <a:srgbClr val="0070C0"/>
                          </a:solidFill>
                          <a:effectLst/>
                          <a:latin typeface="DeutschePost-MedCn" panose="020B0500000000000000"/>
                        </a:rPr>
                        <a:t> €</a:t>
                      </a:r>
                      <a:r>
                        <a:rPr lang="en-US" sz="1100" b="0" i="0" u="none" strike="noStrike" kern="1200" dirty="0">
                          <a:solidFill>
                            <a:srgbClr val="0070C0"/>
                          </a:solidFill>
                          <a:effectLst/>
                          <a:latin typeface="DeutschePost-MedCn" panose="020B0500000000000000"/>
                          <a:ea typeface="+mn-ea"/>
                          <a:cs typeface="+mn-cs"/>
                        </a:rPr>
                        <a:t> 32 K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276964"/>
                  </a:ext>
                </a:extLst>
              </a:tr>
              <a:tr h="299508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>
                          <a:solidFill>
                            <a:srgbClr val="FFFFFF"/>
                          </a:solidFill>
                          <a:effectLst/>
                          <a:latin typeface="DeutschePost-MedCn" panose="020B0500000000000000"/>
                        </a:rPr>
                        <a:t>Forecasted &gt;60 EOM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5D5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 dirty="0">
                          <a:solidFill>
                            <a:srgbClr val="0070C0"/>
                          </a:solidFill>
                          <a:effectLst/>
                          <a:latin typeface="DeutschePost-MedCn" panose="020B0500000000000000"/>
                        </a:rPr>
                        <a:t> € 3 k</a:t>
                      </a:r>
                      <a:endParaRPr lang="en-US" sz="1100" b="0" i="0" u="none" strike="noStrike" kern="1200" dirty="0">
                        <a:solidFill>
                          <a:srgbClr val="0070C0"/>
                        </a:solidFill>
                        <a:effectLst/>
                        <a:latin typeface="DeutschePost-MedCn" panose="020B0500000000000000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7928963"/>
                  </a:ext>
                </a:extLst>
              </a:tr>
              <a:tr h="299508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>
                          <a:solidFill>
                            <a:srgbClr val="FFFFFF"/>
                          </a:solidFill>
                          <a:effectLst/>
                          <a:latin typeface="DeutschePost-MedCn" panose="020B0500000000000000"/>
                        </a:rPr>
                        <a:t>Forecasted &gt;90 EOM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5D5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 dirty="0">
                          <a:solidFill>
                            <a:srgbClr val="0070C0"/>
                          </a:solidFill>
                          <a:effectLst/>
                          <a:latin typeface="DeutschePost-MedCn" panose="020B0500000000000000"/>
                        </a:rPr>
                        <a:t> € 40 k</a:t>
                      </a:r>
                      <a:endParaRPr lang="en-US" sz="1100" b="0" i="0" u="none" strike="noStrike" kern="1200" dirty="0">
                        <a:solidFill>
                          <a:srgbClr val="0070C0"/>
                        </a:solidFill>
                        <a:effectLst/>
                        <a:latin typeface="DeutschePost-MedCn" panose="020B0500000000000000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70830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755308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>
          <a:xfrm>
            <a:off x="1441622" y="176976"/>
            <a:ext cx="9701739" cy="814388"/>
          </a:xfrm>
        </p:spPr>
        <p:txBody>
          <a:bodyPr/>
          <a:lstStyle/>
          <a:p>
            <a:r>
              <a:rPr lang="en-US" sz="2800"/>
              <a:t>Hewlett Packard Inc. – net 35                  Go Live 9/01/19</a:t>
            </a:r>
          </a:p>
        </p:txBody>
      </p:sp>
      <p:pic>
        <p:nvPicPr>
          <p:cNvPr id="13" name="Picture 12" descr="Image result for hp incorporated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5430" y="388586"/>
            <a:ext cx="738654" cy="482682"/>
          </a:xfrm>
          <a:prstGeom prst="rect">
            <a:avLst/>
          </a:prstGeom>
          <a:noFill/>
          <a:ln w="3175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ounded Rectangle 13"/>
          <p:cNvSpPr/>
          <p:nvPr/>
        </p:nvSpPr>
        <p:spPr bwMode="auto">
          <a:xfrm>
            <a:off x="244958" y="957001"/>
            <a:ext cx="1574330" cy="623911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144000" tIns="144000" rIns="144000" bIns="14400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953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AMKAD POC:</a:t>
            </a:r>
          </a:p>
          <a:p>
            <a:pPr marL="0" marR="0" lvl="0" indent="0" algn="l" defTabSz="9953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400" b="0" i="1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Damaris Flores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64FFA5E-AA1D-F068-882A-6ED1682192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4633" y="957001"/>
            <a:ext cx="9555951" cy="251191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F325C47-F6F6-9011-90AC-654F8C6112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74633" y="3468910"/>
            <a:ext cx="9555951" cy="2538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07380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71AB578B-C7D9-4470-9AB7-AC85B587047A}"/>
              </a:ext>
            </a:extLst>
          </p:cNvPr>
          <p:cNvSpPr/>
          <p:nvPr/>
        </p:nvSpPr>
        <p:spPr bwMode="auto">
          <a:xfrm>
            <a:off x="7687997" y="1140926"/>
            <a:ext cx="3044952" cy="4005072"/>
          </a:xfrm>
          <a:prstGeom prst="rect">
            <a:avLst/>
          </a:prstGeom>
          <a:solidFill>
            <a:schemeClr val="accent6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44000" tIns="144000" rIns="144000" bIns="144000" numCol="1" rtlCol="0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algn="l" defTabSz="9953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DeutschePost-MedCn" panose="020B0500000000000000" pitchFamily="34" charset="0"/>
              <a:ea typeface="+mn-ea"/>
              <a:cs typeface="+mn-cs"/>
            </a:endParaRPr>
          </a:p>
          <a:p>
            <a:pPr marL="0" marR="0" lvl="0" indent="0" algn="l" defTabSz="9953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DeutschePost-MedCn" panose="020B0500000000000000" pitchFamily="34" charset="0"/>
              <a:ea typeface="+mn-ea"/>
              <a:cs typeface="+mn-cs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741135" y="368629"/>
            <a:ext cx="9163426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D40511"/>
                </a:solidFill>
                <a:effectLst/>
                <a:uLnTx/>
                <a:uFillTx/>
                <a:latin typeface="DeutschePost-MedCn" panose="020B0500000000000000" pitchFamily="34" charset="0"/>
                <a:ea typeface="MS PGothic" pitchFamily="34" charset="-128"/>
                <a:cs typeface="+mn-cs"/>
              </a:rPr>
              <a:t>HPI MX – ACCOUNT BUSINESS REVIEW    			Date: June 22</a:t>
            </a:r>
            <a:r>
              <a:rPr lang="en-US" b="1" dirty="0">
                <a:solidFill>
                  <a:srgbClr val="D40511"/>
                </a:solidFill>
                <a:latin typeface="DeutschePost-MedCn" panose="020B0500000000000000" pitchFamily="34" charset="0"/>
                <a:ea typeface="MS PGothic" pitchFamily="34" charset="-128"/>
              </a:rPr>
              <a:t>, 2026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D40511"/>
                </a:solidFill>
                <a:effectLst/>
                <a:uLnTx/>
                <a:uFillTx/>
                <a:latin typeface="DeutschePost-MedCn" panose="020B0500000000000000" pitchFamily="34" charset="0"/>
                <a:ea typeface="MS PGothic" pitchFamily="34" charset="-128"/>
                <a:cs typeface="+mn-cs"/>
              </a:rPr>
              <a:t>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D40511"/>
                </a:solidFill>
                <a:effectLst/>
                <a:uLnTx/>
                <a:uFillTx/>
                <a:latin typeface="DeutschePost-MedCn" panose="020B0500000000000000" pitchFamily="34" charset="0"/>
                <a:ea typeface="MS PGothic" pitchFamily="34" charset="-128"/>
                <a:cs typeface="+mn-cs"/>
              </a:rPr>
              <a:t>			</a:t>
            </a: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srgbClr val="D40511"/>
              </a:solidFill>
              <a:effectLst/>
              <a:uLnTx/>
              <a:uFillTx/>
              <a:latin typeface="DeutschePost-MedCn" panose="020B0500000000000000" pitchFamily="34" charset="0"/>
              <a:ea typeface="MS PGothic" pitchFamily="34" charset="-128"/>
              <a:cs typeface="+mn-cs"/>
            </a:endParaRPr>
          </a:p>
        </p:txBody>
      </p:sp>
      <p:sp>
        <p:nvSpPr>
          <p:cNvPr id="3" name="Rectangle 2"/>
          <p:cNvSpPr/>
          <p:nvPr/>
        </p:nvSpPr>
        <p:spPr bwMode="auto">
          <a:xfrm>
            <a:off x="1575271" y="1143464"/>
            <a:ext cx="3044952" cy="4008366"/>
          </a:xfrm>
          <a:prstGeom prst="rect">
            <a:avLst/>
          </a:prstGeom>
          <a:solidFill>
            <a:schemeClr val="accent6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44000" tIns="144000" rIns="144000" bIns="144000" numCol="1" rtlCol="0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algn="l" defTabSz="9953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DeutschePost-MedCn" panose="020B0500000000000000" pitchFamily="34" charset="0"/>
              <a:ea typeface="+mn-ea"/>
              <a:cs typeface="+mn-cs"/>
            </a:endParaRPr>
          </a:p>
        </p:txBody>
      </p:sp>
      <p:sp>
        <p:nvSpPr>
          <p:cNvPr id="5" name="Rectangle 4"/>
          <p:cNvSpPr/>
          <p:nvPr/>
        </p:nvSpPr>
        <p:spPr bwMode="auto">
          <a:xfrm>
            <a:off x="4622293" y="1157794"/>
            <a:ext cx="3044952" cy="4005072"/>
          </a:xfrm>
          <a:prstGeom prst="rect">
            <a:avLst/>
          </a:prstGeom>
          <a:solidFill>
            <a:schemeClr val="accent6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44000" tIns="144000" rIns="144000" bIns="144000" numCol="1" rtlCol="0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algn="l" defTabSz="9953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DeutschePost-MedCn" panose="020B0500000000000000" pitchFamily="34" charset="0"/>
              <a:ea typeface="+mn-ea"/>
              <a:cs typeface="+mn-cs"/>
            </a:endParaRPr>
          </a:p>
          <a:p>
            <a:pPr marL="0" marR="0" lvl="0" indent="0" algn="l" defTabSz="9953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DeutschePost-MedCn" panose="020B0500000000000000" pitchFamily="34" charset="0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 bwMode="auto">
          <a:xfrm>
            <a:off x="1577341" y="5145998"/>
            <a:ext cx="9134856" cy="1264787"/>
          </a:xfrm>
          <a:prstGeom prst="rect">
            <a:avLst/>
          </a:prstGeom>
          <a:solidFill>
            <a:schemeClr val="accent6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144000" tIns="144000" rIns="144000" bIns="1440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953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DeutschePost-MedCn" panose="020B0500000000000000" pitchFamily="34" charset="0"/>
              <a:ea typeface="+mn-ea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 bwMode="auto">
          <a:xfrm>
            <a:off x="1573346" y="896694"/>
            <a:ext cx="3044952" cy="250854"/>
          </a:xfrm>
          <a:prstGeom prst="rect">
            <a:avLst/>
          </a:prstGeom>
          <a:solidFill>
            <a:schemeClr val="accent3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144000" tIns="144000" rIns="144000" bIns="14400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953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D40511"/>
                </a:solidFill>
                <a:effectLst/>
                <a:uLnTx/>
                <a:uFillTx/>
                <a:latin typeface="DeutschePost-MedCn" panose="020B0500000000000000" pitchFamily="34" charset="0"/>
                <a:ea typeface="+mn-ea"/>
                <a:cs typeface="+mn-cs"/>
              </a:rPr>
              <a:t>MAIN ISSUES</a:t>
            </a:r>
          </a:p>
        </p:txBody>
      </p:sp>
      <p:sp>
        <p:nvSpPr>
          <p:cNvPr id="9" name="Rectangle 8"/>
          <p:cNvSpPr/>
          <p:nvPr/>
        </p:nvSpPr>
        <p:spPr bwMode="auto">
          <a:xfrm>
            <a:off x="4618298" y="899030"/>
            <a:ext cx="3044952" cy="250854"/>
          </a:xfrm>
          <a:prstGeom prst="rect">
            <a:avLst/>
          </a:prstGeom>
          <a:solidFill>
            <a:schemeClr val="accent3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144000" tIns="144000" rIns="144000" bIns="14400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953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D40511"/>
                </a:solidFill>
                <a:effectLst/>
                <a:uLnTx/>
                <a:uFillTx/>
                <a:latin typeface="DeutschePost-MedCn" panose="020B0500000000000000" pitchFamily="34" charset="0"/>
                <a:ea typeface="+mn-ea"/>
                <a:cs typeface="+mn-cs"/>
              </a:rPr>
              <a:t>CURRENT ACTIONS / SUPPORT NEEDED</a:t>
            </a:r>
          </a:p>
        </p:txBody>
      </p:sp>
      <p:sp>
        <p:nvSpPr>
          <p:cNvPr id="10" name="Rectangle 9"/>
          <p:cNvSpPr/>
          <p:nvPr/>
        </p:nvSpPr>
        <p:spPr bwMode="auto">
          <a:xfrm>
            <a:off x="7667245" y="896694"/>
            <a:ext cx="3044952" cy="250854"/>
          </a:xfrm>
          <a:prstGeom prst="rect">
            <a:avLst/>
          </a:prstGeom>
          <a:solidFill>
            <a:schemeClr val="accent3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144000" tIns="144000" rIns="144000" bIns="14400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953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D40511"/>
                </a:solidFill>
                <a:effectLst/>
                <a:uLnTx/>
                <a:uFillTx/>
                <a:latin typeface="DeutschePost-MedCn" panose="020B0500000000000000" pitchFamily="34" charset="0"/>
                <a:ea typeface="+mn-ea"/>
                <a:cs typeface="+mn-cs"/>
              </a:rPr>
              <a:t>PAYMENTS / EOM FORECASTING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15038" y="1159090"/>
            <a:ext cx="2836084" cy="23391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marR="0" lvl="0" indent="-171450" algn="l" defTabSz="9953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DeutschePost-MedCn" panose="020B0500000000000000"/>
              <a:ea typeface="+mn-ea"/>
              <a:cs typeface="Arial" panose="020B0604020202020204" pitchFamily="34" charset="0"/>
            </a:endParaRPr>
          </a:p>
          <a:p>
            <a:pPr marL="228600" marR="0" lvl="0" indent="-171450" algn="l" defTabSz="9953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sz="1000" dirty="0">
              <a:solidFill>
                <a:srgbClr val="000000"/>
              </a:solidFill>
              <a:latin typeface="DeutschePost-MedCn" panose="020B0500000000000000"/>
              <a:cs typeface="Arial" panose="020B0604020202020204" pitchFamily="34" charset="0"/>
            </a:endParaRPr>
          </a:p>
          <a:p>
            <a:pPr marL="228600" marR="0" lvl="0" indent="-171450" algn="l" defTabSz="9953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sz="1000" dirty="0">
              <a:solidFill>
                <a:srgbClr val="000000"/>
              </a:solidFill>
              <a:latin typeface="DeutschePost-MedCn" panose="020B0500000000000000"/>
              <a:cs typeface="Arial" panose="020B0604020202020204" pitchFamily="34" charset="0"/>
            </a:endParaRPr>
          </a:p>
          <a:p>
            <a:pPr marL="228600" marR="0" lvl="0" indent="-171450" algn="l" defTabSz="9953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sz="1000" dirty="0">
              <a:solidFill>
                <a:srgbClr val="000000"/>
              </a:solidFill>
              <a:latin typeface="DeutschePost-MedCn" panose="020B0500000000000000"/>
              <a:cs typeface="Arial" panose="020B0604020202020204" pitchFamily="34" charset="0"/>
            </a:endParaRPr>
          </a:p>
          <a:p>
            <a:pPr marL="228600" marR="0" lvl="0" indent="-171450" algn="l" defTabSz="9953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sz="1000" dirty="0">
              <a:solidFill>
                <a:srgbClr val="000000"/>
              </a:solidFill>
              <a:latin typeface="DeutschePost-MedCn" panose="020B0500000000000000"/>
              <a:cs typeface="Arial" panose="020B0604020202020204" pitchFamily="34" charset="0"/>
            </a:endParaRPr>
          </a:p>
          <a:p>
            <a:pPr marL="228600" marR="0" lvl="0" indent="-171450" algn="l" defTabSz="9953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sz="1000" dirty="0">
              <a:solidFill>
                <a:srgbClr val="000000"/>
              </a:solidFill>
              <a:latin typeface="DeutschePost-MedCn" panose="020B0500000000000000"/>
              <a:cs typeface="Arial" panose="020B0604020202020204" pitchFamily="34" charset="0"/>
            </a:endParaRPr>
          </a:p>
          <a:p>
            <a:pPr marL="228600" indent="-171450" defTabSz="995363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endParaRPr lang="en-US" sz="1100" dirty="0">
              <a:solidFill>
                <a:srgbClr val="000000"/>
              </a:solidFill>
              <a:latin typeface="DeutschePost-MedCn" panose="020B0500000000000000"/>
              <a:cs typeface="Arial" panose="020B0604020202020204" pitchFamily="34" charset="0"/>
            </a:endParaRPr>
          </a:p>
          <a:p>
            <a:pPr marL="285750" indent="-228600" defTabSz="995363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  <a:defRPr/>
            </a:pPr>
            <a:r>
              <a:rPr lang="en-US" sz="1100" dirty="0">
                <a:solidFill>
                  <a:srgbClr val="000000"/>
                </a:solidFill>
                <a:latin typeface="DeutschePost-MedCn" panose="020B0500000000000000"/>
                <a:cs typeface="Arial" panose="020B0604020202020204" pitchFamily="34" charset="0"/>
              </a:rPr>
              <a:t>Slight delay on approval for a few invoices but no other issues found</a:t>
            </a:r>
          </a:p>
          <a:p>
            <a:pPr marL="285750" indent="-228600" defTabSz="995363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  <a:defRPr/>
            </a:pPr>
            <a:endParaRPr lang="en-US" sz="1100" dirty="0">
              <a:solidFill>
                <a:srgbClr val="000000"/>
              </a:solidFill>
              <a:latin typeface="DeutschePost-MedCn" panose="020B0500000000000000"/>
              <a:cs typeface="Arial" panose="020B0604020202020204" pitchFamily="34" charset="0"/>
            </a:endParaRPr>
          </a:p>
          <a:p>
            <a:pPr marL="285750" marR="0" lvl="0" indent="-228600" algn="l" defTabSz="9953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  <a:defRPr/>
            </a:pPr>
            <a:endParaRPr lang="en-US" sz="1100" dirty="0">
              <a:solidFill>
                <a:srgbClr val="000000"/>
              </a:solidFill>
              <a:latin typeface="DeutschePost-MedCn" panose="020B0500000000000000"/>
              <a:cs typeface="Arial" panose="020B0604020202020204" pitchFamily="34" charset="0"/>
            </a:endParaRPr>
          </a:p>
          <a:p>
            <a:pPr marL="57150" marR="0" lvl="0" algn="l" defTabSz="9953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endParaRPr lang="en-US" sz="1100" dirty="0">
              <a:solidFill>
                <a:srgbClr val="000000"/>
              </a:solidFill>
              <a:latin typeface="DeutschePost-MedCn" panose="020B0500000000000000"/>
              <a:cs typeface="Arial" panose="020B0604020202020204" pitchFamily="34" charset="0"/>
            </a:endParaRPr>
          </a:p>
          <a:p>
            <a:pPr marL="228600" marR="0" lvl="0" indent="-171450" algn="l" defTabSz="9953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sz="1100" dirty="0">
              <a:solidFill>
                <a:srgbClr val="000000"/>
              </a:solidFill>
              <a:latin typeface="DeutschePost-MedCn" panose="020B0500000000000000"/>
              <a:cs typeface="Arial" panose="020B0604020202020204" pitchFamily="34" charset="0"/>
            </a:endParaRPr>
          </a:p>
          <a:p>
            <a:pPr marL="57150" marR="0" lvl="0" algn="l" defTabSz="9953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endParaRPr lang="en-US" sz="1100" dirty="0">
              <a:solidFill>
                <a:srgbClr val="000000"/>
              </a:solidFill>
              <a:latin typeface="DeutschePost-MedCn" panose="020B0500000000000000"/>
              <a:cs typeface="Arial" panose="020B0604020202020204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566615" y="1155459"/>
            <a:ext cx="3026936" cy="486287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endParaRPr lang="en-US" sz="1100" dirty="0">
              <a:latin typeface="DeutschePost-MedCn"/>
              <a:cs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100" b="1" dirty="0">
                <a:solidFill>
                  <a:srgbClr val="000000"/>
                </a:solidFill>
                <a:latin typeface="DeutschePost-MedCn" panose="020B0500000000000000"/>
                <a:cs typeface="Arial" panose="020B0604020202020204" pitchFamily="34" charset="0"/>
              </a:rPr>
              <a:t>OPEN AR:  115,668 EUR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100" b="1" dirty="0">
                <a:solidFill>
                  <a:srgbClr val="000000"/>
                </a:solidFill>
                <a:latin typeface="DeutschePost-MedCn" panose="020B0500000000000000"/>
                <a:cs typeface="Arial" panose="020B0604020202020204" pitchFamily="34" charset="0"/>
              </a:rPr>
              <a:t>PAST DUE :  24,301 EUR</a:t>
            </a:r>
          </a:p>
          <a:p>
            <a:pPr lvl="0">
              <a:defRPr/>
            </a:pPr>
            <a:r>
              <a:rPr lang="en-US" sz="1100" b="1" dirty="0">
                <a:solidFill>
                  <a:srgbClr val="000000"/>
                </a:solidFill>
                <a:latin typeface="DeutschePost-MedCn" panose="020B0500000000000000"/>
                <a:cs typeface="Arial" panose="020B0604020202020204" pitchFamily="34" charset="0"/>
              </a:rPr>
              <a:t>TOTAL &gt;90 : 51 EUR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100" dirty="0">
              <a:solidFill>
                <a:srgbClr val="000000"/>
              </a:solidFill>
              <a:latin typeface="DeutschePost-MedCn" panose="020B0500000000000000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100" dirty="0">
              <a:solidFill>
                <a:srgbClr val="000000"/>
              </a:solidFill>
              <a:latin typeface="DeutschePost-MedCn" panose="020B0500000000000000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100" dirty="0">
              <a:solidFill>
                <a:srgbClr val="000000"/>
              </a:solidFill>
              <a:latin typeface="DeutschePost-MedCn" panose="020B0500000000000000"/>
              <a:cs typeface="Arial" panose="020B0604020202020204" pitchFamily="34" charset="0"/>
            </a:endParaRPr>
          </a:p>
          <a:p>
            <a:pPr marL="342900" indent="-342900">
              <a:buFont typeface="+mj-lt"/>
              <a:buAutoNum type="arabicPeriod"/>
              <a:defRPr/>
            </a:pPr>
            <a:r>
              <a:rPr lang="en-US" sz="1100" dirty="0">
                <a:solidFill>
                  <a:srgbClr val="000000"/>
                </a:solidFill>
                <a:latin typeface="DeutschePost-MedCn" panose="020B0500000000000000"/>
                <a:cs typeface="Arial" panose="020B0604020202020204" pitchFamily="34" charset="0"/>
              </a:rPr>
              <a:t>No pending open issues.    </a:t>
            </a:r>
          </a:p>
          <a:p>
            <a:pPr>
              <a:defRPr/>
            </a:pPr>
            <a:endParaRPr lang="en-US" sz="1100" dirty="0">
              <a:solidFill>
                <a:srgbClr val="000000"/>
              </a:solidFill>
              <a:latin typeface="DeutschePost-MedCn" panose="020B0500000000000000"/>
              <a:cs typeface="Arial" panose="020B0604020202020204" pitchFamily="34" charset="0"/>
            </a:endParaRPr>
          </a:p>
          <a:p>
            <a:pPr marL="342900" indent="-342900">
              <a:buFont typeface="+mj-lt"/>
              <a:buAutoNum type="arabicPeriod"/>
              <a:defRPr/>
            </a:pPr>
            <a:endParaRPr lang="en-US" sz="1100" dirty="0">
              <a:solidFill>
                <a:srgbClr val="000000"/>
              </a:solidFill>
              <a:latin typeface="DeutschePost-MedCn" panose="020B0500000000000000"/>
              <a:cs typeface="Arial" panose="020B0604020202020204" pitchFamily="34" charset="0"/>
            </a:endParaRPr>
          </a:p>
          <a:p>
            <a:pPr marL="228600" indent="-228600">
              <a:buFont typeface="+mj-lt"/>
              <a:buAutoNum type="arabicPeriod"/>
              <a:defRPr/>
            </a:pPr>
            <a:endParaRPr lang="en-US" sz="1100" dirty="0">
              <a:solidFill>
                <a:srgbClr val="000000"/>
              </a:solidFill>
              <a:latin typeface="DeutschePost-MedCn" panose="020B0500000000000000"/>
              <a:cs typeface="Arial" panose="020B0604020202020204" pitchFamily="34" charset="0"/>
            </a:endParaRPr>
          </a:p>
          <a:p>
            <a:pPr marL="228600" indent="-228600">
              <a:buFont typeface="+mj-lt"/>
              <a:buAutoNum type="arabicPeriod"/>
              <a:defRPr/>
            </a:pPr>
            <a:endParaRPr lang="en-US" sz="1100" dirty="0">
              <a:solidFill>
                <a:srgbClr val="000000"/>
              </a:solidFill>
              <a:latin typeface="DeutschePost-MedCn" panose="020B0500000000000000"/>
              <a:cs typeface="Arial" panose="020B0604020202020204" pitchFamily="34" charset="0"/>
            </a:endParaRPr>
          </a:p>
          <a:p>
            <a:pPr marL="342900" indent="-342900">
              <a:buFont typeface="+mj-lt"/>
              <a:buAutoNum type="arabicPeriod"/>
              <a:defRPr/>
            </a:pPr>
            <a:endParaRPr lang="en-US" sz="1100" dirty="0">
              <a:solidFill>
                <a:srgbClr val="000000"/>
              </a:solidFill>
              <a:latin typeface="DeutschePost-MedCn" panose="020B0500000000000000"/>
              <a:cs typeface="Arial" panose="020B0604020202020204" pitchFamily="34" charset="0"/>
            </a:endParaRPr>
          </a:p>
          <a:p>
            <a:pPr marL="342900" indent="-342900">
              <a:buFont typeface="+mj-lt"/>
              <a:buAutoNum type="arabicPeriod"/>
              <a:defRPr/>
            </a:pPr>
            <a:endParaRPr lang="en-US" sz="1100" dirty="0">
              <a:solidFill>
                <a:srgbClr val="000000"/>
              </a:solidFill>
              <a:latin typeface="DeutschePost-MedCn" panose="020B0500000000000000"/>
              <a:cs typeface="Arial" panose="020B0604020202020204" pitchFamily="34" charset="0"/>
            </a:endParaRPr>
          </a:p>
          <a:p>
            <a:pPr>
              <a:defRPr/>
            </a:pPr>
            <a:r>
              <a:rPr lang="en-US" sz="1100" dirty="0">
                <a:solidFill>
                  <a:srgbClr val="000000"/>
                </a:solidFill>
                <a:latin typeface="DeutschePost-MedCn" panose="020B0500000000000000"/>
                <a:cs typeface="Arial" panose="020B0604020202020204" pitchFamily="34" charset="0"/>
              </a:rPr>
              <a:t>***Approved for payment PD 22.7 K</a:t>
            </a:r>
          </a:p>
          <a:p>
            <a:pPr marL="342900" indent="-342900">
              <a:buAutoNum type="arabicPeriod"/>
              <a:defRPr/>
            </a:pPr>
            <a:endParaRPr lang="en-US" sz="1100" dirty="0">
              <a:solidFill>
                <a:srgbClr val="000000"/>
              </a:solidFill>
              <a:latin typeface="DeutschePost-MedCn" panose="020B0500000000000000"/>
              <a:cs typeface="Arial" panose="020B0604020202020204" pitchFamily="34" charset="0"/>
            </a:endParaRPr>
          </a:p>
          <a:p>
            <a:pPr>
              <a:defRPr/>
            </a:pPr>
            <a:r>
              <a:rPr lang="en-US" sz="1100" dirty="0">
                <a:solidFill>
                  <a:srgbClr val="000000"/>
                </a:solidFill>
                <a:latin typeface="DeutschePost-MedCn" panose="020B0500000000000000"/>
                <a:cs typeface="Arial" panose="020B0604020202020204" pitchFamily="34" charset="0"/>
              </a:rPr>
              <a:t>***Payments Received PD  1.1 k</a:t>
            </a:r>
          </a:p>
          <a:p>
            <a:pPr marL="342900" indent="-342900">
              <a:buFont typeface="+mj-lt"/>
              <a:buAutoNum type="arabicPeriod"/>
              <a:defRPr/>
            </a:pPr>
            <a:endParaRPr lang="en-US" sz="1100" dirty="0">
              <a:solidFill>
                <a:srgbClr val="000000"/>
              </a:solidFill>
              <a:latin typeface="DeutschePost-MedCn" panose="020B0500000000000000"/>
              <a:cs typeface="Arial" panose="020B0604020202020204" pitchFamily="34" charset="0"/>
            </a:endParaRPr>
          </a:p>
          <a:p>
            <a:pPr marL="342900" indent="-342900">
              <a:buFont typeface="+mj-lt"/>
              <a:buAutoNum type="arabicPeriod"/>
              <a:defRPr/>
            </a:pPr>
            <a:endParaRPr lang="en-US" sz="1100" dirty="0">
              <a:solidFill>
                <a:srgbClr val="000000"/>
              </a:solidFill>
              <a:latin typeface="DeutschePost-MedCn" panose="020B0500000000000000"/>
              <a:cs typeface="Arial" panose="020B0604020202020204" pitchFamily="34" charset="0"/>
            </a:endParaRPr>
          </a:p>
          <a:p>
            <a:pPr marL="342900" indent="-342900">
              <a:buFont typeface="+mj-lt"/>
              <a:buAutoNum type="arabicPeriod"/>
              <a:defRPr/>
            </a:pPr>
            <a:endParaRPr lang="en-US" sz="1100" dirty="0">
              <a:solidFill>
                <a:srgbClr val="000000"/>
              </a:solidFill>
              <a:latin typeface="DeutschePost-MedCn" panose="020B0500000000000000"/>
              <a:cs typeface="Arial" panose="020B0604020202020204" pitchFamily="34" charset="0"/>
            </a:endParaRPr>
          </a:p>
          <a:p>
            <a:pPr marL="342900" indent="-342900">
              <a:buFont typeface="+mj-lt"/>
              <a:buAutoNum type="arabicPeriod"/>
              <a:defRPr/>
            </a:pPr>
            <a:endParaRPr lang="en-US" sz="1100" dirty="0">
              <a:solidFill>
                <a:srgbClr val="000000"/>
              </a:solidFill>
              <a:latin typeface="DeutschePost-MedCn" panose="020B0500000000000000"/>
              <a:cs typeface="Arial" panose="020B0604020202020204" pitchFamily="34" charset="0"/>
            </a:endParaRPr>
          </a:p>
          <a:p>
            <a:pPr marL="342900" indent="-342900">
              <a:buFont typeface="+mj-lt"/>
              <a:buAutoNum type="arabicPeriod"/>
              <a:defRPr/>
            </a:pPr>
            <a:endParaRPr lang="en-US" sz="1100" dirty="0">
              <a:solidFill>
                <a:srgbClr val="000000"/>
              </a:solidFill>
              <a:latin typeface="DeutschePost-MedCn" panose="020B0500000000000000"/>
              <a:cs typeface="Arial" panose="020B0604020202020204" pitchFamily="34" charset="0"/>
            </a:endParaRPr>
          </a:p>
          <a:p>
            <a:pPr marL="342900" indent="-342900">
              <a:buFont typeface="+mj-lt"/>
              <a:buAutoNum type="arabicPeriod"/>
              <a:defRPr/>
            </a:pPr>
            <a:endParaRPr lang="en-US" sz="1100" dirty="0">
              <a:solidFill>
                <a:srgbClr val="000000"/>
              </a:solidFill>
              <a:latin typeface="DeutschePost-MedCn" panose="020B0500000000000000"/>
              <a:cs typeface="Arial" panose="020B0604020202020204" pitchFamily="34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endParaRPr lang="en-US" sz="1100" dirty="0">
              <a:solidFill>
                <a:srgbClr val="0070C0"/>
              </a:solidFill>
              <a:ea typeface="Times New Roman" panose="02020603050405020304" pitchFamily="18" charset="0"/>
            </a:endParaRPr>
          </a:p>
          <a:p>
            <a:pPr marL="628650" marR="0" lvl="1" indent="-171450" algn="l" defTabSz="9953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sz="1100" dirty="0">
              <a:solidFill>
                <a:srgbClr val="000000"/>
              </a:solidFill>
              <a:latin typeface="DeutschePost-MedCn" panose="020B0500000000000000"/>
              <a:cs typeface="Arial" panose="020B0604020202020204" pitchFamily="34" charset="0"/>
            </a:endParaRPr>
          </a:p>
          <a:p>
            <a:pPr marR="0" lvl="1" algn="l" defTabSz="9953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endParaRPr lang="en-US" sz="800" dirty="0">
              <a:solidFill>
                <a:srgbClr val="000000"/>
              </a:solidFill>
              <a:latin typeface="DeutschePost-MedCn" panose="020B0500000000000000"/>
              <a:cs typeface="Arial" panose="020B0604020202020204" pitchFamily="34" charset="0"/>
            </a:endParaRPr>
          </a:p>
          <a:p>
            <a:pPr marL="628650" marR="0" lvl="1" indent="-171450" algn="l" defTabSz="9953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DeutschePost-MedCn" panose="020B0500000000000000"/>
              <a:ea typeface="+mn-ea"/>
              <a:cs typeface="Arial" panose="020B0604020202020204" pitchFamily="34" charset="0"/>
            </a:endParaRPr>
          </a:p>
          <a:p>
            <a:pPr marL="457200" marR="0" lvl="1" indent="0" algn="l" defTabSz="9953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DeutschePost-MedCn" panose="020B0500000000000000"/>
              <a:ea typeface="+mn-ea"/>
              <a:cs typeface="Arial" panose="020B0604020202020204" pitchFamily="34" charset="0"/>
            </a:endParaRPr>
          </a:p>
        </p:txBody>
      </p:sp>
      <p:graphicFrame>
        <p:nvGraphicFramePr>
          <p:cNvPr id="26" name="Table 2">
            <a:extLst>
              <a:ext uri="{FF2B5EF4-FFF2-40B4-BE49-F238E27FC236}">
                <a16:creationId xmlns:a16="http://schemas.microsoft.com/office/drawing/2014/main" id="{38EB74B1-F40D-455C-BB6F-7BB315B19F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4649636"/>
              </p:ext>
            </p:extLst>
          </p:nvPr>
        </p:nvGraphicFramePr>
        <p:xfrm>
          <a:off x="1573347" y="5196537"/>
          <a:ext cx="9149577" cy="119689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35787">
                  <a:extLst>
                    <a:ext uri="{9D8B030D-6E8A-4147-A177-3AD203B41FA5}">
                      <a16:colId xmlns:a16="http://schemas.microsoft.com/office/drawing/2014/main" val="1964466101"/>
                    </a:ext>
                  </a:extLst>
                </a:gridCol>
                <a:gridCol w="1180097">
                  <a:extLst>
                    <a:ext uri="{9D8B030D-6E8A-4147-A177-3AD203B41FA5}">
                      <a16:colId xmlns:a16="http://schemas.microsoft.com/office/drawing/2014/main" val="297800777"/>
                    </a:ext>
                  </a:extLst>
                </a:gridCol>
                <a:gridCol w="1090246">
                  <a:extLst>
                    <a:ext uri="{9D8B030D-6E8A-4147-A177-3AD203B41FA5}">
                      <a16:colId xmlns:a16="http://schemas.microsoft.com/office/drawing/2014/main" val="1405881941"/>
                    </a:ext>
                  </a:extLst>
                </a:gridCol>
                <a:gridCol w="1113692">
                  <a:extLst>
                    <a:ext uri="{9D8B030D-6E8A-4147-A177-3AD203B41FA5}">
                      <a16:colId xmlns:a16="http://schemas.microsoft.com/office/drawing/2014/main" val="891237971"/>
                    </a:ext>
                  </a:extLst>
                </a:gridCol>
                <a:gridCol w="1055077">
                  <a:extLst>
                    <a:ext uri="{9D8B030D-6E8A-4147-A177-3AD203B41FA5}">
                      <a16:colId xmlns:a16="http://schemas.microsoft.com/office/drawing/2014/main" val="3244589021"/>
                    </a:ext>
                  </a:extLst>
                </a:gridCol>
                <a:gridCol w="1078523">
                  <a:extLst>
                    <a:ext uri="{9D8B030D-6E8A-4147-A177-3AD203B41FA5}">
                      <a16:colId xmlns:a16="http://schemas.microsoft.com/office/drawing/2014/main" val="3298471804"/>
                    </a:ext>
                  </a:extLst>
                </a:gridCol>
                <a:gridCol w="879231">
                  <a:extLst>
                    <a:ext uri="{9D8B030D-6E8A-4147-A177-3AD203B41FA5}">
                      <a16:colId xmlns:a16="http://schemas.microsoft.com/office/drawing/2014/main" val="269003807"/>
                    </a:ext>
                  </a:extLst>
                </a:gridCol>
                <a:gridCol w="816924">
                  <a:extLst>
                    <a:ext uri="{9D8B030D-6E8A-4147-A177-3AD203B41FA5}">
                      <a16:colId xmlns:a16="http://schemas.microsoft.com/office/drawing/2014/main" val="316874134"/>
                    </a:ext>
                  </a:extLst>
                </a:gridCol>
              </a:tblGrid>
              <a:tr h="419659">
                <a:tc>
                  <a:txBody>
                    <a:bodyPr/>
                    <a:lstStyle/>
                    <a:p>
                      <a:pPr algn="ctr"/>
                      <a:r>
                        <a:rPr lang="en-US" sz="1100" b="0">
                          <a:solidFill>
                            <a:schemeClr val="accent4"/>
                          </a:solidFill>
                          <a:latin typeface="DeutschePost-MedCn" panose="020B0500000000000000"/>
                        </a:rPr>
                        <a:t>FINANCIALS PERFORMANCE</a:t>
                      </a:r>
                    </a:p>
                  </a:txBody>
                  <a:tcPr marL="45720" marR="45720" anchor="ctr"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>
                          <a:solidFill>
                            <a:schemeClr val="bg1"/>
                          </a:solidFill>
                          <a:latin typeface="DeutschePost-MedCn" panose="020B0500000000000000"/>
                        </a:rPr>
                        <a:t>Total AR</a:t>
                      </a:r>
                    </a:p>
                  </a:txBody>
                  <a:tcPr marL="45720" marR="45720" anchor="ctr">
                    <a:solidFill>
                      <a:srgbClr val="5C5D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>
                          <a:solidFill>
                            <a:schemeClr val="bg1"/>
                          </a:solidFill>
                          <a:latin typeface="DeutschePost-MedCn" panose="020B0500000000000000"/>
                        </a:rPr>
                        <a:t>Current</a:t>
                      </a:r>
                    </a:p>
                  </a:txBody>
                  <a:tcPr marL="45720" marR="45720" anchor="ctr">
                    <a:solidFill>
                      <a:srgbClr val="5C5D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>
                          <a:solidFill>
                            <a:schemeClr val="bg1"/>
                          </a:solidFill>
                          <a:latin typeface="DeutschePost-MedCn" panose="020B0500000000000000"/>
                        </a:rPr>
                        <a:t>Overdue</a:t>
                      </a:r>
                    </a:p>
                  </a:txBody>
                  <a:tcPr marL="45720" marR="45720" anchor="ctr">
                    <a:solidFill>
                      <a:srgbClr val="5C5D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>
                          <a:solidFill>
                            <a:schemeClr val="bg1"/>
                          </a:solidFill>
                          <a:latin typeface="DeutschePost-MedCn" panose="020B0500000000000000"/>
                        </a:rPr>
                        <a:t>0-30</a:t>
                      </a:r>
                    </a:p>
                  </a:txBody>
                  <a:tcPr marL="45720" marR="45720" anchor="ctr">
                    <a:solidFill>
                      <a:srgbClr val="5C5D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>
                          <a:solidFill>
                            <a:schemeClr val="bg1"/>
                          </a:solidFill>
                          <a:latin typeface="DeutschePost-MedCn" panose="020B0500000000000000"/>
                        </a:rPr>
                        <a:t>31-60</a:t>
                      </a:r>
                    </a:p>
                  </a:txBody>
                  <a:tcPr marL="45720" marR="45720" anchor="ctr">
                    <a:solidFill>
                      <a:srgbClr val="5C5D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>
                          <a:solidFill>
                            <a:schemeClr val="bg1"/>
                          </a:solidFill>
                          <a:latin typeface="DeutschePost-MedCn" panose="020B0500000000000000"/>
                        </a:rPr>
                        <a:t>61-90</a:t>
                      </a:r>
                    </a:p>
                  </a:txBody>
                  <a:tcPr marL="45720" marR="45720" anchor="ctr">
                    <a:solidFill>
                      <a:srgbClr val="5C5D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>
                          <a:solidFill>
                            <a:schemeClr val="bg1"/>
                          </a:solidFill>
                          <a:latin typeface="DeutschePost-MedCn" panose="020B0500000000000000"/>
                        </a:rPr>
                        <a:t>&gt;90</a:t>
                      </a:r>
                    </a:p>
                  </a:txBody>
                  <a:tcPr marL="45720" marR="45720" anchor="ctr">
                    <a:solidFill>
                      <a:srgbClr val="5C5D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6647626"/>
                  </a:ext>
                </a:extLst>
              </a:tr>
              <a:tr h="247788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FFFFFF"/>
                          </a:solidFill>
                          <a:effectLst/>
                          <a:latin typeface="DeutschePost-MedCn" panose="020B0500000000000000"/>
                        </a:rPr>
                        <a:t>Duty</a:t>
                      </a:r>
                    </a:p>
                  </a:txBody>
                  <a:tcPr marL="45720" marR="45720" anchor="ctr">
                    <a:solidFill>
                      <a:srgbClr val="5C5D5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€ 0 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€ 0  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€ 0    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€ 0   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€ 0     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€ 0  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€ 0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201058046"/>
                  </a:ext>
                </a:extLst>
              </a:tr>
              <a:tr h="247788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FFFFFF"/>
                          </a:solidFill>
                          <a:effectLst/>
                          <a:latin typeface="DeutschePost-MedCn" panose="020B0500000000000000"/>
                        </a:rPr>
                        <a:t>Freight</a:t>
                      </a:r>
                    </a:p>
                  </a:txBody>
                  <a:tcPr marL="45720" marR="45720" anchor="ctr">
                    <a:solidFill>
                      <a:srgbClr val="5C5D5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€ 115,668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€ 91,367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€ 24,301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€ 65,990  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€ 48,791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€ 835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€ 51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064511495"/>
                  </a:ext>
                </a:extLst>
              </a:tr>
              <a:tr h="18200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FFFFFF"/>
                          </a:solidFill>
                          <a:effectLst/>
                          <a:latin typeface="DeutschePost-MedCn" panose="020B0500000000000000"/>
                        </a:rPr>
                        <a:t>Total</a:t>
                      </a:r>
                    </a:p>
                  </a:txBody>
                  <a:tcPr marL="45720" marR="45720" anchor="ctr">
                    <a:solidFill>
                      <a:srgbClr val="5C5D5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€ 115,668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€ 91,367 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€ 24,301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€ 65,990  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€ 48,791 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€ 835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€ 51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99777603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67B31F5-2D3A-0702-4631-56B6E0F7EA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5112990"/>
              </p:ext>
            </p:extLst>
          </p:nvPr>
        </p:nvGraphicFramePr>
        <p:xfrm>
          <a:off x="7687997" y="1192255"/>
          <a:ext cx="3044951" cy="1491423"/>
        </p:xfrm>
        <a:graphic>
          <a:graphicData uri="http://schemas.openxmlformats.org/drawingml/2006/table">
            <a:tbl>
              <a:tblPr/>
              <a:tblGrid>
                <a:gridCol w="2261602">
                  <a:extLst>
                    <a:ext uri="{9D8B030D-6E8A-4147-A177-3AD203B41FA5}">
                      <a16:colId xmlns:a16="http://schemas.microsoft.com/office/drawing/2014/main" val="1846450647"/>
                    </a:ext>
                  </a:extLst>
                </a:gridCol>
                <a:gridCol w="783349">
                  <a:extLst>
                    <a:ext uri="{9D8B030D-6E8A-4147-A177-3AD203B41FA5}">
                      <a16:colId xmlns:a16="http://schemas.microsoft.com/office/drawing/2014/main" val="2387316505"/>
                    </a:ext>
                  </a:extLst>
                </a:gridCol>
              </a:tblGrid>
              <a:tr h="314729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>
                          <a:solidFill>
                            <a:srgbClr val="0000FF"/>
                          </a:solidFill>
                          <a:effectLst/>
                          <a:latin typeface="DeutschePost-MedCn" panose="020B0500000000000000"/>
                        </a:rPr>
                        <a:t>Cash Forecasting / Payments Summary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>
                          <a:solidFill>
                            <a:srgbClr val="0000FF"/>
                          </a:solidFill>
                          <a:effectLst/>
                          <a:latin typeface="DeutschePost-MedCn" panose="020B0500000000000000"/>
                        </a:rPr>
                        <a:t>EUR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2887930"/>
                  </a:ext>
                </a:extLst>
              </a:tr>
              <a:tr h="36221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>
                          <a:solidFill>
                            <a:srgbClr val="FFFFFF"/>
                          </a:solidFill>
                          <a:effectLst/>
                          <a:latin typeface="DeutschePost-MedCn" panose="020B0500000000000000"/>
                        </a:rPr>
                        <a:t>Payments In House Pending Application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dirty="0">
                          <a:solidFill>
                            <a:srgbClr val="0070C0"/>
                          </a:solidFill>
                          <a:effectLst/>
                          <a:latin typeface="DeutschePost-MedCn" panose="020B0500000000000000"/>
                        </a:rPr>
                        <a:t>     € 1.1 K   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2425116"/>
                  </a:ext>
                </a:extLst>
              </a:tr>
              <a:tr h="203621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>
                          <a:solidFill>
                            <a:srgbClr val="FFFFFF"/>
                          </a:solidFill>
                          <a:effectLst/>
                          <a:latin typeface="DeutschePost-MedCn" panose="020B0500000000000000"/>
                        </a:rPr>
                        <a:t>Expected payments EOM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100" b="0" i="0" u="none" strike="noStrike" dirty="0">
                          <a:solidFill>
                            <a:srgbClr val="0070C0"/>
                          </a:solidFill>
                          <a:effectLst/>
                          <a:latin typeface="DeutschePost-MedCn" panose="020B0500000000000000"/>
                        </a:rPr>
                        <a:t> € 22.7 K </a:t>
                      </a:r>
                      <a:r>
                        <a:rPr lang="en-US" sz="1100" b="0" i="0" u="none" strike="noStrike" dirty="0">
                          <a:solidFill>
                            <a:srgbClr val="0000FF"/>
                          </a:solidFill>
                          <a:effectLst/>
                          <a:latin typeface="DeutschePost-MedCn" panose="020B0500000000000000"/>
                        </a:rPr>
                        <a:t>   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7096826"/>
                  </a:ext>
                </a:extLst>
              </a:tr>
              <a:tr h="203621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>
                          <a:solidFill>
                            <a:srgbClr val="FFFFFF"/>
                          </a:solidFill>
                          <a:effectLst/>
                          <a:latin typeface="DeutschePost-MedCn" panose="020B0500000000000000"/>
                        </a:rPr>
                        <a:t>Forecasted Overdue EOM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100" b="0" i="0" u="none" strike="noStrike" dirty="0">
                          <a:solidFill>
                            <a:srgbClr val="0000FF"/>
                          </a:solidFill>
                          <a:effectLst/>
                          <a:latin typeface="DeutschePost-MedCn" panose="020B0500000000000000"/>
                        </a:rPr>
                        <a:t>           </a:t>
                      </a:r>
                      <a:r>
                        <a:rPr lang="en-US" sz="1100" b="0" i="0" u="none" strike="noStrike" dirty="0">
                          <a:solidFill>
                            <a:srgbClr val="0070C0"/>
                          </a:solidFill>
                          <a:effectLst/>
                          <a:latin typeface="DeutschePost-MedCn" panose="020B0500000000000000"/>
                        </a:rPr>
                        <a:t>€ 458</a:t>
                      </a:r>
                      <a:r>
                        <a:rPr lang="en-US" sz="1100" b="0" i="0" u="none" strike="noStrike" dirty="0">
                          <a:solidFill>
                            <a:srgbClr val="0000FF"/>
                          </a:solidFill>
                          <a:effectLst/>
                          <a:latin typeface="DeutschePost-MedCn" panose="020B0500000000000000"/>
                        </a:rPr>
                        <a:t> 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882916"/>
                  </a:ext>
                </a:extLst>
              </a:tr>
              <a:tr h="203621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>
                          <a:solidFill>
                            <a:srgbClr val="FFFFFF"/>
                          </a:solidFill>
                          <a:effectLst/>
                          <a:latin typeface="DeutschePost-MedCn" panose="020B0500000000000000"/>
                        </a:rPr>
                        <a:t>Forecasted &gt;60 EOM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100" b="0" i="0" u="none" strike="noStrike" dirty="0">
                          <a:solidFill>
                            <a:srgbClr val="0000FF"/>
                          </a:solidFill>
                          <a:effectLst/>
                          <a:latin typeface="DeutschePost-MedCn" panose="020B0500000000000000"/>
                        </a:rPr>
                        <a:t>  </a:t>
                      </a:r>
                      <a:r>
                        <a:rPr lang="en-US" sz="1100" b="0" i="0" u="none" strike="noStrike" dirty="0">
                          <a:solidFill>
                            <a:srgbClr val="0070C0"/>
                          </a:solidFill>
                          <a:effectLst/>
                          <a:latin typeface="DeutschePost-MedCn" panose="020B0500000000000000"/>
                        </a:rPr>
                        <a:t> € 146</a:t>
                      </a:r>
                      <a:r>
                        <a:rPr lang="en-US" sz="1100" b="0" i="0" u="none" strike="noStrike" dirty="0">
                          <a:solidFill>
                            <a:srgbClr val="0000FF"/>
                          </a:solidFill>
                          <a:effectLst/>
                          <a:latin typeface="DeutschePost-MedCn" panose="020B0500000000000000"/>
                        </a:rPr>
                        <a:t>  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2658117"/>
                  </a:ext>
                </a:extLst>
              </a:tr>
              <a:tr h="203621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>
                          <a:solidFill>
                            <a:srgbClr val="FFFFFF"/>
                          </a:solidFill>
                          <a:effectLst/>
                          <a:latin typeface="DeutschePost-MedCn" panose="020B0500000000000000"/>
                        </a:rPr>
                        <a:t>Forecasted &gt;90 EOM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100" b="0" i="0" u="none" strike="noStrike" dirty="0">
                          <a:solidFill>
                            <a:srgbClr val="0000FF"/>
                          </a:solidFill>
                          <a:effectLst/>
                          <a:latin typeface="DeutschePost-MedCn" panose="020B0500000000000000"/>
                        </a:rPr>
                        <a:t>          </a:t>
                      </a:r>
                      <a:r>
                        <a:rPr lang="en-US" sz="1100" b="0" i="0" u="none" strike="noStrike" dirty="0">
                          <a:solidFill>
                            <a:srgbClr val="0070C0"/>
                          </a:solidFill>
                          <a:effectLst/>
                          <a:latin typeface="DeutschePost-MedCn" panose="020B0500000000000000"/>
                        </a:rPr>
                        <a:t> € 135</a:t>
                      </a:r>
                      <a:r>
                        <a:rPr lang="en-US" sz="1100" b="0" i="0" u="none" strike="noStrike" dirty="0">
                          <a:solidFill>
                            <a:srgbClr val="0000FF"/>
                          </a:solidFill>
                          <a:effectLst/>
                          <a:latin typeface="DeutschePost-MedCn" panose="020B0500000000000000"/>
                        </a:rPr>
                        <a:t>  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67772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249584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sz="2800"/>
              <a:t>Hewlett Packard Ent. – net 35              Go Live 05/2020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1610" y="324807"/>
            <a:ext cx="804742" cy="566977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 bwMode="auto">
          <a:xfrm>
            <a:off x="159480" y="957002"/>
            <a:ext cx="1574330" cy="623911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144000" tIns="144000" rIns="144000" bIns="144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953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400">
                <a:latin typeface="Arial" charset="0"/>
              </a:rPr>
              <a:t>AMKAD POC:</a:t>
            </a:r>
          </a:p>
          <a:p>
            <a:pPr marL="0" marR="0" indent="0" algn="l" defTabSz="9953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MX" sz="1400" i="1">
                <a:solidFill>
                  <a:srgbClr val="0070C0"/>
                </a:solidFill>
                <a:latin typeface="Arial" charset="0"/>
              </a:rPr>
              <a:t>Shay Eyeoyibo</a:t>
            </a:r>
            <a:endParaRPr kumimoji="0" lang="es-MX" sz="1400" b="0" i="1" u="none" strike="noStrike" cap="none" normalizeH="0" baseline="0">
              <a:ln>
                <a:noFill/>
              </a:ln>
              <a:solidFill>
                <a:srgbClr val="0070C0"/>
              </a:solidFill>
              <a:effectLst/>
              <a:latin typeface="Arial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E8D9B5B-BFD8-35FC-658C-E927F9B027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7730" y="1000148"/>
            <a:ext cx="9444828" cy="252986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25E1EFB-9927-EC80-3F69-B1F4DB1E47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37730" y="3530013"/>
            <a:ext cx="9444828" cy="2513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1834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 bwMode="auto">
          <a:xfrm>
            <a:off x="7717601" y="1147548"/>
            <a:ext cx="2845820" cy="3824923"/>
          </a:xfrm>
          <a:prstGeom prst="rect">
            <a:avLst/>
          </a:prstGeom>
          <a:solidFill>
            <a:schemeClr val="accent6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44000" tIns="144000" rIns="144000" bIns="144000" numCol="1" rtlCol="0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algn="l" defTabSz="9953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DeutschePost-MedCn" panose="020B0500000000000000" pitchFamily="34" charset="0"/>
              <a:ea typeface="+mn-ea"/>
              <a:cs typeface="+mn-cs"/>
            </a:endParaRPr>
          </a:p>
          <a:p>
            <a:pPr marL="0" marR="0" lvl="0" indent="0" algn="l" defTabSz="9953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DeutschePost-MedCn" panose="020B0500000000000000" pitchFamily="34" charset="0"/>
              <a:ea typeface="+mn-ea"/>
              <a:cs typeface="+mn-cs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566615" y="359136"/>
            <a:ext cx="89968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D40511"/>
                </a:solidFill>
                <a:effectLst/>
                <a:uLnTx/>
                <a:uFillTx/>
                <a:latin typeface="DeutschePost-MedCn" panose="020B0500000000000000" pitchFamily="34" charset="0"/>
                <a:ea typeface="MS PGothic" pitchFamily="34" charset="-128"/>
                <a:cs typeface="+mn-cs"/>
              </a:rPr>
              <a:t>HPE MX – </a:t>
            </a: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D40511"/>
                </a:solidFill>
                <a:effectLst/>
                <a:uLnTx/>
                <a:uFillTx/>
                <a:latin typeface="DeutschePost-MedCn" panose="020B0500000000000000" pitchFamily="34" charset="0"/>
                <a:ea typeface="MS PGothic" pitchFamily="34" charset="-128"/>
                <a:cs typeface="+mn-cs"/>
              </a:rPr>
              <a:t>ACCOUNT BUSINESS REVIEW 			</a:t>
            </a: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D40511"/>
                </a:solidFill>
                <a:effectLst/>
                <a:uLnTx/>
                <a:uFillTx/>
                <a:latin typeface="DeutschePost-MedCn" panose="020B0500000000000000" pitchFamily="34" charset="0"/>
                <a:ea typeface="MS PGothic" pitchFamily="34" charset="-128"/>
                <a:cs typeface="+mn-cs"/>
              </a:rPr>
              <a:t> Date: 6/16/2026</a:t>
            </a:r>
          </a:p>
        </p:txBody>
      </p:sp>
      <p:sp>
        <p:nvSpPr>
          <p:cNvPr id="3" name="Rectangle 2"/>
          <p:cNvSpPr/>
          <p:nvPr/>
        </p:nvSpPr>
        <p:spPr bwMode="auto">
          <a:xfrm>
            <a:off x="1577341" y="1137172"/>
            <a:ext cx="3141308" cy="3828875"/>
          </a:xfrm>
          <a:prstGeom prst="rect">
            <a:avLst/>
          </a:prstGeom>
          <a:solidFill>
            <a:schemeClr val="accent6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44000" tIns="144000" rIns="144000" bIns="144000" numCol="1" rtlCol="0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algn="l" defTabSz="9953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DeutschePost-MedCn" panose="020B0500000000000000" pitchFamily="34" charset="0"/>
              <a:ea typeface="+mn-ea"/>
              <a:cs typeface="+mn-cs"/>
            </a:endParaRPr>
          </a:p>
        </p:txBody>
      </p:sp>
      <p:sp>
        <p:nvSpPr>
          <p:cNvPr id="5" name="Rectangle 4"/>
          <p:cNvSpPr/>
          <p:nvPr/>
        </p:nvSpPr>
        <p:spPr bwMode="auto">
          <a:xfrm>
            <a:off x="4735046" y="1157927"/>
            <a:ext cx="2966157" cy="3808120"/>
          </a:xfrm>
          <a:prstGeom prst="rect">
            <a:avLst/>
          </a:prstGeom>
          <a:solidFill>
            <a:schemeClr val="accent6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44000" tIns="144000" rIns="144000" bIns="144000" numCol="1" rtlCol="0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algn="l" defTabSz="9953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DeutschePost-MedCn" panose="020B0500000000000000" pitchFamily="34" charset="0"/>
              <a:ea typeface="+mn-ea"/>
              <a:cs typeface="+mn-cs"/>
            </a:endParaRPr>
          </a:p>
          <a:p>
            <a:pPr marL="0" marR="0" lvl="0" indent="0" algn="l" defTabSz="9953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DeutschePost-MedCn" panose="020B0500000000000000" pitchFamily="34" charset="0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 bwMode="auto">
          <a:xfrm>
            <a:off x="1577341" y="4966048"/>
            <a:ext cx="8991524" cy="1444738"/>
          </a:xfrm>
          <a:prstGeom prst="rect">
            <a:avLst/>
          </a:prstGeom>
          <a:solidFill>
            <a:schemeClr val="accent6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144000" tIns="144000" rIns="144000" bIns="1440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953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DeutschePost-MedCn" panose="020B0500000000000000" pitchFamily="34" charset="0"/>
              <a:ea typeface="+mn-ea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 bwMode="auto">
          <a:xfrm>
            <a:off x="1570625" y="900649"/>
            <a:ext cx="3145157" cy="250854"/>
          </a:xfrm>
          <a:prstGeom prst="rect">
            <a:avLst/>
          </a:prstGeom>
          <a:solidFill>
            <a:schemeClr val="accent3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144000" tIns="144000" rIns="144000" bIns="14400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953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D40511"/>
                </a:solidFill>
                <a:effectLst/>
                <a:uLnTx/>
                <a:uFillTx/>
                <a:latin typeface="DeutschePost-MedCn" panose="020B0500000000000000" pitchFamily="34" charset="0"/>
                <a:ea typeface="+mn-ea"/>
                <a:cs typeface="+mn-cs"/>
              </a:rPr>
              <a:t>MAIN ISSUES</a:t>
            </a:r>
          </a:p>
        </p:txBody>
      </p:sp>
      <p:sp>
        <p:nvSpPr>
          <p:cNvPr id="9" name="Rectangle 8"/>
          <p:cNvSpPr/>
          <p:nvPr/>
        </p:nvSpPr>
        <p:spPr bwMode="auto">
          <a:xfrm>
            <a:off x="4739736" y="900649"/>
            <a:ext cx="2961468" cy="250854"/>
          </a:xfrm>
          <a:prstGeom prst="rect">
            <a:avLst/>
          </a:prstGeom>
          <a:solidFill>
            <a:schemeClr val="accent3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144000" tIns="144000" rIns="144000" bIns="14400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953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D40511"/>
                </a:solidFill>
                <a:effectLst/>
                <a:uLnTx/>
                <a:uFillTx/>
                <a:latin typeface="DeutschePost-MedCn" panose="020B0500000000000000" pitchFamily="34" charset="0"/>
                <a:ea typeface="+mn-ea"/>
                <a:cs typeface="+mn-cs"/>
              </a:rPr>
              <a:t>CURRENT ACTIONS / SUPPORT NEEDED</a:t>
            </a:r>
          </a:p>
        </p:txBody>
      </p:sp>
      <p:sp>
        <p:nvSpPr>
          <p:cNvPr id="10" name="Rectangle 9"/>
          <p:cNvSpPr/>
          <p:nvPr/>
        </p:nvSpPr>
        <p:spPr bwMode="auto">
          <a:xfrm>
            <a:off x="7732630" y="896694"/>
            <a:ext cx="2830790" cy="250854"/>
          </a:xfrm>
          <a:prstGeom prst="rect">
            <a:avLst/>
          </a:prstGeom>
          <a:solidFill>
            <a:schemeClr val="accent3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144000" tIns="144000" rIns="144000" bIns="14400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953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D40511"/>
                </a:solidFill>
                <a:effectLst/>
                <a:uLnTx/>
                <a:uFillTx/>
                <a:latin typeface="DeutschePost-MedCn" panose="020B0500000000000000" pitchFamily="34" charset="0"/>
                <a:ea typeface="+mn-ea"/>
                <a:cs typeface="+mn-cs"/>
              </a:rPr>
              <a:t>PAYMENTS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35045" y="1244389"/>
            <a:ext cx="2966157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marR="0" lvl="0" indent="-171450" algn="l" defTabSz="9953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eutschePost-MedCn" panose="020B0500000000000000" pitchFamily="34" charset="0"/>
                <a:ea typeface="+mn-ea"/>
                <a:cs typeface="+mn-cs"/>
              </a:rPr>
              <a:t>Payment Received Pending Application,  €11k  &gt; 90 impact €2.4k .</a:t>
            </a:r>
          </a:p>
          <a:p>
            <a:pPr marL="228600" marR="0" lvl="0" indent="-171450" algn="l" defTabSz="9953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DeutschePost-MedCn" panose="020B0500000000000000" pitchFamily="34" charset="0"/>
              <a:ea typeface="+mn-ea"/>
              <a:cs typeface="+mn-cs"/>
            </a:endParaRPr>
          </a:p>
          <a:p>
            <a:pPr marL="57150" marR="0" lvl="0" indent="0" algn="l" defTabSz="9953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eutschePost-MedCn" panose="020B0500000000000000" pitchFamily="34" charset="0"/>
                <a:ea typeface="+mn-ea"/>
                <a:cs typeface="+mn-cs"/>
              </a:rPr>
              <a:t>HPE PO Ariba FRT - 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eutschePost-MedCn" panose="020B0500000000000000" pitchFamily="34" charset="0"/>
                <a:ea typeface="+mn-ea"/>
                <a:cs typeface="+mn-cs"/>
              </a:rPr>
              <a:t>Pending Invoice Status: €3K &gt; 90 €3k. Provided customer with SOA and working on payment status.</a:t>
            </a:r>
          </a:p>
          <a:p>
            <a:pPr marL="57150" marR="0" lvl="0" indent="0" algn="l" defTabSz="9953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DeutschePost-MedCn" panose="020B0500000000000000" pitchFamily="34" charset="0"/>
              <a:ea typeface="+mn-ea"/>
              <a:cs typeface="+mn-cs"/>
            </a:endParaRPr>
          </a:p>
          <a:p>
            <a:pPr marL="685800" marR="0" lvl="1" indent="-171450" algn="l" defTabSz="9953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DeutschePost-MedCn" panose="020B0500000000000000" pitchFamily="34" charset="0"/>
                <a:ea typeface="+mn-ea"/>
                <a:cs typeface="+mn-cs"/>
              </a:rPr>
              <a:t>DHL</a:t>
            </a: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eutschePost-MedCn" panose="020B0500000000000000" pitchFamily="34" charset="0"/>
                <a:ea typeface="+mn-ea"/>
                <a:cs typeface="+mn-cs"/>
              </a:rPr>
              <a:t>: 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eutschePost-MedCn" panose="020B0500000000000000" pitchFamily="34" charset="0"/>
                <a:ea typeface="+mn-ea"/>
                <a:cs typeface="+mn-cs"/>
              </a:rPr>
              <a:t>Require assistance with payment application</a:t>
            </a:r>
          </a:p>
          <a:p>
            <a:pPr marL="685800" marR="0" lvl="1" indent="-171450" algn="l" defTabSz="9953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DeutschePost-MedCn" panose="020B0500000000000000" pitchFamily="34" charset="0"/>
              <a:ea typeface="+mn-ea"/>
              <a:cs typeface="+mn-cs"/>
            </a:endParaRPr>
          </a:p>
          <a:p>
            <a:pPr marL="685800" marR="0" lvl="1" indent="-171450" algn="l" defTabSz="9953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eutschePost-MedCn" panose="020B0500000000000000" pitchFamily="34" charset="0"/>
                <a:ea typeface="+mn-ea"/>
                <a:cs typeface="+mn-cs"/>
              </a:rPr>
              <a:t>UAC: Continued WIP with Cash to apply payments.</a:t>
            </a:r>
          </a:p>
          <a:p>
            <a:pPr marL="685800" marR="0" lvl="1" indent="-171450" algn="l" defTabSz="9953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DeutschePost-MedCn" panose="020B0500000000000000" pitchFamily="34" charset="0"/>
              <a:ea typeface="+mn-ea"/>
              <a:cs typeface="+mn-cs"/>
            </a:endParaRPr>
          </a:p>
          <a:p>
            <a:pPr marL="57150" marR="0" lvl="0" indent="0" algn="l" defTabSz="9953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566616" y="1168288"/>
            <a:ext cx="3168431" cy="11849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marR="0" lvl="0" indent="-228600" algn="l" defTabSz="9953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HPE  MX</a:t>
            </a:r>
          </a:p>
          <a:p>
            <a:pPr marL="457200" marR="0" lvl="1" indent="0" algn="l" defTabSz="9953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TTL AR:  </a:t>
            </a: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€61K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457200" marR="0" lvl="1" indent="0" algn="l" defTabSz="9953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PD: </a:t>
            </a: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€37K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6666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457200" marR="0" lvl="1" indent="0" algn="l" defTabSz="9953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EOM &gt;90</a:t>
            </a: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: €20K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628650" marR="0" lvl="1" indent="-171450" algn="l" defTabSz="9953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457200" marR="0" lvl="1" indent="0" algn="l" defTabSz="9953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628650" marR="0" lvl="1" indent="-171450" algn="l" defTabSz="9953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DeutschePost-MedCn" panose="020B0500000000000000" pitchFamily="34" charset="0"/>
              <a:ea typeface="+mn-ea"/>
              <a:cs typeface="+mn-cs"/>
            </a:endParaRPr>
          </a:p>
          <a:p>
            <a:pPr marL="457200" marR="0" lvl="1" indent="0" algn="l" defTabSz="9953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2EC1554-C000-F311-6B95-AC2942A31490}"/>
              </a:ext>
            </a:extLst>
          </p:cNvPr>
          <p:cNvGraphicFramePr>
            <a:graphicFrameLocks noGrp="1"/>
          </p:cNvGraphicFramePr>
          <p:nvPr/>
        </p:nvGraphicFramePr>
        <p:xfrm>
          <a:off x="1577340" y="4960427"/>
          <a:ext cx="8986079" cy="1448692"/>
        </p:xfrm>
        <a:graphic>
          <a:graphicData uri="http://schemas.openxmlformats.org/drawingml/2006/table">
            <a:tbl>
              <a:tblPr/>
              <a:tblGrid>
                <a:gridCol w="2348783">
                  <a:extLst>
                    <a:ext uri="{9D8B030D-6E8A-4147-A177-3AD203B41FA5}">
                      <a16:colId xmlns:a16="http://schemas.microsoft.com/office/drawing/2014/main" val="1332086851"/>
                    </a:ext>
                  </a:extLst>
                </a:gridCol>
                <a:gridCol w="1161197">
                  <a:extLst>
                    <a:ext uri="{9D8B030D-6E8A-4147-A177-3AD203B41FA5}">
                      <a16:colId xmlns:a16="http://schemas.microsoft.com/office/drawing/2014/main" val="846566043"/>
                    </a:ext>
                  </a:extLst>
                </a:gridCol>
                <a:gridCol w="989657">
                  <a:extLst>
                    <a:ext uri="{9D8B030D-6E8A-4147-A177-3AD203B41FA5}">
                      <a16:colId xmlns:a16="http://schemas.microsoft.com/office/drawing/2014/main" val="533250894"/>
                    </a:ext>
                  </a:extLst>
                </a:gridCol>
                <a:gridCol w="897288">
                  <a:extLst>
                    <a:ext uri="{9D8B030D-6E8A-4147-A177-3AD203B41FA5}">
                      <a16:colId xmlns:a16="http://schemas.microsoft.com/office/drawing/2014/main" val="2133618482"/>
                    </a:ext>
                  </a:extLst>
                </a:gridCol>
                <a:gridCol w="989657">
                  <a:extLst>
                    <a:ext uri="{9D8B030D-6E8A-4147-A177-3AD203B41FA5}">
                      <a16:colId xmlns:a16="http://schemas.microsoft.com/office/drawing/2014/main" val="609552570"/>
                    </a:ext>
                  </a:extLst>
                </a:gridCol>
                <a:gridCol w="989657">
                  <a:extLst>
                    <a:ext uri="{9D8B030D-6E8A-4147-A177-3AD203B41FA5}">
                      <a16:colId xmlns:a16="http://schemas.microsoft.com/office/drawing/2014/main" val="497591631"/>
                    </a:ext>
                  </a:extLst>
                </a:gridCol>
                <a:gridCol w="804920">
                  <a:extLst>
                    <a:ext uri="{9D8B030D-6E8A-4147-A177-3AD203B41FA5}">
                      <a16:colId xmlns:a16="http://schemas.microsoft.com/office/drawing/2014/main" val="772962368"/>
                    </a:ext>
                  </a:extLst>
                </a:gridCol>
                <a:gridCol w="804920">
                  <a:extLst>
                    <a:ext uri="{9D8B030D-6E8A-4147-A177-3AD203B41FA5}">
                      <a16:colId xmlns:a16="http://schemas.microsoft.com/office/drawing/2014/main" val="1466060582"/>
                    </a:ext>
                  </a:extLst>
                </a:gridCol>
              </a:tblGrid>
              <a:tr h="362173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D40511"/>
                          </a:solidFill>
                          <a:effectLst/>
                          <a:latin typeface="DeutschePost-MedCn" panose="020B0500000000000000"/>
                        </a:rPr>
                        <a:t>FINANCIALS PERFORMANCE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FFFFFF"/>
                          </a:solidFill>
                          <a:effectLst/>
                          <a:latin typeface="DeutschePost-MedCn" panose="020B0500000000000000"/>
                        </a:rPr>
                        <a:t>Total AR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5D5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FFFFFF"/>
                          </a:solidFill>
                          <a:effectLst/>
                          <a:latin typeface="DeutschePost-MedCn" panose="020B0500000000000000"/>
                        </a:rPr>
                        <a:t>Current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5D5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FFFFFF"/>
                          </a:solidFill>
                          <a:effectLst/>
                          <a:latin typeface="DeutschePost-MedCn" panose="020B0500000000000000"/>
                        </a:rPr>
                        <a:t>Overdue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5D5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FFFFFF"/>
                          </a:solidFill>
                          <a:effectLst/>
                          <a:latin typeface="DeutschePost-MedCn" panose="020B0500000000000000"/>
                        </a:rPr>
                        <a:t>0-30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5D5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FFFFFF"/>
                          </a:solidFill>
                          <a:effectLst/>
                          <a:latin typeface="DeutschePost-MedCn" panose="020B0500000000000000"/>
                        </a:rPr>
                        <a:t>31-60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5D5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FFFFFF"/>
                          </a:solidFill>
                          <a:effectLst/>
                          <a:latin typeface="DeutschePost-MedCn" panose="020B0500000000000000"/>
                        </a:rPr>
                        <a:t>61-90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5D5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FFFFFF"/>
                          </a:solidFill>
                          <a:effectLst/>
                          <a:latin typeface="DeutschePost-MedCn" panose="020B0500000000000000"/>
                        </a:rPr>
                        <a:t>&gt; 90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5D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5059545"/>
                  </a:ext>
                </a:extLst>
              </a:tr>
              <a:tr h="362173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900" b="0" i="0" u="none" strike="noStrike">
                          <a:solidFill>
                            <a:srgbClr val="FFFFFF"/>
                          </a:solidFill>
                          <a:effectLst/>
                          <a:latin typeface="DeutschePost-MedCn" panose="020B0500000000000000"/>
                        </a:rPr>
                        <a:t>Duty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5D5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DeutschePost-MedCn" panose="020B0500000000000000"/>
                        </a:rPr>
                        <a:t>€ 495.83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DeutschePost-MedCn" panose="020B0500000000000000"/>
                        </a:rPr>
                        <a:t>€ 0.00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DeutschePost-MedCn" panose="020B0500000000000000"/>
                        </a:rPr>
                        <a:t>€ 495.83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DeutschePost-MedCn" panose="020B0500000000000000"/>
                        </a:rPr>
                        <a:t>€ 281.38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DeutschePost-MedCn" panose="020B0500000000000000"/>
                        </a:rPr>
                        <a:t>€ 214.45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DeutschePost-MedCn" panose="020B0500000000000000"/>
                        </a:rPr>
                        <a:t>€ 0.00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DeutschePost-MedCn" panose="020B0500000000000000"/>
                        </a:rPr>
                        <a:t>€ 0.00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4232412"/>
                  </a:ext>
                </a:extLst>
              </a:tr>
              <a:tr h="362173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900" b="0" i="0" u="none" strike="noStrike">
                          <a:solidFill>
                            <a:srgbClr val="FFFFFF"/>
                          </a:solidFill>
                          <a:effectLst/>
                          <a:latin typeface="DeutschePost-MedCn" panose="020B0500000000000000"/>
                        </a:rPr>
                        <a:t>Freight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5D5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DeutschePost-MedCn" panose="020B0500000000000000"/>
                        </a:rPr>
                        <a:t>€ 60,929.63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DeutschePost-MedCn" panose="020B0500000000000000"/>
                        </a:rPr>
                        <a:t>€ 24,138.37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DeutschePost-MedCn" panose="020B0500000000000000"/>
                        </a:rPr>
                        <a:t>€ 36,791.26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DeutschePost-MedCn" panose="020B0500000000000000"/>
                        </a:rPr>
                        <a:t>€ 24,076.79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DeutschePost-MedCn" panose="020B0500000000000000"/>
                        </a:rPr>
                        <a:t>€ 12,347.19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DeutschePost-MedCn" panose="020B0500000000000000"/>
                        </a:rPr>
                        <a:t>€ 5,082.78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DeutschePost-MedCn" panose="020B0500000000000000"/>
                        </a:rPr>
                        <a:t>€ 19,422.87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6868863"/>
                  </a:ext>
                </a:extLst>
              </a:tr>
              <a:tr h="362173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900" b="0" i="0" u="none" strike="noStrike">
                          <a:solidFill>
                            <a:srgbClr val="FFFFFF"/>
                          </a:solidFill>
                          <a:effectLst/>
                          <a:latin typeface="DeutschePost-MedCn" panose="020B0500000000000000"/>
                        </a:rPr>
                        <a:t>Summary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5D5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DeutschePost-MedCn" panose="020B0500000000000000"/>
                        </a:rPr>
                        <a:t>€ 61,425.45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DeutschePost-MedCn" panose="020B0500000000000000"/>
                        </a:rPr>
                        <a:t>€ 24,138.37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DeutschePost-MedCn" panose="020B0500000000000000"/>
                        </a:rPr>
                        <a:t>€ 37,287.09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DeutschePost-MedCn" panose="020B0500000000000000"/>
                        </a:rPr>
                        <a:t>€ 24,358.17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DeutschePost-MedCn" panose="020B0500000000000000"/>
                        </a:rPr>
                        <a:t>€ 12,561.64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DeutschePost-MedCn" panose="020B0500000000000000"/>
                        </a:rPr>
                        <a:t>€ 5,082.78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DeutschePost-MedCn" panose="020B0500000000000000"/>
                        </a:rPr>
                        <a:t>€ 19,422.87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8713164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3B2DA265-3A8F-D9C7-D799-407C30D46605}"/>
              </a:ext>
            </a:extLst>
          </p:cNvPr>
          <p:cNvGraphicFramePr>
            <a:graphicFrameLocks noGrp="1"/>
          </p:cNvGraphicFramePr>
          <p:nvPr/>
        </p:nvGraphicFramePr>
        <p:xfrm>
          <a:off x="7733999" y="1147548"/>
          <a:ext cx="2845819" cy="1365362"/>
        </p:xfrm>
        <a:graphic>
          <a:graphicData uri="http://schemas.openxmlformats.org/drawingml/2006/table">
            <a:tbl>
              <a:tblPr/>
              <a:tblGrid>
                <a:gridCol w="2113699">
                  <a:extLst>
                    <a:ext uri="{9D8B030D-6E8A-4147-A177-3AD203B41FA5}">
                      <a16:colId xmlns:a16="http://schemas.microsoft.com/office/drawing/2014/main" val="1846450647"/>
                    </a:ext>
                  </a:extLst>
                </a:gridCol>
                <a:gridCol w="732120">
                  <a:extLst>
                    <a:ext uri="{9D8B030D-6E8A-4147-A177-3AD203B41FA5}">
                      <a16:colId xmlns:a16="http://schemas.microsoft.com/office/drawing/2014/main" val="2387316505"/>
                    </a:ext>
                  </a:extLst>
                </a:gridCol>
              </a:tblGrid>
              <a:tr h="288127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900" b="0" i="0" u="none" strike="noStrike">
                          <a:solidFill>
                            <a:srgbClr val="0000FF"/>
                          </a:solidFill>
                          <a:effectLst/>
                          <a:latin typeface="DeutschePost-MedCn" panose="020B0500000000000000"/>
                        </a:rPr>
                        <a:t>Cash Forecasting / Payments Summary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900" b="0" i="0" u="none" strike="noStrike">
                          <a:solidFill>
                            <a:srgbClr val="0000FF"/>
                          </a:solidFill>
                          <a:effectLst/>
                          <a:latin typeface="DeutschePost-MedCn" panose="020B0500000000000000"/>
                        </a:rPr>
                        <a:t>EUR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2887930"/>
                  </a:ext>
                </a:extLst>
              </a:tr>
              <a:tr h="331595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900" b="0" i="0" u="none" strike="noStrike">
                          <a:solidFill>
                            <a:srgbClr val="FFFFFF"/>
                          </a:solidFill>
                          <a:effectLst/>
                          <a:latin typeface="DeutschePost-MedCn" panose="020B0500000000000000"/>
                        </a:rPr>
                        <a:t>Payments In House Pending Application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900" b="1" i="0" u="none" strike="noStrike">
                          <a:solidFill>
                            <a:srgbClr val="0000FF"/>
                          </a:solidFill>
                          <a:effectLst/>
                          <a:latin typeface="DeutschePost-MedCn" panose="020B0500000000000000"/>
                        </a:rPr>
                        <a:t>11k </a:t>
                      </a:r>
                      <a:r>
                        <a:rPr lang="en-US" sz="900" b="0" i="0" u="none" strike="noStrike">
                          <a:solidFill>
                            <a:srgbClr val="0000FF"/>
                          </a:solidFill>
                          <a:effectLst/>
                          <a:latin typeface="DeutschePost-MedCn" panose="020B0500000000000000"/>
                        </a:rPr>
                        <a:t>                      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2425116"/>
                  </a:ext>
                </a:extLst>
              </a:tr>
              <a:tr h="18641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900" b="0" i="0" u="none" strike="noStrike">
                          <a:solidFill>
                            <a:srgbClr val="FFFFFF"/>
                          </a:solidFill>
                          <a:effectLst/>
                          <a:latin typeface="DeutschePost-MedCn" panose="020B0500000000000000"/>
                        </a:rPr>
                        <a:t>Expected payments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900" b="0" i="0" u="none" strike="noStrike">
                          <a:solidFill>
                            <a:srgbClr val="0000FF"/>
                          </a:solidFill>
                          <a:effectLst/>
                          <a:latin typeface="DeutschePost-MedCn" panose="020B0500000000000000"/>
                        </a:rPr>
                        <a:t>4k                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7096826"/>
                  </a:ext>
                </a:extLst>
              </a:tr>
              <a:tr h="18641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900" b="0" i="0" u="none" strike="noStrike">
                          <a:solidFill>
                            <a:srgbClr val="FFFFFF"/>
                          </a:solidFill>
                          <a:effectLst/>
                          <a:latin typeface="DeutschePost-MedCn" panose="020B0500000000000000"/>
                        </a:rPr>
                        <a:t>Forecasted Overdue EOM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900" b="0" i="0" u="none" strike="noStrike">
                          <a:solidFill>
                            <a:srgbClr val="0000FF"/>
                          </a:solidFill>
                          <a:effectLst/>
                          <a:latin typeface="DeutschePost-MedCn" panose="020B0500000000000000"/>
                        </a:rPr>
                        <a:t>20K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882916"/>
                  </a:ext>
                </a:extLst>
              </a:tr>
              <a:tr h="18641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900" b="0" i="0" u="none" strike="noStrike">
                          <a:solidFill>
                            <a:srgbClr val="FFFFFF"/>
                          </a:solidFill>
                          <a:effectLst/>
                          <a:latin typeface="DeutschePost-MedCn" panose="020B0500000000000000"/>
                        </a:rPr>
                        <a:t>Forecasted &gt;60 EOM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900" b="0" i="0" u="none" strike="noStrike">
                          <a:solidFill>
                            <a:srgbClr val="0000FF"/>
                          </a:solidFill>
                          <a:effectLst/>
                          <a:latin typeface="DeutschePost-MedCn" panose="020B0500000000000000"/>
                        </a:rPr>
                        <a:t>14K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2658117"/>
                  </a:ext>
                </a:extLst>
              </a:tr>
              <a:tr h="18641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900" b="0" i="0" u="none" strike="noStrike">
                          <a:solidFill>
                            <a:srgbClr val="FFFFFF"/>
                          </a:solidFill>
                          <a:effectLst/>
                          <a:latin typeface="DeutschePost-MedCn" panose="020B0500000000000000"/>
                        </a:rPr>
                        <a:t>Forecasted &gt;90 EOM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900" b="0" i="0" u="none" strike="noStrike">
                          <a:solidFill>
                            <a:srgbClr val="0000FF"/>
                          </a:solidFill>
                          <a:effectLst/>
                          <a:latin typeface="DeutschePost-MedCn" panose="020B0500000000000000"/>
                        </a:rPr>
                        <a:t>4K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67772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045965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>
          <a:xfrm>
            <a:off x="1519583" y="142614"/>
            <a:ext cx="9598689" cy="814388"/>
          </a:xfrm>
        </p:spPr>
        <p:txBody>
          <a:bodyPr/>
          <a:lstStyle/>
          <a:p>
            <a:r>
              <a:rPr lang="en-US"/>
              <a:t>Halliburton – Net 30                    Go Live 10/1/18</a:t>
            </a:r>
          </a:p>
        </p:txBody>
      </p:sp>
      <p:pic>
        <p:nvPicPr>
          <p:cNvPr id="9881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7752" y="311105"/>
            <a:ext cx="1165225" cy="50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" name="Rounded Rectangle 11"/>
          <p:cNvSpPr/>
          <p:nvPr/>
        </p:nvSpPr>
        <p:spPr bwMode="auto">
          <a:xfrm>
            <a:off x="121968" y="911272"/>
            <a:ext cx="1673493" cy="625914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144000" tIns="144000" rIns="144000" bIns="144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953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400">
                <a:latin typeface="Arial" charset="0"/>
              </a:rPr>
              <a:t>AMKAD POC:</a:t>
            </a:r>
          </a:p>
          <a:p>
            <a:pPr defTabSz="995363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MX" sz="1400" i="1">
                <a:solidFill>
                  <a:srgbClr val="0070C0"/>
                </a:solidFill>
                <a:latin typeface="Arial" charset="0"/>
              </a:rPr>
              <a:t>Shay Eyeoyibo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95701" y="1784733"/>
            <a:ext cx="2295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68E942E-B9A1-68A8-9F8A-E2EC49A2FE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2491" y="987596"/>
            <a:ext cx="9440249" cy="253917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BFA63EB-4478-7E53-09DC-6DA3C0FDF8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92491" y="3526770"/>
            <a:ext cx="9440249" cy="2518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83219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 bwMode="auto">
          <a:xfrm>
            <a:off x="7717601" y="1147548"/>
            <a:ext cx="2845820" cy="3824923"/>
          </a:xfrm>
          <a:prstGeom prst="rect">
            <a:avLst/>
          </a:prstGeom>
          <a:solidFill>
            <a:schemeClr val="accent6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44000" tIns="144000" rIns="144000" bIns="144000" numCol="1" rtlCol="0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algn="l" defTabSz="9953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DeutschePost-MedCn" panose="020B0500000000000000" pitchFamily="34" charset="0"/>
              <a:ea typeface="+mn-ea"/>
              <a:cs typeface="+mn-cs"/>
            </a:endParaRPr>
          </a:p>
          <a:p>
            <a:pPr marL="0" marR="0" lvl="0" indent="0" algn="l" defTabSz="9953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DeutschePost-MedCn" panose="020B0500000000000000" pitchFamily="34" charset="0"/>
              <a:ea typeface="+mn-ea"/>
              <a:cs typeface="+mn-cs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566615" y="359136"/>
            <a:ext cx="89968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D40511"/>
                </a:solidFill>
                <a:effectLst/>
                <a:uLnTx/>
                <a:uFillTx/>
                <a:latin typeface="DeutschePost-MedCn" panose="020B0500000000000000" pitchFamily="34" charset="0"/>
                <a:ea typeface="MS PGothic" pitchFamily="34" charset="-128"/>
                <a:cs typeface="+mn-cs"/>
              </a:rPr>
              <a:t>Haliburton MX – </a:t>
            </a: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D40511"/>
                </a:solidFill>
                <a:effectLst/>
                <a:uLnTx/>
                <a:uFillTx/>
                <a:latin typeface="DeutschePost-MedCn" panose="020B0500000000000000" pitchFamily="34" charset="0"/>
                <a:ea typeface="MS PGothic" pitchFamily="34" charset="-128"/>
                <a:cs typeface="+mn-cs"/>
              </a:rPr>
              <a:t>ACCOUNT BUSINESS REVIEW 		                             </a:t>
            </a: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D40511"/>
                </a:solidFill>
                <a:effectLst/>
                <a:uLnTx/>
                <a:uFillTx/>
                <a:latin typeface="DeutschePost-MedCn" panose="020B0500000000000000" pitchFamily="34" charset="0"/>
                <a:ea typeface="MS PGothic" pitchFamily="34" charset="-128"/>
                <a:cs typeface="+mn-cs"/>
              </a:rPr>
              <a:t>Date: 6/16/2026</a:t>
            </a:r>
          </a:p>
        </p:txBody>
      </p:sp>
      <p:sp>
        <p:nvSpPr>
          <p:cNvPr id="3" name="Rectangle 2"/>
          <p:cNvSpPr/>
          <p:nvPr/>
        </p:nvSpPr>
        <p:spPr bwMode="auto">
          <a:xfrm>
            <a:off x="1577341" y="1137172"/>
            <a:ext cx="3141308" cy="3828875"/>
          </a:xfrm>
          <a:prstGeom prst="rect">
            <a:avLst/>
          </a:prstGeom>
          <a:solidFill>
            <a:schemeClr val="accent6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44000" tIns="144000" rIns="144000" bIns="144000" numCol="1" rtlCol="0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algn="l" defTabSz="9953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DeutschePost-MedCn" panose="020B0500000000000000" pitchFamily="34" charset="0"/>
              <a:ea typeface="+mn-ea"/>
              <a:cs typeface="+mn-cs"/>
            </a:endParaRPr>
          </a:p>
        </p:txBody>
      </p:sp>
      <p:sp>
        <p:nvSpPr>
          <p:cNvPr id="5" name="Rectangle 4"/>
          <p:cNvSpPr/>
          <p:nvPr/>
        </p:nvSpPr>
        <p:spPr bwMode="auto">
          <a:xfrm>
            <a:off x="4735046" y="1157927"/>
            <a:ext cx="2966157" cy="3808120"/>
          </a:xfrm>
          <a:prstGeom prst="rect">
            <a:avLst/>
          </a:prstGeom>
          <a:solidFill>
            <a:schemeClr val="accent6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44000" tIns="144000" rIns="144000" bIns="144000" numCol="1" rtlCol="0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algn="l" defTabSz="9953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DeutschePost-MedCn" panose="020B0500000000000000" pitchFamily="34" charset="0"/>
              <a:ea typeface="+mn-ea"/>
              <a:cs typeface="+mn-cs"/>
            </a:endParaRPr>
          </a:p>
          <a:p>
            <a:pPr marL="0" marR="0" lvl="0" indent="0" algn="l" defTabSz="9953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DeutschePost-MedCn" panose="020B0500000000000000" pitchFamily="34" charset="0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 bwMode="auto">
          <a:xfrm>
            <a:off x="1577341" y="4966048"/>
            <a:ext cx="8991524" cy="1444738"/>
          </a:xfrm>
          <a:prstGeom prst="rect">
            <a:avLst/>
          </a:prstGeom>
          <a:solidFill>
            <a:schemeClr val="accent6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144000" tIns="144000" rIns="144000" bIns="1440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953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DeutschePost-MedCn" panose="020B0500000000000000" pitchFamily="34" charset="0"/>
              <a:ea typeface="+mn-ea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 bwMode="auto">
          <a:xfrm>
            <a:off x="1570625" y="900649"/>
            <a:ext cx="3145157" cy="250854"/>
          </a:xfrm>
          <a:prstGeom prst="rect">
            <a:avLst/>
          </a:prstGeom>
          <a:solidFill>
            <a:schemeClr val="accent3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144000" tIns="144000" rIns="144000" bIns="14400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953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D40511"/>
                </a:solidFill>
                <a:effectLst/>
                <a:uLnTx/>
                <a:uFillTx/>
                <a:latin typeface="DeutschePost-MedCn" panose="020B0500000000000000" pitchFamily="34" charset="0"/>
                <a:ea typeface="+mn-ea"/>
                <a:cs typeface="+mn-cs"/>
              </a:rPr>
              <a:t>MAIN ISSUES</a:t>
            </a:r>
          </a:p>
        </p:txBody>
      </p:sp>
      <p:sp>
        <p:nvSpPr>
          <p:cNvPr id="9" name="Rectangle 8"/>
          <p:cNvSpPr/>
          <p:nvPr/>
        </p:nvSpPr>
        <p:spPr bwMode="auto">
          <a:xfrm>
            <a:off x="4739736" y="900649"/>
            <a:ext cx="2961468" cy="250854"/>
          </a:xfrm>
          <a:prstGeom prst="rect">
            <a:avLst/>
          </a:prstGeom>
          <a:solidFill>
            <a:schemeClr val="accent3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144000" tIns="144000" rIns="144000" bIns="14400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953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D40511"/>
                </a:solidFill>
                <a:effectLst/>
                <a:uLnTx/>
                <a:uFillTx/>
                <a:latin typeface="DeutschePost-MedCn" panose="020B0500000000000000" pitchFamily="34" charset="0"/>
                <a:ea typeface="+mn-ea"/>
                <a:cs typeface="+mn-cs"/>
              </a:rPr>
              <a:t>CURRENT ACTIONS / SUPPORT NEEDED</a:t>
            </a:r>
          </a:p>
        </p:txBody>
      </p:sp>
      <p:sp>
        <p:nvSpPr>
          <p:cNvPr id="10" name="Rectangle 9"/>
          <p:cNvSpPr/>
          <p:nvPr/>
        </p:nvSpPr>
        <p:spPr bwMode="auto">
          <a:xfrm>
            <a:off x="7732630" y="896694"/>
            <a:ext cx="2830790" cy="250854"/>
          </a:xfrm>
          <a:prstGeom prst="rect">
            <a:avLst/>
          </a:prstGeom>
          <a:solidFill>
            <a:schemeClr val="accent3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144000" tIns="144000" rIns="144000" bIns="14400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953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D40511"/>
                </a:solidFill>
                <a:effectLst/>
                <a:uLnTx/>
                <a:uFillTx/>
                <a:latin typeface="DeutschePost-MedCn" panose="020B0500000000000000" pitchFamily="34" charset="0"/>
                <a:ea typeface="+mn-ea"/>
                <a:cs typeface="+mn-cs"/>
              </a:rPr>
              <a:t>PAYMENTS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35045" y="1169892"/>
            <a:ext cx="2966157" cy="33085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953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eutschePost-MedCn" panose="020B0500000000000000" pitchFamily="34" charset="0"/>
                <a:ea typeface="+mn-ea"/>
                <a:cs typeface="+mn-cs"/>
              </a:rPr>
              <a:t>PDF/Invoice delivered by local country – PD €26k -  &gt; 90: €0.00</a:t>
            </a:r>
          </a:p>
          <a:p>
            <a:pPr marL="0" marR="0" lvl="0" indent="0" algn="l" defTabSz="9953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eutschePost-MedCn" panose="020B0500000000000000" pitchFamily="34" charset="0"/>
                <a:ea typeface="+mn-ea"/>
                <a:cs typeface="+mn-cs"/>
              </a:rPr>
              <a:t>Pending invoice submission by </a:t>
            </a:r>
            <a:r>
              <a:rPr kumimoji="0" lang="en-US" sz="105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eutschePost-MedCn" panose="020B0500000000000000" pitchFamily="34" charset="0"/>
                <a:ea typeface="+mn-ea"/>
                <a:cs typeface="+mn-cs"/>
              </a:rPr>
              <a:t>Grupoei</a:t>
            </a: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eutschePost-MedCn" panose="020B0500000000000000" pitchFamily="34" charset="0"/>
                <a:ea typeface="+mn-ea"/>
                <a:cs typeface="+mn-cs"/>
              </a:rPr>
              <a:t>. Awaiting response from billing.</a:t>
            </a:r>
          </a:p>
          <a:p>
            <a:pPr marL="0" marR="0" lvl="0" indent="0" algn="l" defTabSz="9953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DeutschePost-MedCn" panose="020B0500000000000000" pitchFamily="34" charset="0"/>
              <a:ea typeface="+mn-ea"/>
              <a:cs typeface="+mn-cs"/>
            </a:endParaRPr>
          </a:p>
          <a:p>
            <a:pPr marL="0" marR="0" lvl="0" indent="0" algn="l" defTabSz="9953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eutschePost-MedCn" panose="020B0500000000000000" pitchFamily="34" charset="0"/>
                <a:ea typeface="+mn-ea"/>
                <a:cs typeface="+mn-cs"/>
              </a:rPr>
              <a:t>Invoice Rejected-Pending Review:  PD €107k - &gt; 90: €71k. </a:t>
            </a:r>
          </a:p>
          <a:p>
            <a:pPr marL="0" marR="0" lvl="0" indent="0" algn="l" defTabSz="9953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eutschePost-MedCn" panose="020B0500000000000000" pitchFamily="34" charset="0"/>
                <a:ea typeface="+mn-ea"/>
                <a:cs typeface="+mn-cs"/>
              </a:rPr>
              <a:t>Reviewed, waiting on current invoice status for payment updates on recon sent on 5/18/26.</a:t>
            </a:r>
          </a:p>
          <a:p>
            <a:pPr marL="0" marR="0" lvl="0" indent="0" algn="l" defTabSz="9953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DeutschePost-MedCn" panose="020B0500000000000000" pitchFamily="34" charset="0"/>
              <a:ea typeface="+mn-ea"/>
              <a:cs typeface="+mn-cs"/>
            </a:endParaRPr>
          </a:p>
          <a:p>
            <a:pPr marL="0" marR="0" lvl="0" indent="0" algn="l" defTabSz="9953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highlight>
                <a:srgbClr val="FFFF00"/>
              </a:highlight>
              <a:uLnTx/>
              <a:uFillTx/>
              <a:latin typeface="DeutschePost-MedCn" panose="020B0500000000000000" pitchFamily="34" charset="0"/>
              <a:ea typeface="+mn-ea"/>
              <a:cs typeface="+mn-cs"/>
            </a:endParaRPr>
          </a:p>
          <a:p>
            <a:pPr marL="0" marR="0" lvl="0" indent="0" algn="l" defTabSz="9953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DeutschePost-MedCn" panose="020B0500000000000000" pitchFamily="34" charset="0"/>
                <a:ea typeface="+mn-ea"/>
                <a:cs typeface="+mn-cs"/>
              </a:rPr>
              <a:t>Customer:</a:t>
            </a: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eutschePost-MedCn" panose="020B0500000000000000" pitchFamily="34" charset="0"/>
                <a:ea typeface="+mn-ea"/>
                <a:cs typeface="+mn-cs"/>
              </a:rPr>
              <a:t> </a:t>
            </a: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eutschePost-MedCn" panose="020B0500000000000000" pitchFamily="34" charset="0"/>
                <a:ea typeface="+mn-ea"/>
                <a:cs typeface="+mn-cs"/>
              </a:rPr>
              <a:t>Continuing to work with the customer to complete audit on duty invoices. Reviewing rejection of freight invoices with customer.</a:t>
            </a:r>
          </a:p>
          <a:p>
            <a:pPr marL="0" marR="0" lvl="0" indent="0" algn="l" defTabSz="9953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highlight>
                <a:srgbClr val="FFFF00"/>
              </a:highlight>
              <a:uLnTx/>
              <a:uFillTx/>
              <a:latin typeface="DeutschePost-MedCn" panose="020B0500000000000000" pitchFamily="34" charset="0"/>
              <a:ea typeface="+mn-ea"/>
              <a:cs typeface="+mn-cs"/>
            </a:endParaRPr>
          </a:p>
          <a:p>
            <a:pPr marL="0" marR="0" lvl="0" indent="0" algn="l" defTabSz="9953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DeutschePost-MedCn" panose="020B0500000000000000" pitchFamily="34" charset="0"/>
                <a:ea typeface="+mn-ea"/>
                <a:cs typeface="+mn-cs"/>
              </a:rPr>
              <a:t>AMKAD : </a:t>
            </a: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eutschePost-MedCn" panose="020B0500000000000000" pitchFamily="34" charset="0"/>
                <a:ea typeface="+mn-ea"/>
                <a:cs typeface="+mn-cs"/>
              </a:rPr>
              <a:t> Continued effort with customer to close aged invoices.</a:t>
            </a:r>
          </a:p>
          <a:p>
            <a:pPr marL="628650" marR="0" lvl="1" indent="-171450" algn="l" defTabSz="9953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DeutschePost-MedCn" panose="020B0500000000000000" pitchFamily="34" charset="0"/>
              <a:ea typeface="+mn-ea"/>
              <a:cs typeface="+mn-cs"/>
            </a:endParaRPr>
          </a:p>
          <a:p>
            <a:pPr marL="57150" marR="0" lvl="0" indent="0" algn="l" defTabSz="9953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57150" marR="0" lvl="0" indent="0" algn="l" defTabSz="9953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566616" y="1168288"/>
            <a:ext cx="3168431" cy="11849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marR="0" lvl="0" indent="-228600" algn="l" defTabSz="9953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Halliburton  MX</a:t>
            </a:r>
          </a:p>
          <a:p>
            <a:pPr marL="457200" marR="0" lvl="1" indent="0" algn="l" defTabSz="9953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TTL AR:  </a:t>
            </a: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€318K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457200" marR="0" lvl="1" indent="0" algn="l" defTabSz="9953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PD: </a:t>
            </a: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€270K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6666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457200" marR="0" lvl="1" indent="0" algn="l" defTabSz="9953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EOM &gt;90</a:t>
            </a: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: €96k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628650" marR="0" lvl="1" indent="-171450" algn="l" defTabSz="9953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457200" marR="0" lvl="1" indent="0" algn="l" defTabSz="9953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628650" marR="0" lvl="1" indent="-171450" algn="l" defTabSz="9953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DeutschePost-MedCn" panose="020B0500000000000000" pitchFamily="34" charset="0"/>
              <a:ea typeface="+mn-ea"/>
              <a:cs typeface="+mn-cs"/>
            </a:endParaRPr>
          </a:p>
          <a:p>
            <a:pPr marL="457200" marR="0" lvl="1" indent="0" algn="l" defTabSz="9953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2EC1554-C000-F311-6B95-AC2942A31490}"/>
              </a:ext>
            </a:extLst>
          </p:cNvPr>
          <p:cNvGraphicFramePr>
            <a:graphicFrameLocks noGrp="1"/>
          </p:cNvGraphicFramePr>
          <p:nvPr/>
        </p:nvGraphicFramePr>
        <p:xfrm>
          <a:off x="1577340" y="4960427"/>
          <a:ext cx="8986079" cy="1448692"/>
        </p:xfrm>
        <a:graphic>
          <a:graphicData uri="http://schemas.openxmlformats.org/drawingml/2006/table">
            <a:tbl>
              <a:tblPr/>
              <a:tblGrid>
                <a:gridCol w="2348783">
                  <a:extLst>
                    <a:ext uri="{9D8B030D-6E8A-4147-A177-3AD203B41FA5}">
                      <a16:colId xmlns:a16="http://schemas.microsoft.com/office/drawing/2014/main" val="1332086851"/>
                    </a:ext>
                  </a:extLst>
                </a:gridCol>
                <a:gridCol w="1161197">
                  <a:extLst>
                    <a:ext uri="{9D8B030D-6E8A-4147-A177-3AD203B41FA5}">
                      <a16:colId xmlns:a16="http://schemas.microsoft.com/office/drawing/2014/main" val="846566043"/>
                    </a:ext>
                  </a:extLst>
                </a:gridCol>
                <a:gridCol w="989657">
                  <a:extLst>
                    <a:ext uri="{9D8B030D-6E8A-4147-A177-3AD203B41FA5}">
                      <a16:colId xmlns:a16="http://schemas.microsoft.com/office/drawing/2014/main" val="533250894"/>
                    </a:ext>
                  </a:extLst>
                </a:gridCol>
                <a:gridCol w="897288">
                  <a:extLst>
                    <a:ext uri="{9D8B030D-6E8A-4147-A177-3AD203B41FA5}">
                      <a16:colId xmlns:a16="http://schemas.microsoft.com/office/drawing/2014/main" val="2133618482"/>
                    </a:ext>
                  </a:extLst>
                </a:gridCol>
                <a:gridCol w="989657">
                  <a:extLst>
                    <a:ext uri="{9D8B030D-6E8A-4147-A177-3AD203B41FA5}">
                      <a16:colId xmlns:a16="http://schemas.microsoft.com/office/drawing/2014/main" val="609552570"/>
                    </a:ext>
                  </a:extLst>
                </a:gridCol>
                <a:gridCol w="989657">
                  <a:extLst>
                    <a:ext uri="{9D8B030D-6E8A-4147-A177-3AD203B41FA5}">
                      <a16:colId xmlns:a16="http://schemas.microsoft.com/office/drawing/2014/main" val="497591631"/>
                    </a:ext>
                  </a:extLst>
                </a:gridCol>
                <a:gridCol w="804920">
                  <a:extLst>
                    <a:ext uri="{9D8B030D-6E8A-4147-A177-3AD203B41FA5}">
                      <a16:colId xmlns:a16="http://schemas.microsoft.com/office/drawing/2014/main" val="772962368"/>
                    </a:ext>
                  </a:extLst>
                </a:gridCol>
                <a:gridCol w="804920">
                  <a:extLst>
                    <a:ext uri="{9D8B030D-6E8A-4147-A177-3AD203B41FA5}">
                      <a16:colId xmlns:a16="http://schemas.microsoft.com/office/drawing/2014/main" val="1466060582"/>
                    </a:ext>
                  </a:extLst>
                </a:gridCol>
              </a:tblGrid>
              <a:tr h="362173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D40511"/>
                          </a:solidFill>
                          <a:effectLst/>
                          <a:latin typeface="DeutschePost-MedCn" panose="020B0500000000000000"/>
                        </a:rPr>
                        <a:t>FINANCIALS PERFORMANCE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FFFFFF"/>
                          </a:solidFill>
                          <a:effectLst/>
                          <a:latin typeface="DeutschePost-MedCn" panose="020B0500000000000000"/>
                        </a:rPr>
                        <a:t>TOTAL AR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5D5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FFFFFF"/>
                          </a:solidFill>
                          <a:effectLst/>
                          <a:latin typeface="DeutschePost-MedCn" panose="020B0500000000000000"/>
                        </a:rPr>
                        <a:t>CURRENT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5D5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FFFFFF"/>
                          </a:solidFill>
                          <a:effectLst/>
                          <a:latin typeface="DeutschePost-MedCn" panose="020B0500000000000000"/>
                        </a:rPr>
                        <a:t>OVERDUE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5D5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FFFFFF"/>
                          </a:solidFill>
                          <a:effectLst/>
                          <a:latin typeface="DeutschePost-MedCn" panose="020B0500000000000000"/>
                        </a:rPr>
                        <a:t>0-30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5D5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FFFFFF"/>
                          </a:solidFill>
                          <a:effectLst/>
                          <a:latin typeface="DeutschePost-MedCn" panose="020B0500000000000000"/>
                        </a:rPr>
                        <a:t>31-60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5D5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FFFFFF"/>
                          </a:solidFill>
                          <a:effectLst/>
                          <a:latin typeface="DeutschePost-MedCn" panose="020B0500000000000000"/>
                        </a:rPr>
                        <a:t>61-90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5D5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FFFFFF"/>
                          </a:solidFill>
                          <a:effectLst/>
                          <a:latin typeface="DeutschePost-MedCn" panose="020B0500000000000000"/>
                        </a:rPr>
                        <a:t>Over 90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5D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5059545"/>
                  </a:ext>
                </a:extLst>
              </a:tr>
              <a:tr h="362173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900" b="0" i="0" u="none" strike="noStrike">
                          <a:solidFill>
                            <a:srgbClr val="FFFFFF"/>
                          </a:solidFill>
                          <a:effectLst/>
                          <a:latin typeface="DeutschePost-MedCn" panose="020B0500000000000000"/>
                        </a:rPr>
                        <a:t>Duty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5D5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DeutschePost-MedCn" panose="020B0500000000000000"/>
                        </a:rPr>
                        <a:t>€ 176,926.55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DeutschePost-MedCn" panose="020B0500000000000000"/>
                        </a:rPr>
                        <a:t>€ 9,204.46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DeutschePost-MedCn" panose="020B0500000000000000"/>
                        </a:rPr>
                        <a:t>€ 167,722.09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DeutschePost-MedCn" panose="020B0500000000000000"/>
                        </a:rPr>
                        <a:t>€ 28,767.20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DeutschePost-MedCn" panose="020B0500000000000000"/>
                        </a:rPr>
                        <a:t>€ 41,057.70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DeutschePost-MedCn" panose="020B0500000000000000"/>
                        </a:rPr>
                        <a:t>€ 47,213.03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DeutschePost-MedCn" panose="020B0500000000000000"/>
                        </a:rPr>
                        <a:t>€ 59,888.62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4232412"/>
                  </a:ext>
                </a:extLst>
              </a:tr>
              <a:tr h="362173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900" b="0" i="0" u="none" strike="noStrike">
                          <a:solidFill>
                            <a:srgbClr val="FFFFFF"/>
                          </a:solidFill>
                          <a:effectLst/>
                          <a:latin typeface="DeutschePost-MedCn" panose="020B0500000000000000"/>
                        </a:rPr>
                        <a:t>Freight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5D5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DeutschePost-MedCn" panose="020B0500000000000000"/>
                        </a:rPr>
                        <a:t>€ 141,680.70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DeutschePost-MedCn" panose="020B0500000000000000"/>
                        </a:rPr>
                        <a:t>€ 39,261.63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DeutschePost-MedCn" panose="020B0500000000000000"/>
                        </a:rPr>
                        <a:t>€ 102,419.07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DeutschePost-MedCn" panose="020B0500000000000000"/>
                        </a:rPr>
                        <a:t>€ 39,261.63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DeutschePost-MedCn" panose="020B0500000000000000"/>
                        </a:rPr>
                        <a:t>€ 67,837.21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DeutschePost-MedCn" panose="020B0500000000000000"/>
                        </a:rPr>
                        <a:t>€ 9,356.12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DeutschePost-MedCn" panose="020B0500000000000000"/>
                        </a:rPr>
                        <a:t>€ 25,225.74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6868863"/>
                  </a:ext>
                </a:extLst>
              </a:tr>
              <a:tr h="362173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900" b="0" i="0" u="none" strike="noStrike">
                          <a:solidFill>
                            <a:srgbClr val="FFFFFF"/>
                          </a:solidFill>
                          <a:effectLst/>
                          <a:latin typeface="DeutschePost-MedCn" panose="020B0500000000000000"/>
                        </a:rPr>
                        <a:t>Summary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5D5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DeutschePost-MedCn" panose="020B0500000000000000"/>
                        </a:rPr>
                        <a:t>€ 318,607.25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DeutschePost-MedCn" panose="020B0500000000000000"/>
                        </a:rPr>
                        <a:t>€ 48,466.09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DeutschePost-MedCn" panose="020B0500000000000000"/>
                        </a:rPr>
                        <a:t>€ 270,141.16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DeutschePost-MedCn" panose="020B0500000000000000"/>
                        </a:rPr>
                        <a:t>€ 68,028.83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DeutschePost-MedCn" panose="020B0500000000000000"/>
                        </a:rPr>
                        <a:t>€ 108,894.91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DeutschePost-MedCn" panose="020B0500000000000000"/>
                        </a:rPr>
                        <a:t>€ 56,569.15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DeutschePost-MedCn" panose="020B0500000000000000"/>
                        </a:rPr>
                        <a:t>€ 85,114.36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8713164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3B2DA265-3A8F-D9C7-D799-407C30D46605}"/>
              </a:ext>
            </a:extLst>
          </p:cNvPr>
          <p:cNvGraphicFramePr>
            <a:graphicFrameLocks noGrp="1"/>
          </p:cNvGraphicFramePr>
          <p:nvPr/>
        </p:nvGraphicFramePr>
        <p:xfrm>
          <a:off x="7733999" y="1147548"/>
          <a:ext cx="2845819" cy="1365362"/>
        </p:xfrm>
        <a:graphic>
          <a:graphicData uri="http://schemas.openxmlformats.org/drawingml/2006/table">
            <a:tbl>
              <a:tblPr/>
              <a:tblGrid>
                <a:gridCol w="2113699">
                  <a:extLst>
                    <a:ext uri="{9D8B030D-6E8A-4147-A177-3AD203B41FA5}">
                      <a16:colId xmlns:a16="http://schemas.microsoft.com/office/drawing/2014/main" val="1846450647"/>
                    </a:ext>
                  </a:extLst>
                </a:gridCol>
                <a:gridCol w="732120">
                  <a:extLst>
                    <a:ext uri="{9D8B030D-6E8A-4147-A177-3AD203B41FA5}">
                      <a16:colId xmlns:a16="http://schemas.microsoft.com/office/drawing/2014/main" val="2387316505"/>
                    </a:ext>
                  </a:extLst>
                </a:gridCol>
              </a:tblGrid>
              <a:tr h="288127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900" b="0" i="0" u="none" strike="noStrike">
                          <a:solidFill>
                            <a:srgbClr val="0000FF"/>
                          </a:solidFill>
                          <a:effectLst/>
                          <a:latin typeface="DeutschePost-MedCn" panose="020B0500000000000000"/>
                        </a:rPr>
                        <a:t>Cash Forecasting / Payments Summary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900" b="0" i="0" u="none" strike="noStrike">
                          <a:solidFill>
                            <a:srgbClr val="0000FF"/>
                          </a:solidFill>
                          <a:effectLst/>
                          <a:latin typeface="DeutschePost-MedCn" panose="020B0500000000000000"/>
                        </a:rPr>
                        <a:t>EUR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2887930"/>
                  </a:ext>
                </a:extLst>
              </a:tr>
              <a:tr h="331595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900" b="0" i="0" u="none" strike="noStrike">
                          <a:solidFill>
                            <a:srgbClr val="FFFFFF"/>
                          </a:solidFill>
                          <a:effectLst/>
                          <a:latin typeface="DeutschePost-MedCn" panose="020B0500000000000000"/>
                        </a:rPr>
                        <a:t>Payments In House Pending Application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900" b="0" i="0" u="none" strike="noStrike">
                          <a:solidFill>
                            <a:srgbClr val="0000FF"/>
                          </a:solidFill>
                          <a:effectLst/>
                          <a:latin typeface="DeutschePost-MedCn" panose="020B0500000000000000"/>
                        </a:rPr>
                        <a:t>0.03K                       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2425116"/>
                  </a:ext>
                </a:extLst>
              </a:tr>
              <a:tr h="18641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900" b="0" i="0" u="none" strike="noStrike">
                          <a:solidFill>
                            <a:srgbClr val="FFFFFF"/>
                          </a:solidFill>
                          <a:effectLst/>
                          <a:latin typeface="DeutschePost-MedCn" panose="020B0500000000000000"/>
                        </a:rPr>
                        <a:t>Expected payments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900" b="0" i="0" u="none" strike="noStrike">
                          <a:solidFill>
                            <a:srgbClr val="0000FF"/>
                          </a:solidFill>
                          <a:effectLst/>
                          <a:latin typeface="DeutschePost-MedCn" panose="020B0500000000000000"/>
                        </a:rPr>
                        <a:t>0.00                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7096826"/>
                  </a:ext>
                </a:extLst>
              </a:tr>
              <a:tr h="18641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900" b="0" i="0" u="none" strike="noStrike">
                          <a:solidFill>
                            <a:srgbClr val="FFFFFF"/>
                          </a:solidFill>
                          <a:effectLst/>
                          <a:latin typeface="DeutschePost-MedCn" panose="020B0500000000000000"/>
                        </a:rPr>
                        <a:t>Forecasted Overdue EOM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900" b="0" i="0" u="none" strike="noStrike">
                          <a:solidFill>
                            <a:srgbClr val="0000FF"/>
                          </a:solidFill>
                          <a:effectLst/>
                          <a:latin typeface="DeutschePost-MedCn" panose="020B0500000000000000"/>
                        </a:rPr>
                        <a:t>312K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882916"/>
                  </a:ext>
                </a:extLst>
              </a:tr>
              <a:tr h="18641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900" b="0" i="0" u="none" strike="noStrike">
                          <a:solidFill>
                            <a:srgbClr val="FFFFFF"/>
                          </a:solidFill>
                          <a:effectLst/>
                          <a:latin typeface="DeutschePost-MedCn" panose="020B0500000000000000"/>
                        </a:rPr>
                        <a:t>Forecasted &gt;60 EOM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900" b="0" i="0" u="none" strike="noStrike">
                          <a:solidFill>
                            <a:srgbClr val="0000FF"/>
                          </a:solidFill>
                          <a:effectLst/>
                          <a:latin typeface="DeutschePost-MedCn" panose="020B0500000000000000"/>
                        </a:rPr>
                        <a:t>178K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2658117"/>
                  </a:ext>
                </a:extLst>
              </a:tr>
              <a:tr h="18641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900" b="0" i="0" u="none" strike="noStrike">
                          <a:solidFill>
                            <a:srgbClr val="FFFFFF"/>
                          </a:solidFill>
                          <a:effectLst/>
                          <a:latin typeface="DeutschePost-MedCn" panose="020B0500000000000000"/>
                        </a:rPr>
                        <a:t>Forecasted &gt;90 EOM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900" b="0" i="0" u="none" strike="noStrike">
                          <a:solidFill>
                            <a:srgbClr val="0000FF"/>
                          </a:solidFill>
                          <a:effectLst/>
                          <a:latin typeface="DeutschePost-MedCn" panose="020B0500000000000000"/>
                        </a:rPr>
                        <a:t>96K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67772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3784728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>
          <a:xfrm>
            <a:off x="1519584" y="104907"/>
            <a:ext cx="9444828" cy="814388"/>
          </a:xfrm>
        </p:spPr>
        <p:txBody>
          <a:bodyPr/>
          <a:lstStyle/>
          <a:p>
            <a:r>
              <a:rPr lang="en-US" sz="3000"/>
              <a:t>ARROW Electronics                     Go Live 03/01/2021</a:t>
            </a:r>
          </a:p>
        </p:txBody>
      </p:sp>
      <p:sp>
        <p:nvSpPr>
          <p:cNvPr id="7" name="Rectangle 6"/>
          <p:cNvSpPr/>
          <p:nvPr/>
        </p:nvSpPr>
        <p:spPr>
          <a:xfrm>
            <a:off x="7359082" y="2364859"/>
            <a:ext cx="2487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>
                <a:latin typeface="Arial" charset="0"/>
              </a:rPr>
              <a:t> </a:t>
            </a:r>
            <a:endParaRPr lang="en-US"/>
          </a:p>
        </p:txBody>
      </p:sp>
      <p:sp>
        <p:nvSpPr>
          <p:cNvPr id="13" name="Rounded Rectangle 12"/>
          <p:cNvSpPr/>
          <p:nvPr/>
        </p:nvSpPr>
        <p:spPr bwMode="auto">
          <a:xfrm>
            <a:off x="60269" y="1040867"/>
            <a:ext cx="1791828" cy="625914"/>
          </a:xfrm>
          <a:prstGeom prst="roundRect">
            <a:avLst>
              <a:gd name="adj" fmla="val 13825"/>
            </a:avLst>
          </a:prstGeom>
          <a:solidFill>
            <a:schemeClr val="tx2">
              <a:lumMod val="40000"/>
              <a:lumOff val="60000"/>
            </a:schemeClr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144000" tIns="144000" rIns="144000" bIns="144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953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400">
                <a:latin typeface="Arial" charset="0"/>
              </a:rPr>
              <a:t>AMKAD POC:</a:t>
            </a:r>
          </a:p>
          <a:p>
            <a:pPr marL="0" marR="0" indent="0" algn="l" defTabSz="9953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sz="1400" b="0" i="1" u="none" strike="noStrike" cap="none" normalizeH="0" baseline="0">
                <a:ln>
                  <a:noFill/>
                </a:ln>
                <a:solidFill>
                  <a:srgbClr val="0070C0"/>
                </a:solidFill>
                <a:effectLst/>
                <a:latin typeface="Arial" charset="0"/>
              </a:rPr>
              <a:t>Maria Gomez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3409" y="323056"/>
            <a:ext cx="1109229" cy="49902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2DC055E-78BA-85C5-7030-D9BDBE2B7F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4202" y="973187"/>
            <a:ext cx="9587232" cy="254376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C8FC32D-001F-D909-C4FD-1B22E8AD54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8492" y="3516955"/>
            <a:ext cx="9572942" cy="2551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1357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 bwMode="auto">
          <a:xfrm>
            <a:off x="7735496" y="1131417"/>
            <a:ext cx="2824263" cy="3824923"/>
          </a:xfrm>
          <a:prstGeom prst="rect">
            <a:avLst/>
          </a:prstGeom>
          <a:solidFill>
            <a:schemeClr val="accent6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44000" tIns="144000" rIns="144000" bIns="144000" numCol="1" rtlCol="0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algn="l" defTabSz="9953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DeutschePost-MedCn" panose="020B0500000000000000" pitchFamily="34" charset="0"/>
              <a:ea typeface="+mn-ea"/>
              <a:cs typeface="+mn-cs"/>
            </a:endParaRPr>
          </a:p>
          <a:p>
            <a:pPr marL="0" marR="0" lvl="0" indent="0" algn="l" defTabSz="9953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DeutschePost-MedCn" panose="020B0500000000000000" pitchFamily="34" charset="0"/>
              <a:ea typeface="+mn-ea"/>
              <a:cs typeface="+mn-cs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566616" y="337688"/>
            <a:ext cx="90269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D40511"/>
                </a:solidFill>
                <a:effectLst/>
                <a:uLnTx/>
                <a:uFillTx/>
                <a:latin typeface="DeutschePost-MedCn" panose="020B0500000000000000" pitchFamily="34" charset="0"/>
                <a:ea typeface="MS PGothic" pitchFamily="34" charset="-128"/>
                <a:cs typeface="+mn-cs"/>
              </a:rPr>
              <a:t>Arrow MX – 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D40511"/>
                </a:solidFill>
                <a:effectLst/>
                <a:uLnTx/>
                <a:uFillTx/>
                <a:latin typeface="DeutschePost-MedCn" panose="020B0500000000000000" pitchFamily="34" charset="0"/>
                <a:ea typeface="MS PGothic" pitchFamily="34" charset="-128"/>
                <a:cs typeface="+mn-cs"/>
              </a:rPr>
              <a:t>ACCOUNT BUSINESS REVIEW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D40511"/>
                </a:solidFill>
                <a:effectLst/>
                <a:uLnTx/>
                <a:uFillTx/>
                <a:latin typeface="DeutschePost-MedCn" panose="020B0500000000000000" pitchFamily="34" charset="0"/>
                <a:ea typeface="MS PGothic" pitchFamily="34" charset="-128"/>
                <a:cs typeface="+mn-cs"/>
              </a:rPr>
              <a:t> 			Date: </a:t>
            </a:r>
            <a:r>
              <a:rPr lang="en-US" sz="1400" b="1" dirty="0">
                <a:solidFill>
                  <a:srgbClr val="D40511"/>
                </a:solidFill>
                <a:latin typeface="DeutschePost-MedCn" panose="020B0500000000000000" pitchFamily="34" charset="0"/>
                <a:ea typeface="MS PGothic" pitchFamily="34" charset="-128"/>
              </a:rPr>
              <a:t>06/22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D40511"/>
                </a:solidFill>
                <a:effectLst/>
                <a:uLnTx/>
                <a:uFillTx/>
                <a:latin typeface="DeutschePost-MedCn" panose="020B0500000000000000" pitchFamily="34" charset="0"/>
                <a:ea typeface="MS PGothic" pitchFamily="34" charset="-128"/>
                <a:cs typeface="+mn-cs"/>
              </a:rPr>
              <a:t>/2026</a:t>
            </a:r>
          </a:p>
        </p:txBody>
      </p:sp>
      <p:sp>
        <p:nvSpPr>
          <p:cNvPr id="3" name="Rectangle 2"/>
          <p:cNvSpPr/>
          <p:nvPr/>
        </p:nvSpPr>
        <p:spPr bwMode="auto">
          <a:xfrm>
            <a:off x="1595562" y="1151165"/>
            <a:ext cx="3141308" cy="3828875"/>
          </a:xfrm>
          <a:prstGeom prst="rect">
            <a:avLst/>
          </a:prstGeom>
          <a:solidFill>
            <a:schemeClr val="accent6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44000" tIns="144000" rIns="144000" bIns="144000" numCol="1" rtlCol="0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algn="l" defTabSz="9953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DeutschePost-MedCn" panose="020B0500000000000000" pitchFamily="34" charset="0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 bwMode="auto">
          <a:xfrm>
            <a:off x="1577341" y="4659852"/>
            <a:ext cx="8991524" cy="1444738"/>
          </a:xfrm>
          <a:prstGeom prst="rect">
            <a:avLst/>
          </a:prstGeom>
          <a:solidFill>
            <a:schemeClr val="accent6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144000" tIns="144000" rIns="144000" bIns="1440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953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DeutschePost-MedCn" panose="020B0500000000000000" pitchFamily="34" charset="0"/>
              <a:ea typeface="+mn-ea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 bwMode="auto">
          <a:xfrm>
            <a:off x="1591713" y="900311"/>
            <a:ext cx="3145157" cy="250854"/>
          </a:xfrm>
          <a:prstGeom prst="rect">
            <a:avLst/>
          </a:prstGeom>
          <a:solidFill>
            <a:schemeClr val="accent3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144000" tIns="144000" rIns="144000" bIns="14400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953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D40511"/>
                </a:solidFill>
                <a:effectLst/>
                <a:uLnTx/>
                <a:uFillTx/>
                <a:latin typeface="DeutschePost-MedCn" panose="020B0500000000000000" pitchFamily="34" charset="0"/>
                <a:ea typeface="+mn-ea"/>
                <a:cs typeface="+mn-cs"/>
              </a:rPr>
              <a:t>MAIN ISSUES</a:t>
            </a:r>
          </a:p>
        </p:txBody>
      </p:sp>
      <p:sp>
        <p:nvSpPr>
          <p:cNvPr id="9" name="Rectangle 8"/>
          <p:cNvSpPr/>
          <p:nvPr/>
        </p:nvSpPr>
        <p:spPr bwMode="auto">
          <a:xfrm>
            <a:off x="4754016" y="900649"/>
            <a:ext cx="2961468" cy="250854"/>
          </a:xfrm>
          <a:prstGeom prst="rect">
            <a:avLst/>
          </a:prstGeom>
          <a:solidFill>
            <a:schemeClr val="accent3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144000" tIns="144000" rIns="144000" bIns="14400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953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D40511"/>
                </a:solidFill>
                <a:effectLst/>
                <a:uLnTx/>
                <a:uFillTx/>
                <a:latin typeface="DeutschePost-MedCn" panose="020B0500000000000000" pitchFamily="34" charset="0"/>
                <a:ea typeface="+mn-ea"/>
                <a:cs typeface="+mn-cs"/>
              </a:rPr>
              <a:t>CURRENT ACTIONS / SUPPORT NEEDED</a:t>
            </a:r>
          </a:p>
        </p:txBody>
      </p:sp>
      <p:sp>
        <p:nvSpPr>
          <p:cNvPr id="10" name="Rectangle 9"/>
          <p:cNvSpPr/>
          <p:nvPr/>
        </p:nvSpPr>
        <p:spPr bwMode="auto">
          <a:xfrm>
            <a:off x="7732630" y="896694"/>
            <a:ext cx="2830790" cy="250854"/>
          </a:xfrm>
          <a:prstGeom prst="rect">
            <a:avLst/>
          </a:prstGeom>
          <a:solidFill>
            <a:schemeClr val="accent3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144000" tIns="144000" rIns="144000" bIns="14400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953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D40511"/>
                </a:solidFill>
                <a:effectLst/>
                <a:uLnTx/>
                <a:uFillTx/>
                <a:latin typeface="DeutschePost-MedCn" panose="020B0500000000000000" pitchFamily="34" charset="0"/>
                <a:ea typeface="+mn-ea"/>
                <a:cs typeface="+mn-cs"/>
              </a:rPr>
              <a:t>PAYMENTS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4508" y="1198127"/>
            <a:ext cx="309639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28650" marR="0" lvl="1" indent="-171450" algn="l" defTabSz="9953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DeutschePost-MedCn" panose="020B0500000000000000" pitchFamily="34" charset="0"/>
              <a:ea typeface="+mn-ea"/>
              <a:cs typeface="+mn-cs"/>
            </a:endParaRPr>
          </a:p>
          <a:p>
            <a:pPr marL="457200" marR="0" lvl="1" indent="0" algn="l" defTabSz="9953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D51DB4A-441E-D7C3-0875-AD4F0A2E605D}"/>
              </a:ext>
            </a:extLst>
          </p:cNvPr>
          <p:cNvSpPr/>
          <p:nvPr/>
        </p:nvSpPr>
        <p:spPr bwMode="auto">
          <a:xfrm>
            <a:off x="4757642" y="1144216"/>
            <a:ext cx="2961469" cy="3519591"/>
          </a:xfrm>
          <a:prstGeom prst="rect">
            <a:avLst/>
          </a:prstGeom>
          <a:solidFill>
            <a:schemeClr val="accent6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44000" tIns="144000" rIns="144000" bIns="144000" numCol="1" rtlCol="0" anchor="ctr" anchorCtr="0" compatLnSpc="1">
            <a:prstTxWarp prst="textNoShape">
              <a:avLst/>
            </a:prstTxWarp>
            <a:normAutofit/>
          </a:bodyPr>
          <a:lstStyle/>
          <a:p>
            <a:pPr marL="171450" marR="0" lvl="0" indent="-171450" algn="l" defTabSz="9953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DeutschePost-MedCn" panose="020B0500000000000000" pitchFamily="34" charset="0"/>
              <a:ea typeface="+mn-ea"/>
              <a:cs typeface="+mn-cs"/>
            </a:endParaRPr>
          </a:p>
          <a:p>
            <a:pPr marL="171450" marR="0" lvl="0" indent="-171450" algn="l" defTabSz="9953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DeutschePost-MedCn" panose="020B0500000000000000" pitchFamily="34" charset="0"/>
              <a:ea typeface="+mn-ea"/>
              <a:cs typeface="+mn-cs"/>
            </a:endParaRPr>
          </a:p>
          <a:p>
            <a:pPr marL="0" marR="0" lvl="0" indent="0" algn="l" defTabSz="9953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DeutschePost-MedCn" panose="020B0500000000000000" pitchFamily="34" charset="0"/>
              <a:ea typeface="+mn-ea"/>
              <a:cs typeface="+mn-cs"/>
            </a:endParaRPr>
          </a:p>
          <a:p>
            <a:pPr marL="0" marR="0" lvl="0" indent="0" algn="l" defTabSz="9953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DeutschePost-MedCn" panose="020B0500000000000000" pitchFamily="34" charset="0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9F3F50-1ED2-09BE-37EF-AFFB48763AB0}"/>
              </a:ext>
            </a:extLst>
          </p:cNvPr>
          <p:cNvSpPr txBox="1"/>
          <p:nvPr/>
        </p:nvSpPr>
        <p:spPr>
          <a:xfrm>
            <a:off x="1722867" y="1314354"/>
            <a:ext cx="2840671" cy="290848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28600" indent="-228600" defTabSz="995363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en-US" sz="1200" b="1" dirty="0">
                <a:solidFill>
                  <a:srgbClr val="000000"/>
                </a:solidFill>
                <a:latin typeface="DeutschePost-MedCn" panose="020B0500000000000000" pitchFamily="34" charset="0"/>
              </a:rPr>
              <a:t>TTAR:</a:t>
            </a:r>
            <a:r>
              <a:rPr lang="en-US" sz="1200" dirty="0">
                <a:solidFill>
                  <a:srgbClr val="000000"/>
                </a:solidFill>
                <a:latin typeface="DeutschePost-MedCn" panose="020B0500000000000000" pitchFamily="34" charset="0"/>
              </a:rPr>
              <a:t> 823K</a:t>
            </a:r>
          </a:p>
          <a:p>
            <a:pPr marL="228600" indent="-228600" defTabSz="995363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en-US" sz="1200" b="1" dirty="0">
                <a:solidFill>
                  <a:srgbClr val="000000"/>
                </a:solidFill>
                <a:latin typeface="DeutschePost-MedCn" panose="020B0500000000000000" pitchFamily="34" charset="0"/>
              </a:rPr>
              <a:t>EOM PD: </a:t>
            </a:r>
            <a:r>
              <a:rPr lang="en-US" sz="1200" dirty="0">
                <a:solidFill>
                  <a:srgbClr val="000000"/>
                </a:solidFill>
                <a:latin typeface="DeutschePost-MedCn" panose="020B0500000000000000" pitchFamily="34" charset="0"/>
              </a:rPr>
              <a:t>193K</a:t>
            </a:r>
          </a:p>
          <a:p>
            <a:pPr marL="228600" indent="-228600" defTabSz="995363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en-US" sz="1200" b="1" dirty="0">
                <a:solidFill>
                  <a:srgbClr val="000000"/>
                </a:solidFill>
                <a:latin typeface="DeutschePost-MedCn" panose="020B0500000000000000" pitchFamily="34" charset="0"/>
              </a:rPr>
              <a:t>EOM &gt;90</a:t>
            </a:r>
            <a:r>
              <a:rPr lang="en-US" sz="1200" dirty="0">
                <a:solidFill>
                  <a:srgbClr val="000000"/>
                </a:solidFill>
                <a:latin typeface="DeutschePost-MedCn" panose="020B0500000000000000" pitchFamily="34" charset="0"/>
              </a:rPr>
              <a:t>: € 297</a:t>
            </a:r>
          </a:p>
          <a:p>
            <a:pPr marL="228600" indent="-228600" defTabSz="995363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endParaRPr lang="en-US" sz="1200" dirty="0">
              <a:solidFill>
                <a:srgbClr val="000000"/>
              </a:solidFill>
              <a:latin typeface="DeutschePost-MedCn" panose="020B0500000000000000" pitchFamily="34" charset="0"/>
            </a:endParaRPr>
          </a:p>
          <a:p>
            <a:pPr marL="228600" indent="-228600" defTabSz="995363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endParaRPr lang="en-US" sz="900" dirty="0">
              <a:solidFill>
                <a:srgbClr val="000000"/>
              </a:solidFill>
              <a:latin typeface="DeutschePost-MedCn" panose="020B0500000000000000" pitchFamily="34" charset="0"/>
            </a:endParaRPr>
          </a:p>
          <a:p>
            <a:pPr marL="228600" indent="-228600" defTabSz="995363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endParaRPr lang="en-US" sz="900" dirty="0">
              <a:solidFill>
                <a:srgbClr val="000000"/>
              </a:solidFill>
              <a:latin typeface="DeutschePost-MedCn" panose="020B0500000000000000" pitchFamily="34" charset="0"/>
            </a:endParaRPr>
          </a:p>
          <a:p>
            <a:pPr marL="228600" indent="-228600" defTabSz="995363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en-US" sz="900" b="1" dirty="0">
                <a:solidFill>
                  <a:srgbClr val="000000"/>
                </a:solidFill>
                <a:latin typeface="DeutschePost-MedCn" panose="020B0500000000000000" pitchFamily="34" charset="0"/>
              </a:rPr>
              <a:t>Top issues :</a:t>
            </a:r>
            <a:endParaRPr lang="en-US" sz="900" dirty="0">
              <a:solidFill>
                <a:srgbClr val="000000"/>
              </a:solidFill>
              <a:latin typeface="DeutschePost-MedCn" panose="020B0500000000000000" pitchFamily="34" charset="0"/>
            </a:endParaRPr>
          </a:p>
          <a:p>
            <a:pPr marL="628650" lvl="1" indent="-171450" defTabSz="995363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solidFill>
                  <a:srgbClr val="000000"/>
                </a:solidFill>
                <a:latin typeface="DeutschePost-MedCn" panose="020B0500000000000000" pitchFamily="34" charset="0"/>
              </a:rPr>
              <a:t>PTP CM of 91K</a:t>
            </a:r>
          </a:p>
          <a:p>
            <a:pPr marL="628650" lvl="1" indent="-171450" defTabSz="995363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solidFill>
                  <a:srgbClr val="000000"/>
                </a:solidFill>
                <a:latin typeface="DeutschePost-MedCn" panose="020B0500000000000000" pitchFamily="34" charset="0"/>
              </a:rPr>
              <a:t>PTP not in CM 101K</a:t>
            </a:r>
          </a:p>
          <a:p>
            <a:pPr marL="628650" lvl="1" indent="-171450" defTabSz="995363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endParaRPr lang="en-US" sz="1200" dirty="0">
              <a:solidFill>
                <a:srgbClr val="000000"/>
              </a:solidFill>
              <a:latin typeface="DeutschePost-MedCn" panose="020B0500000000000000" pitchFamily="34" charset="0"/>
            </a:endParaRPr>
          </a:p>
          <a:p>
            <a:pPr marL="628650" lvl="1" indent="-171450" defTabSz="995363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solidFill>
                  <a:srgbClr val="000000"/>
                </a:solidFill>
                <a:latin typeface="DeutschePost-MedCn" panose="020B0500000000000000" pitchFamily="34" charset="0"/>
              </a:rPr>
              <a:t> Invoice stuck in audit – €150  </a:t>
            </a:r>
          </a:p>
          <a:p>
            <a:pPr marL="628650" lvl="1" indent="-171450" defTabSz="995363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endParaRPr lang="en-US" sz="1200" dirty="0">
              <a:solidFill>
                <a:srgbClr val="000000"/>
              </a:solidFill>
              <a:latin typeface="DeutschePost-MedCn" panose="020B0500000000000000" pitchFamily="34" charset="0"/>
            </a:endParaRPr>
          </a:p>
          <a:p>
            <a:pPr lvl="1" defTabSz="995363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200" dirty="0">
              <a:solidFill>
                <a:srgbClr val="000000"/>
              </a:solidFill>
              <a:latin typeface="DeutschePost-MedCn" panose="020B0500000000000000" pitchFamily="34" charset="0"/>
            </a:endParaRPr>
          </a:p>
          <a:p>
            <a:pPr defTabSz="995363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900" b="1" dirty="0">
              <a:solidFill>
                <a:srgbClr val="000000"/>
              </a:solidFill>
              <a:latin typeface="DeutschePost-MedCn" panose="020B0500000000000000"/>
            </a:endParaRPr>
          </a:p>
          <a:p>
            <a:pPr marL="228600" indent="-228600" defTabSz="995363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  <a:defRPr/>
            </a:pPr>
            <a:endParaRPr lang="en-US" sz="900" dirty="0">
              <a:solidFill>
                <a:srgbClr val="000000"/>
              </a:solidFill>
              <a:latin typeface="DeutschePost-MedCn" panose="020B0500000000000000"/>
            </a:endParaRPr>
          </a:p>
          <a:p>
            <a:pPr marL="228600" indent="-228600" defTabSz="995363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  <a:defRPr/>
            </a:pPr>
            <a:endParaRPr lang="en-US" sz="900" dirty="0">
              <a:solidFill>
                <a:srgbClr val="000000"/>
              </a:solidFill>
              <a:latin typeface="DeutschePost-MedCn" panose="020B0500000000000000"/>
            </a:endParaRPr>
          </a:p>
          <a:p>
            <a:pPr marL="228600" indent="-228600" defTabSz="995363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  <a:defRPr/>
            </a:pPr>
            <a:endParaRPr lang="en-US" sz="900" dirty="0">
              <a:solidFill>
                <a:srgbClr val="000000"/>
              </a:solidFill>
              <a:latin typeface="DeutschePost-MedCn" panose="020B050000000000000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6617511-CCCA-3CF7-6DD1-1D982A20C8C5}"/>
              </a:ext>
            </a:extLst>
          </p:cNvPr>
          <p:cNvSpPr txBox="1"/>
          <p:nvPr/>
        </p:nvSpPr>
        <p:spPr>
          <a:xfrm>
            <a:off x="4795215" y="1314354"/>
            <a:ext cx="2848396" cy="281615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de-DE"/>
            </a:defPPr>
            <a:lvl1pPr defTabSz="995363" eaLnBrk="0" fontAlgn="base" hangingPunct="0">
              <a:spcBef>
                <a:spcPct val="0"/>
              </a:spcBef>
              <a:spcAft>
                <a:spcPct val="0"/>
              </a:spcAft>
              <a:defRPr sz="900">
                <a:latin typeface="DeutschePost-MedCn" panose="020B0500000000000000" pitchFamily="34" charset="0"/>
              </a:defRPr>
            </a:lvl1pPr>
          </a:lstStyle>
          <a:p>
            <a:pPr marR="0" lvl="0" defTabSz="995363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-</a:t>
            </a: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AMKAD Action:</a:t>
            </a:r>
          </a:p>
          <a:p>
            <a:pPr marR="0" lvl="0" defTabSz="995363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endParaRPr lang="en-US" sz="1200" b="1" kern="0" dirty="0">
              <a:solidFill>
                <a:srgbClr val="000000"/>
              </a:solidFill>
              <a:latin typeface="Arial"/>
            </a:endParaRPr>
          </a:p>
          <a:p>
            <a:pPr marR="0" lvl="0" defTabSz="995363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</a:endParaRPr>
          </a:p>
          <a:p>
            <a:pPr marR="0" lvl="0" defTabSz="995363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</a:endParaRPr>
          </a:p>
          <a:p>
            <a:pPr marR="0" lvl="0" defTabSz="995363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endParaRPr lang="en-US" sz="1200" b="1" kern="0" dirty="0">
              <a:solidFill>
                <a:srgbClr val="000000"/>
              </a:solidFill>
              <a:latin typeface="Arial"/>
            </a:endParaRPr>
          </a:p>
          <a:p>
            <a:pPr marR="0" lvl="0" defTabSz="995363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SOA Sent and </a:t>
            </a:r>
            <a:r>
              <a:rPr lang="en-US" sz="1200" kern="0" dirty="0">
                <a:solidFill>
                  <a:srgbClr val="000000"/>
                </a:solidFill>
                <a:latin typeface="Arial"/>
              </a:rPr>
              <a:t>A</a:t>
            </a:r>
            <a:r>
              <a:rPr kumimoji="0" lang="en-US" sz="1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mkad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 has meeting scheduled for 6/25.</a:t>
            </a:r>
          </a:p>
          <a:p>
            <a:pPr marR="0" lvl="0" defTabSz="995363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endParaRPr lang="en-US" sz="1200" kern="0" dirty="0">
              <a:solidFill>
                <a:srgbClr val="000000"/>
              </a:solidFill>
              <a:latin typeface="Arial"/>
            </a:endParaRPr>
          </a:p>
          <a:p>
            <a:pPr marR="0" lvl="0" defTabSz="995363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lang="en-US" sz="1200" kern="0" dirty="0">
                <a:solidFill>
                  <a:srgbClr val="000000"/>
                </a:solidFill>
                <a:latin typeface="Arial"/>
              </a:rPr>
              <a:t>Also working with Cash App to have €297 written off. </a:t>
            </a:r>
          </a:p>
          <a:p>
            <a:pPr marR="0" lvl="0" defTabSz="995363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</a:endParaRPr>
          </a:p>
          <a:p>
            <a:pPr marR="0" lvl="0" defTabSz="995363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</a:endParaRPr>
          </a:p>
          <a:p>
            <a:pPr marR="0" lvl="0" defTabSz="995363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endParaRPr lang="en-US" sz="1200" kern="0" dirty="0">
              <a:solidFill>
                <a:srgbClr val="000000"/>
              </a:solidFill>
              <a:latin typeface="Arial"/>
            </a:endParaRPr>
          </a:p>
          <a:p>
            <a:pPr marR="0" lvl="0" defTabSz="995363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</a:endParaRPr>
          </a:p>
          <a:p>
            <a:pPr marR="0" lvl="0" defTabSz="995363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	                   </a:t>
            </a:r>
            <a:endParaRPr kumimoji="0" lang="en-US" sz="9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DeutschePost-MedCn" panose="020B0500000000000000" pitchFamily="34" charset="0"/>
            </a:endParaRP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C4D2779E-99DF-7352-FE0F-6810E85209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7914460"/>
              </p:ext>
            </p:extLst>
          </p:nvPr>
        </p:nvGraphicFramePr>
        <p:xfrm>
          <a:off x="7742008" y="1328932"/>
          <a:ext cx="2817751" cy="1825745"/>
        </p:xfrm>
        <a:graphic>
          <a:graphicData uri="http://schemas.openxmlformats.org/drawingml/2006/table">
            <a:tbl>
              <a:tblPr/>
              <a:tblGrid>
                <a:gridCol w="2319079">
                  <a:extLst>
                    <a:ext uri="{9D8B030D-6E8A-4147-A177-3AD203B41FA5}">
                      <a16:colId xmlns:a16="http://schemas.microsoft.com/office/drawing/2014/main" val="1846450647"/>
                    </a:ext>
                  </a:extLst>
                </a:gridCol>
                <a:gridCol w="498672">
                  <a:extLst>
                    <a:ext uri="{9D8B030D-6E8A-4147-A177-3AD203B41FA5}">
                      <a16:colId xmlns:a16="http://schemas.microsoft.com/office/drawing/2014/main" val="2387316505"/>
                    </a:ext>
                  </a:extLst>
                </a:gridCol>
              </a:tblGrid>
              <a:tr h="36197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l" rtl="0" fontAlgn="ctr"/>
                      <a:r>
                        <a:rPr lang="en-US" sz="900" b="0" i="0" u="none" strike="noStrike">
                          <a:solidFill>
                            <a:srgbClr val="0000FF"/>
                          </a:solidFill>
                          <a:effectLst/>
                          <a:latin typeface="DeutschePost-MedCn" panose="020B0500000000000000"/>
                        </a:rPr>
                        <a:t>Cash Forecasting / Payments Summary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l" rtl="0" fontAlgn="ctr"/>
                      <a:r>
                        <a:rPr lang="en-US" sz="900" b="0" i="0" u="none" strike="noStrike">
                          <a:solidFill>
                            <a:srgbClr val="0000FF"/>
                          </a:solidFill>
                          <a:effectLst/>
                          <a:latin typeface="DeutschePost-MedCn" panose="020B0500000000000000"/>
                        </a:rPr>
                        <a:t>EUR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2887930"/>
                  </a:ext>
                </a:extLst>
              </a:tr>
              <a:tr h="41658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l" rtl="0" fontAlgn="ctr"/>
                      <a:r>
                        <a:rPr lang="en-US" sz="900" b="0" i="0" u="none" strike="noStrike">
                          <a:solidFill>
                            <a:srgbClr val="FFFFFF"/>
                          </a:solidFill>
                          <a:effectLst/>
                          <a:latin typeface="DeutschePost-MedCn" panose="020B0500000000000000"/>
                        </a:rPr>
                        <a:t>Payments In House Pending Application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r" rtl="0" fontAlgn="b"/>
                      <a:r>
                        <a:rPr lang="en-US" sz="900" b="0" i="0" u="none" strike="noStrike" kern="1200" dirty="0">
                          <a:solidFill>
                            <a:srgbClr val="0000FF"/>
                          </a:solidFill>
                          <a:effectLst/>
                          <a:latin typeface="DeutschePost-MedCn" panose="020B0500000000000000"/>
                          <a:ea typeface="+mn-ea"/>
                          <a:cs typeface="+mn-cs"/>
                        </a:rPr>
                        <a:t> €0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2425116"/>
                  </a:ext>
                </a:extLst>
              </a:tr>
              <a:tr h="23418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l" rtl="0" fontAlgn="ctr"/>
                      <a:r>
                        <a:rPr lang="en-US" sz="900" b="0" i="0" u="none" strike="noStrike">
                          <a:solidFill>
                            <a:srgbClr val="FFFFFF"/>
                          </a:solidFill>
                          <a:effectLst/>
                          <a:latin typeface="DeutschePost-MedCn" panose="020B0500000000000000"/>
                        </a:rPr>
                        <a:t>Expected payments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r" rtl="0" fontAlgn="b"/>
                      <a:r>
                        <a:rPr lang="en-US" sz="900" b="0" i="0" u="none" strike="noStrike" kern="1200" dirty="0">
                          <a:solidFill>
                            <a:srgbClr val="0000FF"/>
                          </a:solidFill>
                          <a:effectLst/>
                          <a:latin typeface="DeutschePost-MedCn" panose="020B0500000000000000"/>
                          <a:ea typeface="+mn-ea"/>
                          <a:cs typeface="+mn-cs"/>
                        </a:rPr>
                        <a:t>€192K</a:t>
                      </a:r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DeutschePost-MedCn" panose="020B050000000000000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7096826"/>
                  </a:ext>
                </a:extLst>
              </a:tr>
              <a:tr h="34462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l" rtl="0" fontAlgn="ctr"/>
                      <a:r>
                        <a:rPr lang="en-US" sz="900" b="0" i="0" u="none" strike="noStrike">
                          <a:solidFill>
                            <a:srgbClr val="FFFFFF"/>
                          </a:solidFill>
                          <a:effectLst/>
                          <a:latin typeface="DeutschePost-MedCn" panose="020B0500000000000000"/>
                        </a:rPr>
                        <a:t> Forecasted Overdue EOM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r" rtl="0" fontAlgn="b"/>
                      <a:r>
                        <a:rPr lang="en-US" sz="900" b="0" i="0" u="none" strike="noStrike" dirty="0">
                          <a:solidFill>
                            <a:srgbClr val="0000FF"/>
                          </a:solidFill>
                          <a:effectLst/>
                          <a:latin typeface="DeutschePost-MedCn" panose="020B0500000000000000"/>
                        </a:rPr>
                        <a:t>            </a:t>
                      </a:r>
                      <a:r>
                        <a:rPr lang="en-US" sz="900" b="0" i="0" u="none" strike="noStrike" kern="1200" dirty="0">
                          <a:solidFill>
                            <a:srgbClr val="0000FF"/>
                          </a:solidFill>
                          <a:effectLst/>
                          <a:latin typeface="DeutschePost-MedCn" panose="020B0500000000000000"/>
                          <a:ea typeface="+mn-ea"/>
                          <a:cs typeface="+mn-cs"/>
                        </a:rPr>
                        <a:t>€102K</a:t>
                      </a:r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DeutschePost-MedCn" panose="020B050000000000000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882916"/>
                  </a:ext>
                </a:extLst>
              </a:tr>
              <a:tr h="23418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l" rtl="0" fontAlgn="ctr"/>
                      <a:r>
                        <a:rPr lang="en-US" sz="900" b="0" i="0" u="none" strike="noStrike">
                          <a:solidFill>
                            <a:srgbClr val="FFFFFF"/>
                          </a:solidFill>
                          <a:effectLst/>
                          <a:latin typeface="DeutschePost-MedCn" panose="020B0500000000000000"/>
                        </a:rPr>
                        <a:t>Forecasted &gt;60 EOM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r" rtl="0" fontAlgn="b"/>
                      <a:r>
                        <a:rPr lang="en-US" sz="900" b="0" i="0" u="none" strike="noStrike" dirty="0">
                          <a:solidFill>
                            <a:srgbClr val="0000FF"/>
                          </a:solidFill>
                          <a:effectLst/>
                          <a:latin typeface="DeutschePost-MedCn" panose="020B0500000000000000"/>
                        </a:rPr>
                        <a:t>       </a:t>
                      </a:r>
                      <a:r>
                        <a:rPr lang="en-US" sz="900" b="0" i="0" u="none" strike="noStrike" kern="1200" dirty="0">
                          <a:solidFill>
                            <a:srgbClr val="0000FF"/>
                          </a:solidFill>
                          <a:effectLst/>
                          <a:latin typeface="DeutschePost-MedCn" panose="020B0500000000000000"/>
                          <a:ea typeface="+mn-ea"/>
                          <a:cs typeface="+mn-cs"/>
                        </a:rPr>
                        <a:t>€0</a:t>
                      </a:r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DeutschePost-MedCn" panose="020B050000000000000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2658117"/>
                  </a:ext>
                </a:extLst>
              </a:tr>
              <a:tr h="23418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l" rtl="0" fontAlgn="ctr"/>
                      <a:r>
                        <a:rPr lang="en-US" sz="900" b="0" i="0" u="none" strike="noStrike">
                          <a:solidFill>
                            <a:srgbClr val="FFFFFF"/>
                          </a:solidFill>
                          <a:effectLst/>
                          <a:latin typeface="DeutschePost-MedCn" panose="020B0500000000000000"/>
                        </a:rPr>
                        <a:t>Forecasted &gt;90 EOM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r" rtl="0" fontAlgn="b"/>
                      <a:r>
                        <a:rPr lang="en-US" sz="900" b="0" i="0" u="none" strike="noStrike" kern="1200" dirty="0">
                          <a:solidFill>
                            <a:srgbClr val="0000FF"/>
                          </a:solidFill>
                          <a:effectLst/>
                          <a:latin typeface="DeutschePost-MedCn" panose="020B0500000000000000"/>
                          <a:ea typeface="+mn-ea"/>
                          <a:cs typeface="+mn-cs"/>
                        </a:rPr>
                        <a:t>€0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677728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22AF4D7-F03B-D7D1-3E51-32A28B1FE8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3750433"/>
              </p:ext>
            </p:extLst>
          </p:nvPr>
        </p:nvGraphicFramePr>
        <p:xfrm>
          <a:off x="1591713" y="4663184"/>
          <a:ext cx="8977151" cy="1441404"/>
        </p:xfrm>
        <a:graphic>
          <a:graphicData uri="http://schemas.openxmlformats.org/drawingml/2006/table">
            <a:tbl>
              <a:tblPr/>
              <a:tblGrid>
                <a:gridCol w="1980035">
                  <a:extLst>
                    <a:ext uri="{9D8B030D-6E8A-4147-A177-3AD203B41FA5}">
                      <a16:colId xmlns:a16="http://schemas.microsoft.com/office/drawing/2014/main" val="792780983"/>
                    </a:ext>
                  </a:extLst>
                </a:gridCol>
                <a:gridCol w="997461">
                  <a:extLst>
                    <a:ext uri="{9D8B030D-6E8A-4147-A177-3AD203B41FA5}">
                      <a16:colId xmlns:a16="http://schemas.microsoft.com/office/drawing/2014/main" val="3696558079"/>
                    </a:ext>
                  </a:extLst>
                </a:gridCol>
                <a:gridCol w="997461">
                  <a:extLst>
                    <a:ext uri="{9D8B030D-6E8A-4147-A177-3AD203B41FA5}">
                      <a16:colId xmlns:a16="http://schemas.microsoft.com/office/drawing/2014/main" val="3696892241"/>
                    </a:ext>
                  </a:extLst>
                </a:gridCol>
                <a:gridCol w="1116561">
                  <a:extLst>
                    <a:ext uri="{9D8B030D-6E8A-4147-A177-3AD203B41FA5}">
                      <a16:colId xmlns:a16="http://schemas.microsoft.com/office/drawing/2014/main" val="2357117712"/>
                    </a:ext>
                  </a:extLst>
                </a:gridCol>
                <a:gridCol w="923024">
                  <a:extLst>
                    <a:ext uri="{9D8B030D-6E8A-4147-A177-3AD203B41FA5}">
                      <a16:colId xmlns:a16="http://schemas.microsoft.com/office/drawing/2014/main" val="1206977052"/>
                    </a:ext>
                  </a:extLst>
                </a:gridCol>
                <a:gridCol w="923024">
                  <a:extLst>
                    <a:ext uri="{9D8B030D-6E8A-4147-A177-3AD203B41FA5}">
                      <a16:colId xmlns:a16="http://schemas.microsoft.com/office/drawing/2014/main" val="672052021"/>
                    </a:ext>
                  </a:extLst>
                </a:gridCol>
                <a:gridCol w="1042124">
                  <a:extLst>
                    <a:ext uri="{9D8B030D-6E8A-4147-A177-3AD203B41FA5}">
                      <a16:colId xmlns:a16="http://schemas.microsoft.com/office/drawing/2014/main" val="512281443"/>
                    </a:ext>
                  </a:extLst>
                </a:gridCol>
                <a:gridCol w="997461">
                  <a:extLst>
                    <a:ext uri="{9D8B030D-6E8A-4147-A177-3AD203B41FA5}">
                      <a16:colId xmlns:a16="http://schemas.microsoft.com/office/drawing/2014/main" val="2559187127"/>
                    </a:ext>
                  </a:extLst>
                </a:gridCol>
              </a:tblGrid>
              <a:tr h="357373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D40511"/>
                          </a:solidFill>
                          <a:effectLst/>
                          <a:latin typeface="DeutschePost-MedCn" panose="020B0500000000000000"/>
                        </a:rPr>
                        <a:t> </a:t>
                      </a:r>
                      <a:r>
                        <a:rPr lang="en-US" sz="900" b="0" i="0" u="none" strike="noStrike">
                          <a:solidFill>
                            <a:srgbClr val="D40511"/>
                          </a:solidFill>
                          <a:effectLst/>
                          <a:latin typeface="DeutschePost-MedCn" panose="020B0500000000000000"/>
                        </a:rPr>
                        <a:t>FINANCIALS PERFORMANCE</a:t>
                      </a:r>
                      <a:endParaRPr lang="en-US" sz="900" b="1" i="0" u="none" strike="noStrike">
                        <a:solidFill>
                          <a:srgbClr val="D40511"/>
                        </a:solidFill>
                        <a:effectLst/>
                        <a:latin typeface="DeutschePost-MedCn" panose="020B050000000000000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FFFFFF"/>
                          </a:solidFill>
                          <a:effectLst/>
                          <a:latin typeface="DeutschePost-MedCn" panose="020B0500000000000000"/>
                        </a:rPr>
                        <a:t>TOTAL AR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FFFFFF"/>
                          </a:solidFill>
                          <a:effectLst/>
                          <a:latin typeface="DeutschePost-MedCn" panose="020B0500000000000000"/>
                        </a:rPr>
                        <a:t>CURRENT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FFFFFF"/>
                          </a:solidFill>
                          <a:effectLst/>
                          <a:latin typeface="DeutschePost-MedCn" panose="020B0500000000000000"/>
                        </a:rPr>
                        <a:t>OVERDUE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FFFFFF"/>
                          </a:solidFill>
                          <a:effectLst/>
                          <a:latin typeface="DeutschePost-MedCn" panose="020B0500000000000000"/>
                        </a:rPr>
                        <a:t>0-30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FFFFFF"/>
                          </a:solidFill>
                          <a:effectLst/>
                          <a:latin typeface="DeutschePost-MedCn" panose="020B0500000000000000"/>
                        </a:rPr>
                        <a:t>31-60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FFFFFF"/>
                          </a:solidFill>
                          <a:effectLst/>
                          <a:latin typeface="DeutschePost-MedCn" panose="020B0500000000000000"/>
                        </a:rPr>
                        <a:t>61-90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FFFFFF"/>
                          </a:solidFill>
                          <a:effectLst/>
                          <a:latin typeface="DeutschePost-MedCn" panose="020B0500000000000000"/>
                        </a:rPr>
                        <a:t>Over 90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1958675"/>
                  </a:ext>
                </a:extLst>
              </a:tr>
              <a:tr h="369285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FFFFFF"/>
                          </a:solidFill>
                          <a:effectLst/>
                          <a:latin typeface="DeutschePost-MedCn" panose="020B0500000000000000"/>
                        </a:rPr>
                        <a:t>Duty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DeutschePost-MedCn" panose="020B0500000000000000"/>
                        </a:rPr>
                        <a:t>€ 300.71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DeutschePost-MedCn" panose="020B0500000000000000"/>
                        </a:rPr>
                        <a:t>€ 0.00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DeutschePost-MedCn" panose="020B0500000000000000"/>
                        </a:rPr>
                        <a:t>€ 300.71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DeutschePost-MedCn" panose="020B0500000000000000"/>
                        </a:rPr>
                        <a:t>€ 67.48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DeutschePost-MedCn" panose="020B0500000000000000"/>
                        </a:rPr>
                        <a:t>€ 233.23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DeutschePost-MedCn" panose="020B0500000000000000"/>
                        </a:rPr>
                        <a:t>€ 0.00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DeutschePost-MedCn" panose="020B0500000000000000"/>
                        </a:rPr>
                        <a:t>€ 0.00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3060170"/>
                  </a:ext>
                </a:extLst>
              </a:tr>
              <a:tr h="357373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FFFFFF"/>
                          </a:solidFill>
                          <a:effectLst/>
                          <a:latin typeface="DeutschePost-MedCn" panose="020B0500000000000000"/>
                        </a:rPr>
                        <a:t>Freight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DeutschePost-MedCn" panose="020B0500000000000000"/>
                        </a:rPr>
                        <a:t>€ 822,230.58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DeutschePost-MedCn" panose="020B0500000000000000"/>
                        </a:rPr>
                        <a:t>€ 821,933.91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DeutschePost-MedCn" panose="020B0500000000000000"/>
                        </a:rPr>
                        <a:t>€ 296.67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DeutschePost-MedCn" panose="020B0500000000000000"/>
                        </a:rPr>
                        <a:t>€ 455,094.65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DeutschePost-MedCn" panose="020B0500000000000000"/>
                        </a:rPr>
                        <a:t>€ 427,726.95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DeutschePost-MedCn" panose="020B0500000000000000"/>
                        </a:rPr>
                        <a:t>€ 0.00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DeutschePost-MedCn" panose="020B0500000000000000"/>
                        </a:rPr>
                        <a:t>€ 296.67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4414499"/>
                  </a:ext>
                </a:extLst>
              </a:tr>
              <a:tr h="357373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DeutschePost-MedCn" panose="020B0500000000000000"/>
                        </a:rPr>
                        <a:t>TOTALS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DeutschePost-MedCn" panose="020B0500000000000000"/>
                        </a:rPr>
                        <a:t>€ 822,531.29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DeutschePost-MedCn" panose="020B0500000000000000"/>
                        </a:rPr>
                        <a:t>€ 821,933.91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DeutschePost-MedCn" panose="020B0500000000000000"/>
                        </a:rPr>
                        <a:t>€ 597.38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DeutschePost-MedCn" panose="020B0500000000000000"/>
                        </a:rPr>
                        <a:t>€ 458,388.92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DeutschePost-MedCn" panose="020B0500000000000000"/>
                        </a:rPr>
                        <a:t>€ 427,960.17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DeutschePost-MedCn" panose="020B0500000000000000"/>
                        </a:rPr>
                        <a:t>€ 0.00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DeutschePost-MedCn" panose="020B0500000000000000"/>
                        </a:rPr>
                        <a:t>€ 296.67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17901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156628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 anchor="b"/>
          <a:lstStyle/>
          <a:p>
            <a:pPr algn="ctr"/>
            <a:r>
              <a: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  <a:ea typeface="Tahoma" pitchFamily="34" charset="0"/>
                <a:cs typeface="Tahoma" pitchFamily="34" charset="0"/>
              </a:rPr>
              <a:t>Questions</a:t>
            </a:r>
          </a:p>
        </p:txBody>
      </p:sp>
    </p:spTree>
    <p:extLst>
      <p:ext uri="{BB962C8B-B14F-4D97-AF65-F5344CB8AC3E}">
        <p14:creationId xmlns:p14="http://schemas.microsoft.com/office/powerpoint/2010/main" val="18715086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 anchor="b"/>
          <a:lstStyle/>
          <a:p>
            <a:pPr algn="ctr"/>
            <a:r>
              <a: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  <a:ea typeface="Tahoma" pitchFamily="34" charset="0"/>
                <a:cs typeface="Tahoma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03352979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AP-SSC PM">
  <a:themeElements>
    <a:clrScheme name="DPDHL_colour_scheme">
      <a:dk1>
        <a:srgbClr val="000000"/>
      </a:dk1>
      <a:lt1>
        <a:srgbClr val="FFFFFF"/>
      </a:lt1>
      <a:dk2>
        <a:srgbClr val="B2B2B2"/>
      </a:dk2>
      <a:lt2>
        <a:srgbClr val="DADADA"/>
      </a:lt2>
      <a:accent1>
        <a:srgbClr val="969696"/>
      </a:accent1>
      <a:accent2>
        <a:srgbClr val="696969"/>
      </a:accent2>
      <a:accent3>
        <a:srgbClr val="FFCC00"/>
      </a:accent3>
      <a:accent4>
        <a:srgbClr val="D40511"/>
      </a:accent4>
      <a:accent5>
        <a:srgbClr val="EAEAEA"/>
      </a:accent5>
      <a:accent6>
        <a:srgbClr val="F8F8F8"/>
      </a:accent6>
      <a:hlink>
        <a:srgbClr val="FFCC00"/>
      </a:hlink>
      <a:folHlink>
        <a:srgbClr val="D40511"/>
      </a:folHlink>
    </a:clrScheme>
    <a:fontScheme name="dreck 2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 Klassisch 2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144000" tIns="144000" rIns="144000" bIns="144000" numCol="1" anchor="ctr" anchorCtr="0" compatLnSpc="1">
        <a:prstTxWarp prst="textNoShape">
          <a:avLst/>
        </a:prstTxWarp>
      </a:bodyPr>
      <a:lstStyle>
        <a:defPPr marL="0" marR="0" indent="0" algn="l" defTabSz="995363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1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144000" tIns="144000" rIns="144000" bIns="144000" numCol="1" anchor="ctr" anchorCtr="0" compatLnSpc="1">
        <a:prstTxWarp prst="textNoShape">
          <a:avLst/>
        </a:prstTxWarp>
      </a:bodyPr>
      <a:lstStyle>
        <a:defPPr marL="0" marR="0" indent="0" algn="l" defTabSz="995363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1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PDHL_O07_Master 1">
        <a:dk1>
          <a:srgbClr val="000000"/>
        </a:dk1>
        <a:lt1>
          <a:srgbClr val="FFFFFF"/>
        </a:lt1>
        <a:dk2>
          <a:srgbClr val="B2B2B2"/>
        </a:dk2>
        <a:lt2>
          <a:srgbClr val="DADADA"/>
        </a:lt2>
        <a:accent1>
          <a:srgbClr val="969696"/>
        </a:accent1>
        <a:accent2>
          <a:srgbClr val="696969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5E5E5E"/>
        </a:accent6>
        <a:hlink>
          <a:srgbClr val="FFCC00"/>
        </a:hlink>
        <a:folHlink>
          <a:srgbClr val="D40511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custClrLst>
    <a:custClr name="Postyellow 100%">
      <a:srgbClr val="FFCC00"/>
    </a:custClr>
    <a:custClr name="70% Postyellow">
      <a:srgbClr val="FFDB4C"/>
    </a:custClr>
    <a:custClr name="45% Postyellow">
      <a:srgbClr val="FFE88C"/>
    </a:custClr>
    <a:custClr name="20% Postyellow">
      <a:srgbClr val="FFF5CC"/>
    </a:custClr>
    <a:custClr name="Chart grey yellow 1">
      <a:srgbClr val="5C5D59"/>
    </a:custClr>
    <a:custClr name="Chart grey yellow 2">
      <a:srgbClr val="7F7F7B"/>
    </a:custClr>
    <a:custClr name="Chart grey yellow 3">
      <a:srgbClr val="9B9C96"/>
    </a:custClr>
    <a:custClr name="Chart grey yellow 4">
      <a:srgbClr val="BBBBB3"/>
    </a:custClr>
    <a:custClr name="Chart grey yellow 5">
      <a:srgbClr val="DDDDD7"/>
    </a:custClr>
    <a:custClr name="Chart grey yellow 6">
      <a:srgbClr val="EDEDE7"/>
    </a:custClr>
    <a:custClr name="DHL Red">
      <a:srgbClr val="D40511"/>
    </a:custClr>
    <a:custClr name="None">
      <a:srgbClr val="FFFFFF"/>
    </a:custClr>
    <a:custClr name="None">
      <a:srgbClr val="FFFFFF"/>
    </a:custClr>
    <a:custClr name="None">
      <a:srgbClr val="FFFFFF"/>
    </a:custClr>
    <a:custClr name="Grey tone red 1">
      <a:srgbClr val="666362"/>
    </a:custClr>
    <a:custClr name="Grey tone red 2">
      <a:srgbClr val="827C7A"/>
    </a:custClr>
    <a:custClr name="Grey tone red 3">
      <a:srgbClr val="9F9997"/>
    </a:custClr>
    <a:custClr name="Grey tone red 4">
      <a:srgbClr val="BAB2B0"/>
    </a:custClr>
    <a:custClr name="Grey tone red 5">
      <a:srgbClr val="D6D0CE"/>
    </a:custClr>
    <a:custClr name="Grey tone red 6">
      <a:srgbClr val="EBE4E1"/>
    </a:custClr>
    <a:custClr name="Black">
      <a:srgbClr val="000000"/>
    </a:custClr>
    <a:custClr name="60% Black">
      <a:srgbClr val="666666"/>
    </a:custClr>
    <a:custClr name="40% Black">
      <a:srgbClr val="999999"/>
    </a:custClr>
    <a:custClr name="25% Black">
      <a:srgbClr val="BFBFBF"/>
    </a:custClr>
    <a:custClr name="8% Black">
      <a:srgbClr val="E4E4E4"/>
    </a:custClr>
    <a:custClr name="None">
      <a:srgbClr val="FFFFFF"/>
    </a:custClr>
    <a:custClr name="None">
      <a:srgbClr val="FFFFFF"/>
    </a:custClr>
    <a:custClr name="None">
      <a:srgbClr val="FFFFFF"/>
    </a:custClr>
    <a:custClr name="None">
      <a:srgbClr val="FFFFFF"/>
    </a:custClr>
    <a:custClr name="None">
      <a:srgbClr val="FFFFFF"/>
    </a:custClr>
    <a:custClr name="None">
      <a:srgbClr val="FFFFFF"/>
    </a:custClr>
    <a:custClr name="None">
      <a:srgbClr val="FFFFFF"/>
    </a:custClr>
    <a:custClr name="None">
      <a:srgbClr val="FFFFFF"/>
    </a:custClr>
    <a:custClr name="None">
      <a:srgbClr val="FFFFFF"/>
    </a:custClr>
    <a:custClr name="Grey tone cyan 1">
      <a:srgbClr val="545D62"/>
    </a:custClr>
    <a:custClr name="Grey tone cyan 2">
      <a:srgbClr val="747F86"/>
    </a:custClr>
    <a:custClr name="Grey tone cyan 3">
      <a:srgbClr val="97A1A7"/>
    </a:custClr>
    <a:custClr name="Grey tone cyan 4">
      <a:srgbClr val="A6B0B6"/>
    </a:custClr>
    <a:custClr name="Grey tone cyan 5">
      <a:srgbClr val="B5BFC5"/>
    </a:custClr>
    <a:custClr name="Grey tone cyan 6">
      <a:srgbClr val="C8CED2"/>
    </a:custClr>
  </a:custClrLst>
</a:theme>
</file>

<file path=ppt/theme/theme2.xml><?xml version="1.0" encoding="utf-8"?>
<a:theme xmlns:a="http://schemas.openxmlformats.org/drawingml/2006/main" name="EU_Tiering_2014">
  <a:themeElements>
    <a:clrScheme name="DPDHL_colour_scheme">
      <a:dk1>
        <a:srgbClr val="000000"/>
      </a:dk1>
      <a:lt1>
        <a:srgbClr val="FFFFFF"/>
      </a:lt1>
      <a:dk2>
        <a:srgbClr val="B2B2B2"/>
      </a:dk2>
      <a:lt2>
        <a:srgbClr val="DADADA"/>
      </a:lt2>
      <a:accent1>
        <a:srgbClr val="969696"/>
      </a:accent1>
      <a:accent2>
        <a:srgbClr val="696969"/>
      </a:accent2>
      <a:accent3>
        <a:srgbClr val="FFCC00"/>
      </a:accent3>
      <a:accent4>
        <a:srgbClr val="D40511"/>
      </a:accent4>
      <a:accent5>
        <a:srgbClr val="EAEAEA"/>
      </a:accent5>
      <a:accent6>
        <a:srgbClr val="F8F8F8"/>
      </a:accent6>
      <a:hlink>
        <a:srgbClr val="FFCC00"/>
      </a:hlink>
      <a:folHlink>
        <a:srgbClr val="D40511"/>
      </a:folHlink>
    </a:clrScheme>
    <a:fontScheme name="dreck 2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 Klassisch 2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144000" tIns="144000" rIns="144000" bIns="144000" numCol="1" anchor="ctr" anchorCtr="0" compatLnSpc="1">
        <a:prstTxWarp prst="textNoShape">
          <a:avLst/>
        </a:prstTxWarp>
      </a:bodyPr>
      <a:lstStyle>
        <a:defPPr marL="0" marR="0" indent="0" algn="l" defTabSz="995363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1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144000" tIns="144000" rIns="144000" bIns="144000" numCol="1" anchor="ctr" anchorCtr="0" compatLnSpc="1">
        <a:prstTxWarp prst="textNoShape">
          <a:avLst/>
        </a:prstTxWarp>
      </a:bodyPr>
      <a:lstStyle>
        <a:defPPr marL="0" marR="0" indent="0" algn="l" defTabSz="995363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1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PDHL_colour_scheme">
        <a:dk1>
          <a:srgbClr val="000000"/>
        </a:dk1>
        <a:lt1>
          <a:srgbClr val="FFFFFF"/>
        </a:lt1>
        <a:dk2>
          <a:srgbClr val="B2B2B2"/>
        </a:dk2>
        <a:lt2>
          <a:srgbClr val="DADADA"/>
        </a:lt2>
        <a:accent1>
          <a:srgbClr val="969696"/>
        </a:accent1>
        <a:accent2>
          <a:srgbClr val="696969"/>
        </a:accent2>
        <a:accent3>
          <a:srgbClr val="FFCC00"/>
        </a:accent3>
        <a:accent4>
          <a:srgbClr val="D40511"/>
        </a:accent4>
        <a:accent5>
          <a:srgbClr val="EAEAEA"/>
        </a:accent5>
        <a:accent6>
          <a:srgbClr val="F8F8F8"/>
        </a:accent6>
        <a:hlink>
          <a:srgbClr val="FFCC00"/>
        </a:hlink>
        <a:folHlink>
          <a:srgbClr val="D40511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custClrLst>
    <a:custClr name="Postyellow 100%">
      <a:srgbClr val="FFCC00"/>
    </a:custClr>
    <a:custClr name="70% Postyellow">
      <a:srgbClr val="FFDB4C"/>
    </a:custClr>
    <a:custClr name="45% Postyellow">
      <a:srgbClr val="FFE88C"/>
    </a:custClr>
    <a:custClr name="20% Postyellow">
      <a:srgbClr val="FFF5CC"/>
    </a:custClr>
    <a:custClr name="Chart grey yellow 1">
      <a:srgbClr val="5C5D59"/>
    </a:custClr>
    <a:custClr name="Chart grey yellow 2">
      <a:srgbClr val="7F7F7B"/>
    </a:custClr>
    <a:custClr name="Chart grey yellow 3">
      <a:srgbClr val="9B9C96"/>
    </a:custClr>
    <a:custClr name="Chart grey yellow 4">
      <a:srgbClr val="BBBBB3"/>
    </a:custClr>
    <a:custClr name="Chart grey yellow 5">
      <a:srgbClr val="DDDDD7"/>
    </a:custClr>
    <a:custClr name="Chart grey yellow 6">
      <a:srgbClr val="EDEDE7"/>
    </a:custClr>
    <a:custClr name="DHL Red">
      <a:srgbClr val="D40511"/>
    </a:custClr>
    <a:custClr name="None">
      <a:srgbClr val="FFFFFF"/>
    </a:custClr>
    <a:custClr name="None">
      <a:srgbClr val="FFFFFF"/>
    </a:custClr>
    <a:custClr name="None">
      <a:srgbClr val="FFFFFF"/>
    </a:custClr>
    <a:custClr name="Grey tone red 1">
      <a:srgbClr val="666362"/>
    </a:custClr>
    <a:custClr name="Grey tone red 2">
      <a:srgbClr val="827C7A"/>
    </a:custClr>
    <a:custClr name="Grey tone red 3">
      <a:srgbClr val="9F9997"/>
    </a:custClr>
    <a:custClr name="Grey tone red 4">
      <a:srgbClr val="BAB2B0"/>
    </a:custClr>
    <a:custClr name="Grey tone red 5">
      <a:srgbClr val="D6D0CE"/>
    </a:custClr>
    <a:custClr name="Grey tone red 6">
      <a:srgbClr val="EBE4E1"/>
    </a:custClr>
    <a:custClr name="Black">
      <a:srgbClr val="000000"/>
    </a:custClr>
    <a:custClr name="60% Black">
      <a:srgbClr val="666666"/>
    </a:custClr>
    <a:custClr name="40% Black">
      <a:srgbClr val="999999"/>
    </a:custClr>
    <a:custClr name="25% Black">
      <a:srgbClr val="BFBFBF"/>
    </a:custClr>
    <a:custClr name="8% Black">
      <a:srgbClr val="E4E4E4"/>
    </a:custClr>
    <a:custClr name="None">
      <a:srgbClr val="FFFFFF"/>
    </a:custClr>
    <a:custClr name="None">
      <a:srgbClr val="FFFFFF"/>
    </a:custClr>
    <a:custClr name="None">
      <a:srgbClr val="FFFFFF"/>
    </a:custClr>
    <a:custClr name="None">
      <a:srgbClr val="FFFFFF"/>
    </a:custClr>
    <a:custClr name="None">
      <a:srgbClr val="FFFFFF"/>
    </a:custClr>
    <a:custClr name="None">
      <a:srgbClr val="FFFFFF"/>
    </a:custClr>
    <a:custClr name="None">
      <a:srgbClr val="FFFFFF"/>
    </a:custClr>
    <a:custClr name="None">
      <a:srgbClr val="FFFFFF"/>
    </a:custClr>
    <a:custClr name="None">
      <a:srgbClr val="FFFFFF"/>
    </a:custClr>
    <a:custClr name="Grey tone cyan 1">
      <a:srgbClr val="545D62"/>
    </a:custClr>
    <a:custClr name="Grey tone cyan 2">
      <a:srgbClr val="747F86"/>
    </a:custClr>
    <a:custClr name="Grey tone cyan 3">
      <a:srgbClr val="97A1A7"/>
    </a:custClr>
    <a:custClr name="Grey tone cyan 4">
      <a:srgbClr val="A6B0B6"/>
    </a:custClr>
    <a:custClr name="Grey tone cyan 5">
      <a:srgbClr val="B5BFC5"/>
    </a:custClr>
    <a:custClr name="Grey tone cyan 6">
      <a:srgbClr val="C8CED2"/>
    </a:custClr>
  </a:custClr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ce3d0e5c-edda-4fd3-9353-90264f1df74e" xsi:nil="true"/>
    <lcf76f155ced4ddcb4097134ff3c332f xmlns="d982e684-21e3-4961-a62b-f068ee2b1c2a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3FF51722A033444B8DE23C3579480DA" ma:contentTypeVersion="11" ma:contentTypeDescription="Create a new document." ma:contentTypeScope="" ma:versionID="42ba70bb59e66bd2dc58db125b58fb1a">
  <xsd:schema xmlns:xsd="http://www.w3.org/2001/XMLSchema" xmlns:xs="http://www.w3.org/2001/XMLSchema" xmlns:p="http://schemas.microsoft.com/office/2006/metadata/properties" xmlns:ns2="d982e684-21e3-4961-a62b-f068ee2b1c2a" xmlns:ns3="ce3d0e5c-edda-4fd3-9353-90264f1df74e" targetNamespace="http://schemas.microsoft.com/office/2006/metadata/properties" ma:root="true" ma:fieldsID="b9375509a6bbcef165d3623ab0a59a8a" ns2:_="" ns3:_="">
    <xsd:import namespace="d982e684-21e3-4961-a62b-f068ee2b1c2a"/>
    <xsd:import namespace="ce3d0e5c-edda-4fd3-9353-90264f1df74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982e684-21e3-4961-a62b-f068ee2b1c2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bb9e2a73-f419-4c44-99f5-cd310bbfdd7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e3d0e5c-edda-4fd3-9353-90264f1df74e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b9e1ba86-0102-4691-92df-7b049331e0a1}" ma:internalName="TaxCatchAll" ma:showField="CatchAllData" ma:web="ce3d0e5c-edda-4fd3-9353-90264f1df74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8A9B498-F378-4299-802F-ECB2EC83829C}">
  <ds:schemaRefs>
    <ds:schemaRef ds:uri="ce3d0e5c-edda-4fd3-9353-90264f1df74e"/>
    <ds:schemaRef ds:uri="d982e684-21e3-4961-a62b-f068ee2b1c2a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B530C2DC-61AA-40DA-B185-3D0D1847E0BE}">
  <ds:schemaRefs>
    <ds:schemaRef ds:uri="ce3d0e5c-edda-4fd3-9353-90264f1df74e"/>
    <ds:schemaRef ds:uri="d982e684-21e3-4961-a62b-f068ee2b1c2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1D2DB4AB-765A-4A20-A12C-5D17FA84FFE7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736915f3-2f02-4945-8997-f2963298db46}" enabled="1" method="Standard" siteId="{cd99fef8-1cd3-4a2a-9bdf-15531181d65e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DHL_PPT_4x3</Template>
  <TotalTime>1268</TotalTime>
  <Words>1676</Words>
  <Application>Microsoft Office PowerPoint</Application>
  <PresentationFormat>Widescreen</PresentationFormat>
  <Paragraphs>649</Paragraphs>
  <Slides>25</Slides>
  <Notes>0</Notes>
  <HiddenSlides>1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25</vt:i4>
      </vt:variant>
    </vt:vector>
  </HeadingPairs>
  <TitlesOfParts>
    <vt:vector size="27" baseType="lpstr">
      <vt:lpstr>AP-SSC PM</vt:lpstr>
      <vt:lpstr>EU_Tiering_2014</vt:lpstr>
      <vt:lpstr> key accounts desk Country Performance Review</vt:lpstr>
      <vt:lpstr>PowerPoint Presentation</vt:lpstr>
      <vt:lpstr>Country Performance</vt:lpstr>
      <vt:lpstr>PowerPoint Presentation</vt:lpstr>
      <vt:lpstr>Customer Performance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Questions</vt:lpstr>
      <vt:lpstr>Thank you</vt:lpstr>
    </vt:vector>
  </TitlesOfParts>
  <Company>DHL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Jasmine Louise C. Rabang (DHL MY)</dc:creator>
  <cp:lastModifiedBy>Damaris Flores (DHL US)</cp:lastModifiedBy>
  <cp:revision>2</cp:revision>
  <cp:lastPrinted>2016-04-15T03:34:34Z</cp:lastPrinted>
  <dcterms:created xsi:type="dcterms:W3CDTF">2015-09-11T07:58:00Z</dcterms:created>
  <dcterms:modified xsi:type="dcterms:W3CDTF">2026-07-06T20:47:11Z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736915f3-2f02-4945-8997-f2963298db46_Enabled">
    <vt:lpwstr>true</vt:lpwstr>
  </property>
  <property fmtid="{D5CDD505-2E9C-101B-9397-08002B2CF9AE}" pid="3" name="MSIP_Label_736915f3-2f02-4945-8997-f2963298db46_SetDate">
    <vt:lpwstr>2023-08-16T19:00:17Z</vt:lpwstr>
  </property>
  <property fmtid="{D5CDD505-2E9C-101B-9397-08002B2CF9AE}" pid="4" name="MSIP_Label_736915f3-2f02-4945-8997-f2963298db46_Method">
    <vt:lpwstr>Standard</vt:lpwstr>
  </property>
  <property fmtid="{D5CDD505-2E9C-101B-9397-08002B2CF9AE}" pid="5" name="MSIP_Label_736915f3-2f02-4945-8997-f2963298db46_Name">
    <vt:lpwstr>Internal</vt:lpwstr>
  </property>
  <property fmtid="{D5CDD505-2E9C-101B-9397-08002B2CF9AE}" pid="6" name="MSIP_Label_736915f3-2f02-4945-8997-f2963298db46_SiteId">
    <vt:lpwstr>cd99fef8-1cd3-4a2a-9bdf-15531181d65e</vt:lpwstr>
  </property>
  <property fmtid="{D5CDD505-2E9C-101B-9397-08002B2CF9AE}" pid="7" name="MSIP_Label_736915f3-2f02-4945-8997-f2963298db46_ActionId">
    <vt:lpwstr>ab824e90-068e-4bff-8fc2-73e8166d8708</vt:lpwstr>
  </property>
  <property fmtid="{D5CDD505-2E9C-101B-9397-08002B2CF9AE}" pid="8" name="MSIP_Label_736915f3-2f02-4945-8997-f2963298db46_ContentBits">
    <vt:lpwstr>1</vt:lpwstr>
  </property>
  <property fmtid="{D5CDD505-2E9C-101B-9397-08002B2CF9AE}" pid="9" name="ContentTypeId">
    <vt:lpwstr>0x01010013FF51722A033444B8DE23C3579480DA</vt:lpwstr>
  </property>
  <property fmtid="{D5CDD505-2E9C-101B-9397-08002B2CF9AE}" pid="10" name="Order">
    <vt:r8>11212400</vt:r8>
  </property>
  <property fmtid="{D5CDD505-2E9C-101B-9397-08002B2CF9AE}" pid="11" name="MediaServiceImageTags">
    <vt:lpwstr/>
  </property>
</Properties>
</file>